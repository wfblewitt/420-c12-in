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processeur • UAL • largeur fixe
Idée à faire passer
Relier immédiatement la fin de la Séance 4 au travail effectué à l’intérieur du processeur.
Transition
Commencer par le rappel LOAD → registres → ADD.
[Sources]
- C12 Séance 5 — https://github.com/Mithrandir2k/C12/blob/main/docs/fr/seances/seance-5.md
- A1 — Intel_i9-14900KF_CPU.jpg — Phil Strahl / Pstrahl — CC BY-SA 4.0 — https://commons.wikimedia.org/wiki/File:Intel_i9-14900KF_CPU.jpg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La Séance 5 démarre exactement là où la Séance 4 s’arrête : les opérandes sont disponibles dans des registres.
Questions / réponses attendues
« Qui effectue réellement ADD? » Accepter UAL/CPU comme premières réponses, puis préciser progressivement.
Piège
Ne pas refaire toute la Séance 4.
Transition
Poser les deux questions directrices.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Donner une carte simple : organisation interne, puis arithmétique à largeur fixe.
Transition
Clarifier ce qui doit être maîtrisé et ce qui est seulement à reconnaître.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Éviter que les termes de reconnaissance deviennent une mini-conférence dès le début.
Piège
Ne pas demander de mémoriser des familles commerciales ou des sockets comme des listes intemporelles.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reconnaître les trois engagements du Laboratoire 5, compléter l’étape 1, puis créer les rubriques. Ajouter « atelier matériel » au modèle du Lab 5 pour la séance en classe.
Idée à faire passer
Créer la trace permanente avant l’activité technique.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Créer le besoin de la notion de largeur fixe sans donner la solution complète.
Questions / réponses attendues
Prendre quelques hypothèses, rapidement si la réponse est évidente pour le groupe.
Piège
Ne pas dire encore « modulo » ni faire toute l’addition.
Transition
Avant de répondre, regarder ce qui travaille à l’intérieur du processeur.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processeur — le mot peut désigner le composant physique; UAL — rôle fonctionnel à l’intérieur.
Idée à faire passer
Séparer l’objet physique du modèle fonctionnel.
Piège
Ne pas affirmer que les blocs fonctionnels correspondent à quatre zones physiques nettement séparées.
[Sources]
- C12 Séance 5 — https://github.com/Mithrandir2k/C12/blob/main/docs/fr/seances/seance-5.md
- A1 — Intel_i9-14900KF_CPU.jpg — Phil Strahl / Pstrahl — CC BY-SA 4.0 — https://commons.wikimedia.org/wiki/File:Intel_i9-14900KF_CPU.jpg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Installer quatre rôles seulement : contrôle, registres, UAL, cache.
Piège
Un vrai processeur peut contenir plusieurs unités d’exécution et une organisation beaucoup plus complexe.
Transition
Prendre chaque rôle rapidement.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unité de contrôle — coordonne l’exécution.
Idée à faire passer
Elle organise l’opération et indique ce qui doit être fait; elle ne remplace pas l’UAL.
Questions / réponses attendues
Réponse attendue : non, l’UAL produit la somme dans notre modèle.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registre — très petite zone de stockage située dans le processeur.
Idée à faire passer
Raccrocher explicitement à R1/R2/R3 utilisés à la Séance 4.
Piège
Ne pas entrer dans les registres réels x86/Arm ici.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UAL — unité arithmétique et logique; opérande — valeur donnée à une opération; résultat — valeur produite.
Idée à faire passer
La UAL est une catégorie fonctionnelle utile, même si un CPU moderne possède plusieurs unités spécialisées.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Faire un rappel rapide de la hiérarchie de mémoire de la Séance 4.
Piège
Les détails exacts L1/L2/L3 varient selon le processeur; ne pas présenter une topologie universelle.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Questionner à l’oral. Ne pas ralentir artificiellement si les réponses sont immédiates.
Idée à faire passer
Réactiver les quatre rôles avant de suivre une instruction complète.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opérande — valeur source d’une opération; destination — endroit qui reçoit le résultat.
Idée à faire passer
R1 et R2 fournissent les opérandes; l’UAL calcule; R3 reçoit le résultat.
Piège
Pseudo-instruction pédagogique : les vraies ISA n’utilisent pas toutes trois opérandes ni le même ordre syntaxique.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environ 8–10 minutes selon le rythme. Demander explicitement de ne pas poursuivre à l’étape 4. Reprendre lorsque les équipes ont validé ou qu’un blocage mérite une discussion.
Idée à faire passer
Application immédiate avant l’arithmétique.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cette diapositive affichée. Reprendre après cinq minutes.
Idée à faire passer
La reprise commence par : Qu’arrive-t-il quand la réponse a besoin de plus de bits que le registre?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La largeur est une contrainte de l’opération/destination, pas quelque chose qui s’étend automatiquement.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largeur — nombre de bits traités/conservés dans le contexte de l’opération.
Idée à faire passer
Séparer « largeur des opérandes/destination » et « largeur possible de la somme mathématique ».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Questionner rapidement. Si tout le monde connaît déjà les cas, avancer.
Idée à faire passer
Le seul cas nouveau pour certains étudiants est la retenue produite par 1 + 1.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retenue entrante • bit de somme • retenue sortante
Idée à faire passer
Donner le vocabulaire qui sera exigé dans le laboratoire.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Montrer explicitement la chaîne des retenues; ne pas sauter directement au résultat.
Questions / réponses attendues
Faire donner chaque colonne par la classe; accélérer si les réponses sont immédiates.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Distinguer retenues intermédiaires et retenue finale.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Faire apparaître pour la première fois la séparation somme complète / résultat conservé.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somme complète • résultat conservé • retenue finale
Idée à faire passer
Insister sur trois objets conceptuels différents.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Nommer explicitement la confusion que le Lab 5 cherche à éviter.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réaliser l’étape 5 du Laboratoire 5. Laisser le temps de construire les colonnes.
Idée à faire passer
La démarche visible est plus importante que la seule réponse.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Corriger la chaîne, pas seulement le résultat.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Réserve seulement. A : 0110 + 0101 = 1011, retenue 0. B : 1101 + 0111 = 10100, conservé 0100, retenue 1.
Idée à faire passer
Absorber un rythme rapide sans prolonger artificiellement les questions simples.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cette diapositive affichée. Reprendre après cinq minutes.
Idée à faire passer
La reprise commence par : Si les bits conservés sont corrects… le nombre représenté l’est-il forcément?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Résoudre explicitement la question d’ouverture : hypothèse C.
Transition
Interpréter maintenant le résultat comme entier non signé.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Rappel de l’intervalle non signé avant d’introduire le bouclage.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bouclage / wraparound — retour au début de l’intervalle représentable.
Idée à faire passer
Le comportement est déterministe : on conserve le reste modulo 2^n.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Relier la représentation binaire au calcul modulo 256.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les étudiants réaliser l’étape 6. Le laboratoire attend 100000100, 00000100, retenue 1, valeur 4, bouclage oui.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Callback direct à la Séance 3 : même configuration, interprétations différentes.
Piège
Ne pas dire que 10000000 « devient » négatif tout seul.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Rappel seulement : le mécanisme du complément à deux a déjà été vu.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Premier contre-exemple à « carry = overflow » : pas de retenue, mais débordement signé.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Deuxième cas limite : les deux conditions peuvent exister simultanément.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Donner une règle pratique pour l’addition en complément à deux.
Piège
La règle est pour l’addition signée; ne pas l’étendre sans nuance à toutes les opérations.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Définir les conditions comme deux questions différentes.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 réponses attendues
Demander si la retenue et le débordement sont réellement indépendants. Réponse : oui, les quatre combinaisons existent.
Transition
Les étudiants vont le vérifier sur quatre additions.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les étudiants effectuer les étapes 7 et 8. Ne pas annoncer les quatre combinaisons avant leur essai.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Faire verbaliser les quatre combinaisons. Le tableau correspond exactement à la Séance/Lab 5.
[Sources]
- C12 Séance 5 — https://github.com/Mithrandir2k/C12/blob/main/docs/fr/seances/seance-5.md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indicateur d’état / flag — information mise à jour après certaines opérations.
Idée à faire passer
Le flag décrit une condition; le programme décide quoi en faire.
Piège
Les noms et règles exacts varient selon l’ISA.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cette diapositive affichée. Reprendre après cinq minutes.
Idée à faire passer
La reprise commence par : Au retour : on ouvre de vrais ordinateurs.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Présenter l’atelier comme une intervention technique complète, pas comme une simple chasse aux composants.
[Sources]
- A2 — Computer_case_20170910.jpg — Santeri Viinamäki — CC BY-SA 4.0 — https://commons.wikimedia.org/wiki/File:Computer_case_20170910.jpg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Attribuer les premiers rôles. Exiger explicitement la rotation à chaque nouvelle intervention.
Idée à faire passer
L’équipement partagé devient un mécanisme de rotation pédagogique.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La préparation du poste fait partie de l’intervention.
Piège
Ne pas improviser un branchement à la terre : utiliser le matériel ESD selon sa conception/instruction.
[Sources]
- Dell — Safety precautions when working with electrical equipment — https://www.dell.com/support/kbdoc/en-ca/000137973/safety-precautions-when-working-with-electrical-equipment
- Dell — Safety precautions while replacing components — https://www.dell.com/support/kbdoc/en-ca/000175301/safety-precautions-while-replacing-components-in-dell-device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Faire de la mise hors tension et du contrôle ESD une routine réutilisable.
Piège
15–20 s est une procédure générale courante, mais la procédure du fabricant du poste reste prioritaire. Le PSU peut rester dangereux à l’intérieur; les étudiants n’ouvrent jamais son boîtier.
[Sources]
- Dell — Safety precautions when working with electrical equipment — https://www.dell.com/support/kbdoc/en-ca/000137973/safety-precautions-when-working-with-electrical-equipment
- Dell — Safety precautions while replacing components — https://www.dell.com/support/kbdoc/en-ca/000175301/safety-precautions-while-replacing-components-in-dell-device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Installer l’habitude « comprendre le mécanisme avant d’appliquer plus de force ».
Questions / réponses attendues
Avant le premier tournevis : quelles vis semblent libérer le panneau? Quelles autres pourraient appartenir au châssis?
[Sources]
- Dell — Safety precautions while replacing components — https://www.dell.com/support/kbdoc/en-ca/000175301/safety-precautions-while-replacing-components-in-dell-device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prendre la photo avant toute déconnexion.
Idée à faire passer
Documenter avant de modifier.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Réutiliser le vocabulaire des Séances 1–5 sur une vraie machine.
Piège
Il n’est pas nécessaire d’identifier chaque connecteur exact aujourd’hui. Ne pas retirer le refroidisseur du CPU ni le processeur pendant cet atelier.
[Sources]
- A2 — Computer_case_20170910.jpg — Santeri Viinamäki — CC BY-SA 4.0 — https://commons.wikimedia.org/wiki/File:Computer_case_20170910.jpg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Relier la machine physique aux abstractions déjà apprises. Un câble/slot est visible; le type d’un entier ne l’est pas. Les lignes du schéma représentent des connexions possibles à vérifier sur la machine réelle, pas un câblage universel.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changer de technicien avant la première déconnexion physique.
Idée à faire passer
La photo sert de preuve et de mémoire; comprendre le mécanisme du connecteur avant de tirer.
[Sources]
- Dell — Safety precautions while replacing components — https://www.dell.com/support/kbdoc/en-ca/000175301/safety-precautions-while-replacing-components-in-dell-device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tourner les rôles avant de toucher la RAM.
Idée à faire passer
La RAM enseigne le couple orientation + mécanisme de retenue + pression contrôlée.
Piège
La disposition exacte des clips varie selon la carte mère.
[Sources]
- A4a — Dual-channel_DDR_memory_use_6027.JPG — Mixabest — domaine public — https://commons.wikimedia.org/wiki/File:Dual-channel_DDR_memory_use_6027.JPG
- A4b — RAM_Module_(SDRAM-DDR4).jpg — ElooKoN — CC BY-SA 4.0 — https://commons.wikimedia.org/wiki/File:RAM_Module_(SDRAM-DDR4).jpg
- Dell — Safety precautions while replacing components — https://www.dell.com/support/kbdoc/en-ca/000175301/safety-precautions-while-replacing-components-in-dell-device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tourner les rôles avant la carte graphique.
Idée à faire passer
Une carte peut être raccordée électriquement et retenue mécaniquement à plusieurs endroits.
[Sources]
- A5a — Nvidia_GTX1080_Founder's_Edition_in_case.jpg — WikiNewbiie — CC BY-SA 4.0 — https://commons.wikimedia.org/wiki/File:Nvidia_GTX1080_Founder%27s_Edition_in_case.jpg
- A5b — Pci_Express_Slot.png — Lucianolll — CC0 1.0 — https://commons.wikimedia.org/wiki/File:Pci_Express_Slot.png
- Dell — Safety precautions while replacing components — https://www.dell.com/support/kbdoc/en-ca/000175301/safety-precautions-while-replacing-components-in-dell-device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Appeler clairement le remontage vers la 30e minute de la période 4. Ne pas autoriser une nouvelle dépose après ce point.
Idée à faire passer
Une machine fonctionnelle à la fin vaut davantage qu’une activité « terminée » mais mal remontée.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Le remontage fait partie du travail technique; ce n’est pas du nettoyage après l’activité.
[Sources]
- A3 — ATX_computer_case_-_left_-_2018-05-18.jpg — Bretwa — CC BY-SA 4.0 — https://commons.wikimedia.org/wiki/File:ATX_computer_case_-_left_-_2018-05-18.jpg
- Dell — Safety precautions when working with electrical equipment — https://www.dell.com/support/kbdoc/en-ca/000137973/safety-precautions-when-working-with-electrical-equipment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Exiger une vérification croisée avant fermeture et un démarrage réussi avant de ranger.
Idée à faire passer
État initial → intervention → vérification. Une anomalie découverte doit être nommée plutôt que masquée.
[Sources]
- Dell — Safety precautions when working with electrical equipment — https://www.dell.com/support/kbdoc/en-ca/000137973/safety-precautions-when-working-with-electrical-equipment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cette diapositive affichée. Reprendre après cinq minutes.
Idée à faire passer
La reprise commence par : Le PC démarre. Maintenant : quel processeur contient-il exactement?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Faire la transition du matériel visible vers des informations observables par logiciel.
[Sources]
- C12 Séance 5 — https://github.com/Mithrandir2k/C12/blob/main/docs/fr/seances/seance-5.md
- A1 — Intel_i9-14900KF_CPU.jpg — Phil Strahl / Pstrahl — CC BY-SA 4.0 — https://commons.wikimedia.org/wiki/File:Intel_i9-14900KF_CPU.jpg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cœur • fil d’exécution matériel • processeur logique
Idée à faire passer
Séparer les quatre niveaux que Windows affiche.
Piège
Le nombre de processeurs logiques n’est pas nécessairement égal au nombre de cœurs.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Exécuter la commande comme outil d’observation. Ne pas faire une leçon PowerShell complète.
Idée à faire passer
Croiser deux observations du même système. MaxClockSpeed est rapporté en MHz et L2CacheSize/L3CacheSize en kilo-octets par Win32_Processor; ce ne sont pas des mesures instantanées de fréquence.
[Sources]
- C12 Laboratoire 5 — https://github.com/Mithrandir2k/C12/blob/main/docs/fr/laboratoires/laboratoire-5.md
- Microsoft Learn — Win32_Processor class — https://learn.microsoft.com/en-us/windows/win32/cimwin32prov/win32-processor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Laisser les équipes relever leurs valeurs avec les unités. Les différences entre postes sont pédagogiquement utiles.
Idée à faire passer
Les propriétés Win32_Processor sont des valeurs rapportées par le système/SMBIOS; elles ne décrivent pas nécessairement la fréquence instantanée du processeur.
[Sources]
- C12 Laboratoire 5 — https://github.com/Mithrandir2k/C12/blob/main/docs/fr/laboratoires/laboratoire-5.md
- Microsoft Learn — Win32_Processor class — https://learn.microsoft.com/en-us/windows/win32/cimwin32prov/win32-processor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Remplir oralement avec les valeurs des postes si elles diffèrent. Cette diapositive n’a pas de réponses pré-remplies.
Idée à faire passer
Séparer observation et inférence; conserver les unités des propriétés relevées.
[Sources]
- C12 Laboratoire 5 — https://github.com/Mithrandir2k/C12/blob/main/docs/fr/laboratoires/laboratoire-5.md
- Microsoft Learn — Win32_Processor class — https://learn.microsoft.com/en-us/windows/win32/cimwin32prov/win32-processor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Présenter le multithreading comme meilleure utilisation possible de ressources partagées, pas comme doublement garanti.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fréquence — nombre de cycles d’horloge par seconde.
Idée à faire passer
Détruire deux raccourcis : GHz = instructions/s; additionner les GHz des cœurs.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Reconnecter la cache fonctionnelle du début aux chiffres observés dans les spécifications.
Piège
Ne pas imposer une topologie unique à tous les processeurs.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Situer quatre grands écosystèmes actuels à travers des exemples de produits/plateformes, sans faire de la stratégie d’emballage une propriété universelle du fabricant.
Piège
AMD et Intel vendent aussi des processeurs soudés/intégrés; la diapositive compare ici des exemples actuels, pas des règles absolues de marque. Ne pas enseigner « AMD = gaming » ou « Intel = productivité » comme règles universelles.
[Sources]
- AMD — Zen CPU Architecture — https://www.amd.com/en/technologies/zen-core.html
- Intel — Core Ultra 200S / 200S Plus Datasheet, vol. 1 — https://edc.intel.com/output/DownloadPdfDocument?id=11168
- Apple — M6 and M5 Ultra announcement (25 août 2026) — https://www.apple.com/ca/newsroom/2026/08/apple-introduces-m6-and-m5-ultra-for-a-big-leap-in-performance-and-ai-compute/
- Apple Developer — Apple silicon / arm64 — https://developer.apple.com/documentation/apple-silicon
- Qualcomm — Snapdragon X2 Plus (5 janvier 2026) — https://www.qualcomm.com/news/releases/2026/01/empowering-professionals-and-aspiring-creators--snapdragon-x2-pl
- Microsoft Learn — How emulation works on Arm — https://learn.microsoft.com/en-us/windows/arm/apps-on-arm-x86-emulation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socket — interface mécanique/électrique recevant un processeur amovible.
Idée à faire passer
Donner deux repères visuels actuels sans préenseigner toute la compatibilité de carte mère.
Piège
Un socket correspondant est nécessaire mais ne prouve pas à lui seul la compatibilité.
[Sources]
- A6a — Intel_LGA1851_Socket_opened.png — ZMASLO — CC BY 3.0 — https://commons.wikimedia.org/wiki/File:Intel_LGA1851_Socket_opened.png
- A6b — AMD_AM5_Socket.png — CristoCalis — CC BY-SA 4.0 — https://commons.wikimedia.org/wiki/File:AMD_AM5_Socket.png
- AMD — Ryzen 9 9950X3D2 Dual Edition (22 avril 2026) — https://newsroom.amd.com/news/amd-launches-ryzen-9-9950x3d2-dual-edition-processor/
- Intel — Core Ultra 200S / 200S Plus Datasheet, vol. 1 — https://edc.intel.com/output/DownloadPdfDocument?id=11168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chiplet — morceau de silicium spécialisé intégré au même boîtier; CCD — Core Complex Die; die d’E/S — puce gérant notamment des fonctions d’entrée-sortie; SMT — plusieurs fils matériels sur certains cœurs; X3D / 3D V-Cache — cache L3 empilé sur certains modèles.
Idée à faire passer
Présenter une philosophie de conception à partir de Ryzen 9000 Granite Ridge, pas un classement de marque.
Piège
Le schéma montre un Ryzen 9 9950X à deux CCD; d’autres Ryzen 9000 Granite Ridge peuvent n’en avoir qu’un. X3D concerne certains produits, pas tous les Ryzen.
[Sources]
- AMD — Zen CPU Architecture — https://www.amd.com/en/technologies/zen-core.html
- AMD — 3D V-Cache Technology — https://www.amd.com/en/products/processors/technologies/3d-v-cache.html
- AMD — Ryzen 9 9950X — https://www.amd.com/en/products/processors/desktops/ryzen/9000-series/amd-ryzen-9-9950x.html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P-core — cœur orienté performance; E-core — cœur orienté efficacité/débit; architecture hybride — combinaison de types de cœurs; tiled / désagrégée — fonctions réparties entre plusieurs tuiles de silicium.
Idée à faire passer
Introduire l’hétérogénéité des cœurs comme raison de lire les spécifications avec prudence.
[Sources]
- Intel — Core Ultra 200S / 200S Plus Datasheet, vol. 1 — https://edc.intel.com/output/DownloadPdfDocument?id=11168
- Intel — Core Ultra 200S Plus desktop processors (11 mars 2026) — https://newsroom.intel.com/client-computing/intel-announces-new-intel-core-ultra-200s-plus-series-desktop-processors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SoC — système sur puce; Arm64 — ISA 64 bits de la famille Arm; mémoire unifiée — architecture où plusieurs unités du SoC accèdent à une mémoire commune selon la conception Apple.
Idée à faire passer
Contraster l’intégration SoC avec les plateformes desktop socketées.
Piège
Ne pas réduire Apple Silicon à « un CPU Arm » : l’intégration du système est précisément le point pédagogique.
[Sources]
- Apple — M6 and M5 Ultra announcement (25 août 2026) — https://www.apple.com/ca/newsroom/2026/08/apple-introduces-m6-and-m5-ultra-for-a-big-leap-in-performance-and-ai-compute/
- Apple Developer — Apple silicon / arm64 — https://developer.apple.com/documentation/apple-silicon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clé
Arm64 — ISA 64 bits de la famille Arm; NPU — accélérateur spécialisé pour certaines charges d’IA; natif — compilé pour l’ISA de la plateforme; Prism — couche d’émulation/traduction de Windows 11 sur Arm pour de nombreuses applications x86/x64.
Idée à faire passer
Montrer que Arm dans Windows est désormais un choix de plateforme réel, pas seulement une définition d’ISA.
Piège
L’émulation de Windows on Arm ne remplace pas les pilotes Arm64 : le code noyau doit être natif Arm64.
[Sources]
- Qualcomm — Snapdragon X2 Plus (5 janvier 2026) — https://www.qualcomm.com/news/releases/2026/01/empowering-professionals-and-aspiring-creators--snapdragon-x2-pl
- Qualcomm — Snapdragon X2 Plus product brief — https://www.qualcomm.com/content/dam/qcomm-martech/dm-assets/images/company/news-media/media-center/press-kits/ces-2026/documents/ProductBrief_SnapdragonX2Plus.pdf
- Microsoft Learn — How emulation works on Arm — https://learn.microsoft.com/en-us/windows/arm/apps-on-arm-x86-emulation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Les architectures créent des compromis; elles ne créent pas un gagnant universel.
Questions / réponses attendues
Faire répondre « aucune »; demander ensuite quel type de preuve serait pertinent pour chacun des besoins.
[Sources]
- C12 Séance 5 — https://github.com/Mithrandir2k/C12/blob/main/docs/fr/seances/seance-5.md
- AMD — 3D V-Cache Technology — https://www.amd.com/en/products/processors/technologies/3d-v-cache.html
- Intel — Core Ultra 200S / 200S Plus Datasheet, vol. 1 — https://edc.intel.com/output/DownloadPdfDocument?id=11168
- Apple — M6 and M5 Ultra announcement (25 août 2026) — https://www.apple.com/ca/newsroom/2026/08/apple-introduces-m6-and-m5-ultra-for-a-big-leap-in-performance-and-ai-compute/
- Qualcomm — Snapdragon X2 Plus (5 janvier 2026) — https://www.qualcomm.com/news/releases/2026/01/empowering-professionals-and-aspiring-creators--snapdragon-x2-pl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Transformer une fiche technique en questions de décision, pas en concours de nombres.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réaliser l’étape 9 du Laboratoire 5. Les valeurs sont fictives par conception.
Idée à faire passer
L’objectif est d’identifier l’information pertinente pour le besoin, pas de choisir un « gagnant » absolu.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Une recommandation provisoire peut être raisonnable tout en nommant les preuves encore manquantes.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Introduire la compatibilité comme réseau de contraintes, sans faire la Séance 8 maintenant.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Reconnecter le contenu CPU à la compétence 00SF : recherche, comparaison, compatibilité, avis justifié.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Boucler explicitement la séance : architecture → calcul → représentation → observation → évaluation.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faire]
Faire terminer la synthèse écrite. Si certains ont terminé tout le parcours, les orienter vers le générateur.
[Sources]
- C12 Laboratoire 5 — https://github.com/Mithrandir2k/C12/blob/main/docs/fr/laboratoires/laboratoire-5.md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Idée à faire passer
Ne retenir que le parcours principal. Le détail de référence reste sur la page de Séance 5.
[Sources]
- C12 Séance 5 — https://github.com/Mithrandir2k/C12/blob/main/docs/fr/seances/seance-5.md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image" Target="../media/image-55-2.jp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603504" y="6345936"/>
            <a:ext cx="10991088" cy="0"/>
          </a:xfrm>
          <a:prstGeom prst="line">
            <a:avLst/>
          </a:prstGeom>
          <a:noFill/>
          <a:ln w="9525">
            <a:solidFill>
              <a:srgbClr val="CEC9BF"/>
            </a:solidFill>
            <a:prstDash val="solid"/>
          </a:ln>
        </p:spPr>
      </p:sp>
      <p:sp>
        <p:nvSpPr>
          <p:cNvPr id="3" name="Text 1"/>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4" name="Text 2"/>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a:t>
            </a:r>
            <a:endParaRPr lang="en-US" sz="820" dirty="0"/>
          </a:p>
        </p:txBody>
      </p:sp>
      <p:sp>
        <p:nvSpPr>
          <p:cNvPr id="5" name="Text 3"/>
          <p:cNvSpPr/>
          <p:nvPr/>
        </p:nvSpPr>
        <p:spPr>
          <a:xfrm>
            <a:off x="640080" y="502920"/>
            <a:ext cx="2011680" cy="256032"/>
          </a:xfrm>
          <a:prstGeom prst="rect">
            <a:avLst/>
          </a:prstGeom>
          <a:noFill/>
          <a:ln/>
        </p:spPr>
        <p:txBody>
          <a:bodyPr wrap="square" lIns="0" tIns="0" rIns="0" bIns="0" rtlCol="0" anchor="ctr"/>
          <a:lstStyle/>
          <a:p>
            <a:pPr indent="0" marL="0">
              <a:buNone/>
            </a:pPr>
            <a:r>
              <a:rPr lang="en-US" sz="1100" b="1" spc="130" kern="0" dirty="0">
                <a:solidFill>
                  <a:srgbClr val="B5792A"/>
                </a:solidFill>
                <a:latin typeface="Aptos" pitchFamily="34" charset="0"/>
                <a:ea typeface="Aptos" pitchFamily="34" charset="-122"/>
                <a:cs typeface="Aptos" pitchFamily="34" charset="-120"/>
              </a:rPr>
              <a:t>SÉANCE 5</a:t>
            </a:r>
            <a:endParaRPr lang="en-US" sz="1100" dirty="0"/>
          </a:p>
        </p:txBody>
      </p:sp>
      <p:sp>
        <p:nvSpPr>
          <p:cNvPr id="6" name="Text 4"/>
          <p:cNvSpPr/>
          <p:nvPr/>
        </p:nvSpPr>
        <p:spPr>
          <a:xfrm>
            <a:off x="640080" y="932688"/>
            <a:ext cx="5715000" cy="1508760"/>
          </a:xfrm>
          <a:prstGeom prst="rect">
            <a:avLst/>
          </a:prstGeom>
          <a:noFill/>
          <a:ln/>
        </p:spPr>
        <p:txBody>
          <a:bodyPr wrap="square" lIns="0" tIns="0" rIns="0" bIns="0" rtlCol="0" anchor="ctr"/>
          <a:lstStyle/>
          <a:p>
            <a:pPr indent="0" marL="0">
              <a:buNone/>
            </a:pPr>
            <a:r>
              <a:rPr lang="en-US" sz="4200" b="1" dirty="0">
                <a:solidFill>
                  <a:srgbClr val="222831"/>
                </a:solidFill>
                <a:latin typeface="Aptos Display" pitchFamily="34" charset="0"/>
                <a:ea typeface="Aptos Display" pitchFamily="34" charset="-122"/>
                <a:cs typeface="Aptos Display" pitchFamily="34" charset="-120"/>
              </a:rPr>
              <a:t>Processeur, UAL et</a:t>
            </a:r>
            <a:endParaRPr lang="en-US" sz="4200" dirty="0"/>
          </a:p>
          <a:p>
            <a:pPr indent="0" marL="0">
              <a:buNone/>
            </a:pPr>
            <a:r>
              <a:rPr lang="en-US" sz="4200" b="1" dirty="0">
                <a:solidFill>
                  <a:srgbClr val="222831"/>
                </a:solidFill>
                <a:latin typeface="Aptos Display" pitchFamily="34" charset="0"/>
                <a:ea typeface="Aptos Display" pitchFamily="34" charset="-122"/>
                <a:cs typeface="Aptos Display" pitchFamily="34" charset="-120"/>
              </a:rPr>
              <a:t>arithmétique à largeur fixe</a:t>
            </a:r>
            <a:endParaRPr lang="en-US" sz="4200" dirty="0"/>
          </a:p>
        </p:txBody>
      </p:sp>
      <p:sp>
        <p:nvSpPr>
          <p:cNvPr id="7" name="Text 5"/>
          <p:cNvSpPr/>
          <p:nvPr/>
        </p:nvSpPr>
        <p:spPr>
          <a:xfrm>
            <a:off x="640080" y="2633472"/>
            <a:ext cx="4846320" cy="411480"/>
          </a:xfrm>
          <a:prstGeom prst="rect">
            <a:avLst/>
          </a:prstGeom>
          <a:noFill/>
          <a:ln/>
        </p:spPr>
        <p:txBody>
          <a:bodyPr wrap="square" lIns="0" tIns="0" rIns="0" bIns="0" rtlCol="0" anchor="ctr"/>
          <a:lstStyle/>
          <a:p>
            <a:pPr indent="0" marL="0">
              <a:buNone/>
            </a:pPr>
            <a:r>
              <a:rPr lang="en-US" sz="2100" dirty="0">
                <a:solidFill>
                  <a:srgbClr val="6B7178"/>
                </a:solidFill>
                <a:latin typeface="Aptos" pitchFamily="34" charset="0"/>
                <a:ea typeface="Aptos" pitchFamily="34" charset="-122"/>
                <a:cs typeface="Aptos" pitchFamily="34" charset="-120"/>
              </a:rPr>
              <a:t>Du bit au choix technique</a:t>
            </a:r>
            <a:endParaRPr lang="en-US" sz="2100" dirty="0"/>
          </a:p>
        </p:txBody>
      </p:sp>
      <p:sp>
        <p:nvSpPr>
          <p:cNvPr id="8" name="Text 6"/>
          <p:cNvSpPr/>
          <p:nvPr/>
        </p:nvSpPr>
        <p:spPr>
          <a:xfrm>
            <a:off x="658368" y="3749040"/>
            <a:ext cx="2377440" cy="685800"/>
          </a:xfrm>
          <a:prstGeom prst="rect">
            <a:avLst/>
          </a:prstGeom>
          <a:noFill/>
          <a:ln/>
        </p:spPr>
        <p:txBody>
          <a:bodyPr wrap="square" lIns="0" tIns="0" rIns="0" bIns="0" rtlCol="0" anchor="ctr"/>
          <a:lstStyle/>
          <a:p>
            <a:pPr indent="0" marL="0">
              <a:buNone/>
            </a:pPr>
            <a:r>
              <a:rPr lang="en-US" sz="4600" b="1" dirty="0">
                <a:solidFill>
                  <a:srgbClr val="B5792A"/>
                </a:solidFill>
                <a:latin typeface="Aptos Mono" pitchFamily="34" charset="0"/>
                <a:ea typeface="Aptos Mono" pitchFamily="34" charset="-122"/>
                <a:cs typeface="Aptos Mono" pitchFamily="34" charset="-120"/>
              </a:rPr>
              <a:t>255 + 1</a:t>
            </a:r>
            <a:endParaRPr lang="en-US" sz="4600" dirty="0"/>
          </a:p>
        </p:txBody>
      </p:sp>
      <p:sp>
        <p:nvSpPr>
          <p:cNvPr id="9" name="Text 7"/>
          <p:cNvSpPr/>
          <p:nvPr/>
        </p:nvSpPr>
        <p:spPr>
          <a:xfrm>
            <a:off x="658368" y="4480560"/>
            <a:ext cx="4846320" cy="594360"/>
          </a:xfrm>
          <a:prstGeom prst="rect">
            <a:avLst/>
          </a:prstGeom>
          <a:noFill/>
          <a:ln/>
        </p:spPr>
        <p:txBody>
          <a:bodyPr wrap="square" lIns="0" tIns="0" rIns="0" bIns="0" rtlCol="0" anchor="ctr"/>
          <a:lstStyle/>
          <a:p>
            <a:pPr indent="0" marL="0">
              <a:buNone/>
            </a:pPr>
            <a:r>
              <a:rPr lang="en-US" sz="2700" b="1" dirty="0">
                <a:solidFill>
                  <a:srgbClr val="17324D"/>
                </a:solidFill>
                <a:latin typeface="Aptos Display" pitchFamily="34" charset="0"/>
                <a:ea typeface="Aptos Display" pitchFamily="34" charset="-122"/>
                <a:cs typeface="Aptos Display" pitchFamily="34" charset="-120"/>
              </a:rPr>
              <a:t>Que devient le neuvième bit?</a:t>
            </a:r>
            <a:endParaRPr lang="en-US" sz="2700" dirty="0"/>
          </a:p>
        </p:txBody>
      </p:sp>
      <p:sp>
        <p:nvSpPr>
          <p:cNvPr id="10" name="Shape 8"/>
          <p:cNvSpPr/>
          <p:nvPr/>
        </p:nvSpPr>
        <p:spPr>
          <a:xfrm>
            <a:off x="6876288" y="521208"/>
            <a:ext cx="4672584" cy="540410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11" name="Image 0" descr="/mnt/data/seance5_build/assets/A1_cpu_i9_14900kf.jpg">    </p:cNvPr>
          <p:cNvPicPr>
            <a:picLocks noChangeAspect="1"/>
          </p:cNvPicPr>
          <p:nvPr/>
        </p:nvPicPr>
        <p:blipFill>
          <a:blip r:embed="rId1"/>
          <a:srcRect l="1661" r="1661" t="0" b="0"/>
          <a:stretch/>
        </p:blipFill>
        <p:spPr>
          <a:xfrm>
            <a:off x="6903720" y="548640"/>
            <a:ext cx="4617720" cy="5349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RAPPEL — SÉANCE 4</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La dernière fois…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a:t>
            </a:r>
            <a:endParaRPr lang="en-US" sz="820" dirty="0"/>
          </a:p>
        </p:txBody>
      </p:sp>
      <p:sp>
        <p:nvSpPr>
          <p:cNvPr id="7" name="Text 5"/>
          <p:cNvSpPr/>
          <p:nvPr/>
        </p:nvSpPr>
        <p:spPr>
          <a:xfrm>
            <a:off x="768096" y="1572768"/>
            <a:ext cx="4800600" cy="2148840"/>
          </a:xfrm>
          <a:prstGeom prst="rect">
            <a:avLst/>
          </a:prstGeom>
          <a:solidFill>
            <a:srgbClr val="EEE9E1"/>
          </a:solidFill>
          <a:ln w="10160">
            <a:solidFill>
              <a:srgbClr val="CEC9BF"/>
            </a:solidFill>
          </a:ln>
        </p:spPr>
        <p:txBody>
          <a:bodyPr wrap="square" lIns="2286" tIns="2286" rIns="2286" bIns="2286" rtlCol="0" anchor="ctr"/>
          <a:lstStyle/>
          <a:p>
            <a:pPr indent="0" marL="0">
              <a:buNone/>
            </a:pPr>
            <a:r>
              <a:rPr lang="en-US" sz="2600" dirty="0">
                <a:solidFill>
                  <a:srgbClr val="222831"/>
                </a:solidFill>
                <a:latin typeface="Aptos Mono" pitchFamily="34" charset="0"/>
                <a:ea typeface="Aptos Mono" pitchFamily="34" charset="-122"/>
                <a:cs typeface="Aptos Mono" pitchFamily="34" charset="-120"/>
              </a:rPr>
              <a:t>LOAD [0202], R1</a:t>
            </a:r>
            <a:endParaRPr lang="en-US" sz="2600" dirty="0"/>
          </a:p>
          <a:p>
            <a:pPr indent="0" marL="0">
              <a:buNone/>
            </a:pPr>
            <a:r>
              <a:rPr lang="en-US" sz="2600" dirty="0">
                <a:solidFill>
                  <a:srgbClr val="222831"/>
                </a:solidFill>
                <a:latin typeface="Aptos Mono" pitchFamily="34" charset="0"/>
                <a:ea typeface="Aptos Mono" pitchFamily="34" charset="-122"/>
                <a:cs typeface="Aptos Mono" pitchFamily="34" charset="-120"/>
              </a:rPr>
              <a:t>LOAD [0203], R2</a:t>
            </a:r>
            <a:endParaRPr lang="en-US" sz="2600" dirty="0"/>
          </a:p>
          <a:p>
            <a:pPr indent="0" marL="0">
              <a:buNone/>
            </a:pPr>
            <a:r>
              <a:rPr lang="en-US" sz="2600" dirty="0">
                <a:solidFill>
                  <a:srgbClr val="222831"/>
                </a:solidFill>
                <a:latin typeface="Aptos Mono" pitchFamily="34" charset="0"/>
                <a:ea typeface="Aptos Mono" pitchFamily="34" charset="-122"/>
                <a:cs typeface="Aptos Mono" pitchFamily="34" charset="-120"/>
              </a:rPr>
              <a:t>ADD  R1, R2, R3</a:t>
            </a:r>
            <a:endParaRPr lang="en-US" sz="2600" dirty="0"/>
          </a:p>
        </p:txBody>
      </p:sp>
      <p:sp>
        <p:nvSpPr>
          <p:cNvPr id="8" name="Text 6"/>
          <p:cNvSpPr/>
          <p:nvPr/>
        </p:nvSpPr>
        <p:spPr>
          <a:xfrm>
            <a:off x="6172200" y="1627632"/>
            <a:ext cx="4983480" cy="1417320"/>
          </a:xfrm>
          <a:prstGeom prst="rect">
            <a:avLst/>
          </a:prstGeom>
          <a:noFill/>
          <a:ln/>
        </p:spPr>
        <p:txBody>
          <a:bodyPr wrap="square" lIns="0" tIns="0" rIns="0" bIns="0" rtlCol="0" anchor="ctr"/>
          <a:lstStyle/>
          <a:p>
            <a:pPr algn="l" indent="0" marL="0">
              <a:buNone/>
            </a:pPr>
            <a:r>
              <a:rPr lang="en-US" sz="2900" b="1" dirty="0">
                <a:solidFill>
                  <a:srgbClr val="17324D"/>
                </a:solidFill>
                <a:latin typeface="Aptos Display" pitchFamily="34" charset="0"/>
                <a:ea typeface="Aptos Display" pitchFamily="34" charset="-122"/>
                <a:cs typeface="Aptos Display" pitchFamily="34" charset="-120"/>
              </a:rPr>
              <a:t>Les deux valeurs sont dans R1 et R2.</a:t>
            </a:r>
            <a:endParaRPr lang="en-US" sz="2900" dirty="0"/>
          </a:p>
          <a:p>
            <a:pPr algn="l" indent="0" marL="0">
              <a:buNone/>
            </a:pPr>
            <a:r>
              <a:rPr lang="en-US" sz="2900" b="1" dirty="0">
                <a:solidFill>
                  <a:srgbClr val="17324D"/>
                </a:solidFill>
                <a:latin typeface="Aptos Display" pitchFamily="34" charset="0"/>
                <a:ea typeface="Aptos Display" pitchFamily="34" charset="-122"/>
                <a:cs typeface="Aptos Display" pitchFamily="34" charset="-120"/>
              </a:rPr>
              <a:t>Et maintenant?</a:t>
            </a:r>
            <a:endParaRPr lang="en-US" sz="2900" dirty="0"/>
          </a:p>
        </p:txBody>
      </p:sp>
      <p:sp>
        <p:nvSpPr>
          <p:cNvPr id="9" name="Text 7"/>
          <p:cNvSpPr/>
          <p:nvPr/>
        </p:nvSpPr>
        <p:spPr>
          <a:xfrm>
            <a:off x="6199632" y="3355848"/>
            <a:ext cx="4663440" cy="502920"/>
          </a:xfrm>
          <a:prstGeom prst="rect">
            <a:avLst/>
          </a:prstGeom>
          <a:noFill/>
          <a:ln/>
        </p:spPr>
        <p:txBody>
          <a:bodyPr wrap="square" lIns="0" tIns="0" rIns="0" bIns="0" rtlCol="0" anchor="ctr"/>
          <a:lstStyle/>
          <a:p>
            <a:pPr indent="0" marL="0">
              <a:buNone/>
            </a:pPr>
            <a:r>
              <a:rPr lang="en-US" sz="1800" dirty="0">
                <a:solidFill>
                  <a:srgbClr val="6B7178"/>
                </a:solidFill>
                <a:latin typeface="Aptos" pitchFamily="34" charset="0"/>
                <a:ea typeface="Aptos" pitchFamily="34" charset="-122"/>
                <a:cs typeface="Aptos" pitchFamily="34" charset="-120"/>
              </a:rPr>
              <a:t>Nous savons déjà suivre une valeur depuis la RAM jusqu’à un registre.</a:t>
            </a:r>
            <a:endParaRPr lang="en-US" sz="1800" dirty="0"/>
          </a:p>
        </p:txBody>
      </p:sp>
      <p:sp>
        <p:nvSpPr>
          <p:cNvPr id="10" name="Shape 8"/>
          <p:cNvSpPr/>
          <p:nvPr/>
        </p:nvSpPr>
        <p:spPr>
          <a:xfrm>
            <a:off x="5321808" y="2514600"/>
            <a:ext cx="640080" cy="0"/>
          </a:xfrm>
          <a:prstGeom prst="line">
            <a:avLst/>
          </a:prstGeom>
          <a:noFill/>
          <a:ln w="34290">
            <a:solidFill>
              <a:srgbClr val="B5792A"/>
            </a:solidFill>
            <a:prstDash val="solid"/>
            <a:headEnd type="none"/>
            <a:tailEnd type="triangle"/>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QUESTIONS DIRECTRICES</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Deux questions pour aujourd’hui</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a:t>
            </a:r>
            <a:endParaRPr lang="en-US" sz="820" dirty="0"/>
          </a:p>
        </p:txBody>
      </p:sp>
      <p:sp>
        <p:nvSpPr>
          <p:cNvPr id="7" name="Text 5"/>
          <p:cNvSpPr/>
          <p:nvPr/>
        </p:nvSpPr>
        <p:spPr>
          <a:xfrm>
            <a:off x="777240" y="1645920"/>
            <a:ext cx="5212080" cy="196596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2100" b="1" dirty="0">
                <a:solidFill>
                  <a:srgbClr val="17324D"/>
                </a:solidFill>
                <a:latin typeface="Aptos" pitchFamily="34" charset="0"/>
                <a:ea typeface="Aptos" pitchFamily="34" charset="-122"/>
                <a:cs typeface="Aptos" pitchFamily="34" charset="-120"/>
              </a:rPr>
              <a:t>1 — QUI CALCULE?</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Quelle partie du processeur transforme réellement les opérandes en résultat?</a:t>
            </a:r>
            <a:endParaRPr lang="en-US" sz="2100" dirty="0"/>
          </a:p>
        </p:txBody>
      </p:sp>
      <p:sp>
        <p:nvSpPr>
          <p:cNvPr id="8" name="Text 6"/>
          <p:cNvSpPr/>
          <p:nvPr/>
        </p:nvSpPr>
        <p:spPr>
          <a:xfrm>
            <a:off x="6199632" y="1645920"/>
            <a:ext cx="5212080" cy="196596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100" b="1" dirty="0">
                <a:solidFill>
                  <a:srgbClr val="B5792A"/>
                </a:solidFill>
                <a:latin typeface="Aptos" pitchFamily="34" charset="0"/>
                <a:ea typeface="Aptos" pitchFamily="34" charset="-122"/>
                <a:cs typeface="Aptos" pitchFamily="34" charset="-120"/>
              </a:rPr>
              <a:t>2 — ET SI ÇA NE TIENT PAS?</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Que devient un résultat mathématique qui exige plus de bits que la destination?</a:t>
            </a:r>
            <a:endParaRPr lang="en-US" sz="2100" dirty="0"/>
          </a:p>
        </p:txBody>
      </p:sp>
      <p:sp>
        <p:nvSpPr>
          <p:cNvPr id="9" name="Text 7"/>
          <p:cNvSpPr/>
          <p:nvPr/>
        </p:nvSpPr>
        <p:spPr>
          <a:xfrm>
            <a:off x="960120" y="4224528"/>
            <a:ext cx="10195560" cy="658368"/>
          </a:xfrm>
          <a:prstGeom prst="rect">
            <a:avLst/>
          </a:prstGeom>
          <a:noFill/>
          <a:ln/>
        </p:spPr>
        <p:txBody>
          <a:bodyPr wrap="square" lIns="635" tIns="635" rIns="635" bIns="635" rtlCol="0" anchor="ctr"/>
          <a:lstStyle/>
          <a:p>
            <a:pPr algn="ctr" indent="0" marL="0">
              <a:buNone/>
            </a:pPr>
            <a:r>
              <a:rPr lang="en-US" sz="2300" b="1" dirty="0">
                <a:solidFill>
                  <a:srgbClr val="2D6F6B"/>
                </a:solidFill>
                <a:latin typeface="Aptos Display" pitchFamily="34" charset="0"/>
                <a:ea typeface="Aptos Display" pitchFamily="34" charset="-122"/>
                <a:cs typeface="Aptos Display" pitchFamily="34" charset="-120"/>
              </a:rPr>
              <a:t>Le reste de la séance relie ces deux questions au matériel réel et à la comparaison de processeurs.</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PORTÉE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À maîtriser ou simplement reconnaître?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a:t>
            </a:r>
            <a:endParaRPr lang="en-US" sz="820" dirty="0"/>
          </a:p>
        </p:txBody>
      </p:sp>
      <p:sp>
        <p:nvSpPr>
          <p:cNvPr id="7" name="Text 5"/>
          <p:cNvSpPr/>
          <p:nvPr/>
        </p:nvSpPr>
        <p:spPr>
          <a:xfrm>
            <a:off x="768096" y="1444752"/>
            <a:ext cx="4983480" cy="320040"/>
          </a:xfrm>
          <a:prstGeom prst="rect">
            <a:avLst/>
          </a:prstGeom>
          <a:noFill/>
          <a:ln/>
        </p:spPr>
        <p:txBody>
          <a:bodyPr wrap="square" lIns="0" tIns="0" rIns="0" bIns="0" rtlCol="0" anchor="ctr"/>
          <a:lstStyle/>
          <a:p>
            <a:pPr indent="0" marL="0">
              <a:buNone/>
            </a:pPr>
            <a:r>
              <a:rPr lang="en-US" sz="1300" b="1" dirty="0">
                <a:solidFill>
                  <a:srgbClr val="B5792A"/>
                </a:solidFill>
                <a:latin typeface="Aptos" pitchFamily="34" charset="0"/>
                <a:ea typeface="Aptos" pitchFamily="34" charset="-122"/>
                <a:cs typeface="Aptos" pitchFamily="34" charset="-120"/>
              </a:rPr>
              <a:t>À MAÎTRISER AUJOURD’HUI</a:t>
            </a:r>
            <a:endParaRPr lang="en-US" sz="1300" dirty="0"/>
          </a:p>
        </p:txBody>
      </p:sp>
      <p:sp>
        <p:nvSpPr>
          <p:cNvPr id="8" name="Text 6"/>
          <p:cNvSpPr/>
          <p:nvPr/>
        </p:nvSpPr>
        <p:spPr>
          <a:xfrm>
            <a:off x="6437376" y="1444752"/>
            <a:ext cx="4983480" cy="320040"/>
          </a:xfrm>
          <a:prstGeom prst="rect">
            <a:avLst/>
          </a:prstGeom>
          <a:noFill/>
          <a:ln/>
        </p:spPr>
        <p:txBody>
          <a:bodyPr wrap="square" lIns="0" tIns="0" rIns="0" bIns="0" rtlCol="0" anchor="ctr"/>
          <a:lstStyle/>
          <a:p>
            <a:pPr indent="0" marL="0">
              <a:buNone/>
            </a:pPr>
            <a:r>
              <a:rPr lang="en-US" sz="1300" b="1" dirty="0">
                <a:solidFill>
                  <a:srgbClr val="B5792A"/>
                </a:solidFill>
                <a:latin typeface="Aptos" pitchFamily="34" charset="0"/>
                <a:ea typeface="Aptos" pitchFamily="34" charset="-122"/>
                <a:cs typeface="Aptos" pitchFamily="34" charset="-120"/>
              </a:rPr>
              <a:t>À RECONNAÎTRE AUJOURD’HUI</a:t>
            </a:r>
            <a:endParaRPr lang="en-US" sz="1300" dirty="0"/>
          </a:p>
        </p:txBody>
      </p:sp>
      <p:sp>
        <p:nvSpPr>
          <p:cNvPr id="9" name="Text 7"/>
          <p:cNvSpPr/>
          <p:nvPr/>
        </p:nvSpPr>
        <p:spPr>
          <a:xfrm>
            <a:off x="768096" y="1847088"/>
            <a:ext cx="5010912" cy="2240280"/>
          </a:xfrm>
          <a:prstGeom prst="rect">
            <a:avLst/>
          </a:prstGeom>
          <a:solidFill>
            <a:srgbClr val="EEE9E1"/>
          </a:solidFill>
          <a:ln w="10160">
            <a:solidFill>
              <a:srgbClr val="CEC9BF"/>
            </a:solidFill>
          </a:ln>
        </p:spPr>
        <p:txBody>
          <a:bodyPr wrap="square" lIns="2794" tIns="2794" rIns="2794" bIns="2794" rtlCol="0" anchor="ctr"/>
          <a:lstStyle/>
          <a:p>
            <a:pPr indent="0" marL="0">
              <a:buNone/>
            </a:pPr>
            <a:r>
              <a:rPr lang="en-US" sz="2200" dirty="0">
                <a:solidFill>
                  <a:srgbClr val="222831"/>
                </a:solidFill>
                <a:latin typeface="Aptos" pitchFamily="34" charset="0"/>
                <a:ea typeface="Aptos" pitchFamily="34" charset="-122"/>
                <a:cs typeface="Aptos" pitchFamily="34" charset="-120"/>
              </a:rPr>
              <a:t>unité de contrôle • registres • UAL</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opérande • résultat • largeur</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addition binaire • retenue finale</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bouclage non signé • débordement signé</a:t>
            </a:r>
            <a:endParaRPr lang="en-US" sz="2200" dirty="0"/>
          </a:p>
        </p:txBody>
      </p:sp>
      <p:sp>
        <p:nvSpPr>
          <p:cNvPr id="10" name="Text 8"/>
          <p:cNvSpPr/>
          <p:nvPr/>
        </p:nvSpPr>
        <p:spPr>
          <a:xfrm>
            <a:off x="6400800" y="1847088"/>
            <a:ext cx="5010912" cy="2240280"/>
          </a:xfrm>
          <a:prstGeom prst="rect">
            <a:avLst/>
          </a:prstGeom>
          <a:solidFill>
            <a:srgbClr val="EEE9E1"/>
          </a:solidFill>
          <a:ln w="10160">
            <a:solidFill>
              <a:srgbClr val="CEC9BF"/>
            </a:solidFill>
          </a:ln>
        </p:spPr>
        <p:txBody>
          <a:bodyPr wrap="square" lIns="2794" tIns="2794" rIns="2794" bIns="2794" rtlCol="0" anchor="ctr"/>
          <a:lstStyle/>
          <a:p>
            <a:pPr indent="0" marL="0">
              <a:buNone/>
            </a:pPr>
            <a:r>
              <a:rPr lang="en-US" sz="2200" dirty="0">
                <a:solidFill>
                  <a:srgbClr val="222831"/>
                </a:solidFill>
                <a:latin typeface="Aptos" pitchFamily="34" charset="0"/>
                <a:ea typeface="Aptos" pitchFamily="34" charset="-122"/>
                <a:cs typeface="Aptos" pitchFamily="34" charset="-120"/>
              </a:rPr>
              <a:t>cœur • fil matériel • processeur logique</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fréquence • base / boost • L1 / L2 / L3</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ISA • cœurs P / E</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plateformes actuelles et sockets</a:t>
            </a:r>
            <a:endParaRPr lang="en-US" sz="2200" dirty="0"/>
          </a:p>
        </p:txBody>
      </p:sp>
      <p:sp>
        <p:nvSpPr>
          <p:cNvPr id="11" name="Text 9"/>
          <p:cNvSpPr/>
          <p:nvPr/>
        </p:nvSpPr>
        <p:spPr>
          <a:xfrm>
            <a:off x="1143000" y="4754880"/>
            <a:ext cx="9875520" cy="438912"/>
          </a:xfrm>
          <a:prstGeom prst="rect">
            <a:avLst/>
          </a:prstGeom>
          <a:noFill/>
          <a:ln/>
        </p:spPr>
        <p:txBody>
          <a:bodyPr wrap="square" lIns="0" tIns="0" rIns="0" bIns="0" rtlCol="0" anchor="ctr"/>
          <a:lstStyle/>
          <a:p>
            <a:pPr algn="ctr" indent="0" marL="0">
              <a:buNone/>
            </a:pPr>
            <a:r>
              <a:rPr lang="en-US" sz="1700" i="1" dirty="0">
                <a:solidFill>
                  <a:srgbClr val="6B7178"/>
                </a:solidFill>
                <a:latin typeface="Aptos" pitchFamily="34" charset="0"/>
                <a:ea typeface="Aptos" pitchFamily="34" charset="-122"/>
                <a:cs typeface="Aptos" pitchFamily="34" charset="-120"/>
              </a:rPr>
              <a:t>Le détail des plateformes et de la compatibilité complète revient plus tard dans le cours.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LABORATOIRE 5</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Préparez vos notes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a:t>
            </a:r>
            <a:endParaRPr lang="en-US" sz="820" dirty="0"/>
          </a:p>
        </p:txBody>
      </p:sp>
      <p:sp>
        <p:nvSpPr>
          <p:cNvPr id="7" name="Text 5"/>
          <p:cNvSpPr/>
          <p:nvPr/>
        </p:nvSpPr>
        <p:spPr>
          <a:xfrm>
            <a:off x="786384" y="1426464"/>
            <a:ext cx="5715000" cy="713232"/>
          </a:xfrm>
          <a:prstGeom prst="rect">
            <a:avLst/>
          </a:prstGeom>
          <a:noFill/>
          <a:ln/>
        </p:spPr>
        <p:txBody>
          <a:bodyPr wrap="square" lIns="0" tIns="0" rIns="0" bIns="0" rtlCol="0" anchor="ctr"/>
          <a:lstStyle/>
          <a:p>
            <a:pPr indent="0" marL="0">
              <a:buNone/>
            </a:pPr>
            <a:r>
              <a:rPr lang="en-US" sz="1750" dirty="0">
                <a:solidFill>
                  <a:srgbClr val="6B7178"/>
                </a:solidFill>
                <a:latin typeface="Aptos" pitchFamily="34" charset="0"/>
                <a:ea typeface="Aptos" pitchFamily="34" charset="-122"/>
                <a:cs typeface="Aptos" pitchFamily="34" charset="-120"/>
              </a:rPr>
              <a:t>Ouvrez le Laboratoire 5 : reconnaissez les trois engagements, puis complétez l’étape 1.</a:t>
            </a:r>
            <a:endParaRPr lang="en-US" sz="1750" dirty="0"/>
          </a:p>
          <a:p>
            <a:pPr indent="0" marL="0">
              <a:buNone/>
            </a:pPr>
            <a:r>
              <a:rPr lang="en-US" sz="1750" dirty="0">
                <a:solidFill>
                  <a:srgbClr val="6B7178"/>
                </a:solidFill>
                <a:latin typeface="Aptos" pitchFamily="34" charset="0"/>
                <a:ea typeface="Aptos" pitchFamily="34" charset="-122"/>
                <a:cs typeface="Aptos" pitchFamily="34" charset="-120"/>
              </a:rPr>
              <a:t>Ajoutez ensuite les rubriques suivantes à votre compte rendu :</a:t>
            </a:r>
            <a:endParaRPr lang="en-US" sz="1750" dirty="0"/>
          </a:p>
        </p:txBody>
      </p:sp>
      <p:sp>
        <p:nvSpPr>
          <p:cNvPr id="8" name="Text 6"/>
          <p:cNvSpPr/>
          <p:nvPr/>
        </p:nvSpPr>
        <p:spPr>
          <a:xfrm>
            <a:off x="786384" y="2304288"/>
            <a:ext cx="4754880" cy="2670048"/>
          </a:xfrm>
          <a:prstGeom prst="rect">
            <a:avLst/>
          </a:prstGeom>
          <a:solidFill>
            <a:srgbClr val="EEE9E1"/>
          </a:solidFill>
          <a:ln w="10160">
            <a:solidFill>
              <a:srgbClr val="CEC9BF"/>
            </a:solidFill>
          </a:ln>
        </p:spPr>
        <p:txBody>
          <a:bodyPr wrap="square" lIns="3175" tIns="3175" rIns="3175" bIns="3175" rtlCol="0" anchor="ctr"/>
          <a:lstStyle/>
          <a:p>
            <a:pPr indent="0" marL="0">
              <a:buNone/>
            </a:pPr>
            <a:r>
              <a:rPr lang="en-US" sz="2300" dirty="0">
                <a:solidFill>
                  <a:srgbClr val="222831"/>
                </a:solidFill>
                <a:latin typeface="Aptos" pitchFamily="34" charset="0"/>
                <a:ea typeface="Aptos" pitchFamily="34" charset="-122"/>
                <a:cs typeface="Aptos" pitchFamily="34" charset="-120"/>
              </a:rPr>
              <a:t>observation du CPU</a:t>
            </a:r>
            <a:endParaRPr lang="en-US" sz="2300" dirty="0"/>
          </a:p>
          <a:p>
            <a:pPr indent="0" marL="0">
              <a:buNone/>
            </a:pPr>
            <a:r>
              <a:rPr lang="en-US" sz="2300" dirty="0">
                <a:solidFill>
                  <a:srgbClr val="222831"/>
                </a:solidFill>
                <a:latin typeface="Aptos" pitchFamily="34" charset="0"/>
                <a:ea typeface="Aptos" pitchFamily="34" charset="-122"/>
                <a:cs typeface="Aptos" pitchFamily="34" charset="-120"/>
              </a:rPr>
              <a:t>trajet de l’instruction</a:t>
            </a:r>
            <a:endParaRPr lang="en-US" sz="2300" dirty="0"/>
          </a:p>
          <a:p>
            <a:pPr indent="0" marL="0">
              <a:buNone/>
            </a:pPr>
            <a:r>
              <a:rPr lang="en-US" sz="2300" dirty="0">
                <a:solidFill>
                  <a:srgbClr val="222831"/>
                </a:solidFill>
                <a:latin typeface="Aptos" pitchFamily="34" charset="0"/>
                <a:ea typeface="Aptos" pitchFamily="34" charset="-122"/>
                <a:cs typeface="Aptos" pitchFamily="34" charset="-120"/>
              </a:rPr>
              <a:t>additions</a:t>
            </a:r>
            <a:endParaRPr lang="en-US" sz="2300" dirty="0"/>
          </a:p>
          <a:p>
            <a:pPr indent="0" marL="0">
              <a:buNone/>
            </a:pPr>
            <a:r>
              <a:rPr lang="en-US" sz="2300" dirty="0">
                <a:solidFill>
                  <a:srgbClr val="222831"/>
                </a:solidFill>
                <a:latin typeface="Aptos" pitchFamily="34" charset="0"/>
                <a:ea typeface="Aptos" pitchFamily="34" charset="-122"/>
                <a:cs typeface="Aptos" pitchFamily="34" charset="-120"/>
              </a:rPr>
              <a:t>indicateurs</a:t>
            </a:r>
            <a:endParaRPr lang="en-US" sz="2300" dirty="0"/>
          </a:p>
          <a:p>
            <a:pPr indent="0" marL="0">
              <a:buNone/>
            </a:pPr>
            <a:r>
              <a:rPr lang="en-US" sz="2300" dirty="0">
                <a:solidFill>
                  <a:srgbClr val="222831"/>
                </a:solidFill>
                <a:latin typeface="Aptos" pitchFamily="34" charset="0"/>
                <a:ea typeface="Aptos" pitchFamily="34" charset="-122"/>
                <a:cs typeface="Aptos" pitchFamily="34" charset="-120"/>
              </a:rPr>
              <a:t>comparaison</a:t>
            </a:r>
            <a:endParaRPr lang="en-US" sz="2300" dirty="0"/>
          </a:p>
          <a:p>
            <a:pPr indent="0" marL="0">
              <a:buNone/>
            </a:pPr>
            <a:r>
              <a:rPr lang="en-US" sz="2300" dirty="0">
                <a:solidFill>
                  <a:srgbClr val="222831"/>
                </a:solidFill>
                <a:latin typeface="Aptos" pitchFamily="34" charset="0"/>
                <a:ea typeface="Aptos" pitchFamily="34" charset="-122"/>
                <a:cs typeface="Aptos" pitchFamily="34" charset="-120"/>
              </a:rPr>
              <a:t>atelier matériel</a:t>
            </a:r>
            <a:endParaRPr lang="en-US" sz="2300" dirty="0"/>
          </a:p>
        </p:txBody>
      </p:sp>
      <p:sp>
        <p:nvSpPr>
          <p:cNvPr id="9" name="Text 7"/>
          <p:cNvSpPr/>
          <p:nvPr/>
        </p:nvSpPr>
        <p:spPr>
          <a:xfrm>
            <a:off x="6172200" y="2267712"/>
            <a:ext cx="4800600" cy="155448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000" b="1" dirty="0">
                <a:solidFill>
                  <a:srgbClr val="2D6F6B"/>
                </a:solidFill>
                <a:latin typeface="Aptos" pitchFamily="34" charset="0"/>
                <a:ea typeface="Aptos" pitchFamily="34" charset="-122"/>
                <a:cs typeface="Aptos" pitchFamily="34" charset="-120"/>
              </a:rPr>
              <a:t>RAPPEL</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La progression du laboratoire n’est pas votre compte rendu. Conservez vos commandes, calculs, observations et preuves.</a:t>
            </a:r>
            <a:endParaRPr lang="en-US" sz="2000" dirty="0"/>
          </a:p>
        </p:txBody>
      </p:sp>
      <p:sp>
        <p:nvSpPr>
          <p:cNvPr id="10" name="Text 8"/>
          <p:cNvSpPr/>
          <p:nvPr/>
        </p:nvSpPr>
        <p:spPr>
          <a:xfrm>
            <a:off x="6199632" y="4224528"/>
            <a:ext cx="1920240" cy="365760"/>
          </a:xfrm>
          <a:prstGeom prst="rect">
            <a:avLst/>
          </a:prstGeom>
          <a:noFill/>
          <a:ln/>
        </p:spPr>
        <p:txBody>
          <a:bodyPr wrap="square" lIns="0" tIns="0" rIns="0" bIns="0" rtlCol="0" anchor="ctr"/>
          <a:lstStyle/>
          <a:p>
            <a:pPr indent="0" marL="0">
              <a:buNone/>
            </a:pPr>
            <a:r>
              <a:rPr lang="en-US" sz="1600" b="1" dirty="0">
                <a:solidFill>
                  <a:srgbClr val="B5792A"/>
                </a:solidFill>
                <a:latin typeface="Aptos" pitchFamily="34" charset="0"/>
                <a:ea typeface="Aptos" pitchFamily="34" charset="-122"/>
                <a:cs typeface="Aptos" pitchFamily="34" charset="-120"/>
              </a:rPr>
              <a:t>≈ 2 minutes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ÉNIGME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Que vient après 255?</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a:t>
            </a:r>
            <a:endParaRPr lang="en-US" sz="820" dirty="0"/>
          </a:p>
        </p:txBody>
      </p:sp>
      <p:sp>
        <p:nvSpPr>
          <p:cNvPr id="7" name="Text 5"/>
          <p:cNvSpPr/>
          <p:nvPr/>
        </p:nvSpPr>
        <p:spPr>
          <a:xfrm>
            <a:off x="868680" y="1664208"/>
            <a:ext cx="3749040" cy="594360"/>
          </a:xfrm>
          <a:prstGeom prst="rect">
            <a:avLst/>
          </a:prstGeom>
          <a:noFill/>
          <a:ln/>
        </p:spPr>
        <p:txBody>
          <a:bodyPr wrap="square" lIns="0" tIns="0" rIns="0" bIns="0" rtlCol="0" anchor="ctr"/>
          <a:lstStyle/>
          <a:p>
            <a:pPr algn="ctr" indent="0" marL="0">
              <a:buNone/>
            </a:pPr>
            <a:r>
              <a:rPr lang="en-US" sz="4400" b="1" dirty="0">
                <a:solidFill>
                  <a:srgbClr val="222831"/>
                </a:solidFill>
                <a:latin typeface="Aptos Mono" pitchFamily="34" charset="0"/>
                <a:ea typeface="Aptos Mono" pitchFamily="34" charset="-122"/>
                <a:cs typeface="Aptos Mono" pitchFamily="34" charset="-120"/>
              </a:rPr>
              <a:t>11111111</a:t>
            </a:r>
            <a:endParaRPr lang="en-US" sz="4400" dirty="0"/>
          </a:p>
        </p:txBody>
      </p:sp>
      <p:sp>
        <p:nvSpPr>
          <p:cNvPr id="8" name="Text 6"/>
          <p:cNvSpPr/>
          <p:nvPr/>
        </p:nvSpPr>
        <p:spPr>
          <a:xfrm>
            <a:off x="868680" y="2404872"/>
            <a:ext cx="3749040" cy="594360"/>
          </a:xfrm>
          <a:prstGeom prst="rect">
            <a:avLst/>
          </a:prstGeom>
          <a:noFill/>
          <a:ln/>
        </p:spPr>
        <p:txBody>
          <a:bodyPr wrap="square" lIns="0" tIns="0" rIns="0" bIns="0" rtlCol="0" anchor="ctr"/>
          <a:lstStyle/>
          <a:p>
            <a:pPr algn="ctr" indent="0" marL="0">
              <a:buNone/>
            </a:pPr>
            <a:r>
              <a:rPr lang="en-US" sz="4400" b="1" dirty="0">
                <a:solidFill>
                  <a:srgbClr val="222831"/>
                </a:solidFill>
                <a:latin typeface="Aptos Mono" pitchFamily="34" charset="0"/>
                <a:ea typeface="Aptos Mono" pitchFamily="34" charset="-122"/>
                <a:cs typeface="Aptos Mono" pitchFamily="34" charset="-120"/>
              </a:rPr>
              <a:t>+ 00000001</a:t>
            </a:r>
            <a:endParaRPr lang="en-US" sz="4400" dirty="0"/>
          </a:p>
        </p:txBody>
      </p:sp>
      <p:sp>
        <p:nvSpPr>
          <p:cNvPr id="9" name="Shape 7"/>
          <p:cNvSpPr/>
          <p:nvPr/>
        </p:nvSpPr>
        <p:spPr>
          <a:xfrm>
            <a:off x="1234440" y="3127248"/>
            <a:ext cx="3017520" cy="0"/>
          </a:xfrm>
          <a:prstGeom prst="line">
            <a:avLst/>
          </a:prstGeom>
          <a:noFill/>
          <a:ln w="25400">
            <a:solidFill>
              <a:srgbClr val="222831"/>
            </a:solidFill>
            <a:prstDash val="solid"/>
          </a:ln>
        </p:spPr>
      </p:sp>
      <p:sp>
        <p:nvSpPr>
          <p:cNvPr id="10" name="Text 8"/>
          <p:cNvSpPr/>
          <p:nvPr/>
        </p:nvSpPr>
        <p:spPr>
          <a:xfrm>
            <a:off x="914400" y="3310128"/>
            <a:ext cx="3657600" cy="822960"/>
          </a:xfrm>
          <a:prstGeom prst="rect">
            <a:avLst/>
          </a:prstGeom>
          <a:noFill/>
          <a:ln/>
        </p:spPr>
        <p:txBody>
          <a:bodyPr wrap="square" lIns="0" tIns="0" rIns="0" bIns="0" rtlCol="0" anchor="ctr"/>
          <a:lstStyle/>
          <a:p>
            <a:pPr algn="ctr" indent="0" marL="0">
              <a:buNone/>
            </a:pPr>
            <a:r>
              <a:rPr lang="en-US" sz="5600" b="1" dirty="0">
                <a:solidFill>
                  <a:srgbClr val="B5792A"/>
                </a:solidFill>
                <a:latin typeface="Aptos Display" pitchFamily="34" charset="0"/>
                <a:ea typeface="Aptos Display" pitchFamily="34" charset="-122"/>
                <a:cs typeface="Aptos Display" pitchFamily="34" charset="-120"/>
              </a:rPr>
              <a:t>?</a:t>
            </a:r>
            <a:endParaRPr lang="en-US" sz="5600" dirty="0"/>
          </a:p>
        </p:txBody>
      </p:sp>
      <p:sp>
        <p:nvSpPr>
          <p:cNvPr id="11" name="Text 9"/>
          <p:cNvSpPr/>
          <p:nvPr/>
        </p:nvSpPr>
        <p:spPr>
          <a:xfrm>
            <a:off x="5715000" y="1572768"/>
            <a:ext cx="4892040" cy="384048"/>
          </a:xfrm>
          <a:prstGeom prst="rect">
            <a:avLst/>
          </a:prstGeom>
          <a:noFill/>
          <a:ln/>
        </p:spPr>
        <p:txBody>
          <a:bodyPr wrap="square" lIns="0" tIns="0" rIns="0" bIns="0" rtlCol="0" anchor="ct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Votre première hypothèse</a:t>
            </a:r>
            <a:endParaRPr lang="en-US" sz="2400" dirty="0"/>
          </a:p>
        </p:txBody>
      </p:sp>
      <p:sp>
        <p:nvSpPr>
          <p:cNvPr id="12" name="Text 10"/>
          <p:cNvSpPr/>
          <p:nvPr/>
        </p:nvSpPr>
        <p:spPr>
          <a:xfrm>
            <a:off x="5715000" y="2084832"/>
            <a:ext cx="5257800" cy="2240280"/>
          </a:xfrm>
          <a:prstGeom prst="rect">
            <a:avLst/>
          </a:prstGeom>
          <a:solidFill>
            <a:srgbClr val="F5F1EA"/>
          </a:solidFill>
          <a:ln w="10160">
            <a:solidFill>
              <a:srgbClr val="CEC9BF"/>
            </a:solidFill>
          </a:ln>
        </p:spPr>
        <p:txBody>
          <a:bodyPr wrap="square" lIns="2921" tIns="2921" rIns="2921" bIns="2921" rtlCol="0" anchor="ctr"/>
          <a:lstStyle/>
          <a:p>
            <a:pPr indent="0" marL="0">
              <a:buNone/>
            </a:pPr>
            <a:r>
              <a:rPr lang="en-US" sz="2000" dirty="0">
                <a:solidFill>
                  <a:srgbClr val="222831"/>
                </a:solidFill>
                <a:latin typeface="Aptos" pitchFamily="34" charset="0"/>
                <a:ea typeface="Aptos" pitchFamily="34" charset="-122"/>
                <a:cs typeface="Aptos" pitchFamily="34" charset="-120"/>
              </a:rPr>
              <a:t>A. le registre s’agrandit</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B. le processeur refuse toujours</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C. un bit est signalé ailleurs et le registre garde 8 bits</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D. le résultat devient automatiquement négatif</a:t>
            </a:r>
            <a:endParaRPr lang="en-US" sz="2000" dirty="0"/>
          </a:p>
        </p:txBody>
      </p:sp>
      <p:sp>
        <p:nvSpPr>
          <p:cNvPr id="13" name="Text 11"/>
          <p:cNvSpPr/>
          <p:nvPr/>
        </p:nvSpPr>
        <p:spPr>
          <a:xfrm>
            <a:off x="5715000" y="4572000"/>
            <a:ext cx="5166360" cy="411480"/>
          </a:xfrm>
          <a:prstGeom prst="rect">
            <a:avLst/>
          </a:prstGeom>
          <a:noFill/>
          <a:ln/>
        </p:spPr>
        <p:txBody>
          <a:bodyPr wrap="square" lIns="0" tIns="0" rIns="0" bIns="0" rtlCol="0" anchor="ctr"/>
          <a:lstStyle/>
          <a:p>
            <a:pPr indent="0" marL="0">
              <a:buNone/>
            </a:pPr>
            <a:r>
              <a:rPr lang="en-US" sz="1700" i="1" dirty="0">
                <a:solidFill>
                  <a:srgbClr val="6B7178"/>
                </a:solidFill>
                <a:latin typeface="Aptos" pitchFamily="34" charset="0"/>
                <a:ea typeface="Aptos" pitchFamily="34" charset="-122"/>
                <a:cs typeface="Aptos" pitchFamily="34" charset="-120"/>
              </a:rPr>
              <a:t>Ne résolvez pas encore : choisissez et justifiez.</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DU VISIBLE AU FONCTIONNEL</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Le processeur : ce qu’on voit / ce qui travaille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a:t>
            </a:r>
            <a:endParaRPr lang="en-US" sz="820" dirty="0"/>
          </a:p>
        </p:txBody>
      </p:sp>
      <p:sp>
        <p:nvSpPr>
          <p:cNvPr id="7" name="Shape 5"/>
          <p:cNvSpPr/>
          <p:nvPr/>
        </p:nvSpPr>
        <p:spPr>
          <a:xfrm>
            <a:off x="740664" y="1435608"/>
            <a:ext cx="4718304" cy="3877056"/>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1_cpu_i9_14900kf.jpg">    </p:cNvPr>
          <p:cNvPicPr>
            <a:picLocks noChangeAspect="1"/>
          </p:cNvPicPr>
          <p:nvPr/>
        </p:nvPicPr>
        <p:blipFill>
          <a:blip r:embed="rId1"/>
          <a:stretch>
            <a:fillRect/>
          </a:stretch>
        </p:blipFill>
        <p:spPr>
          <a:xfrm>
            <a:off x="1393367" y="1463040"/>
            <a:ext cx="3412899" cy="3822192"/>
          </a:xfrm>
          <a:prstGeom prst="rect">
            <a:avLst/>
          </a:prstGeom>
        </p:spPr>
      </p:pic>
      <p:sp>
        <p:nvSpPr>
          <p:cNvPr id="9" name="Text 6"/>
          <p:cNvSpPr/>
          <p:nvPr/>
        </p:nvSpPr>
        <p:spPr>
          <a:xfrm>
            <a:off x="1024128" y="5413248"/>
            <a:ext cx="4160520" cy="256032"/>
          </a:xfrm>
          <a:prstGeom prst="rect">
            <a:avLst/>
          </a:prstGeom>
          <a:noFill/>
          <a:ln/>
        </p:spPr>
        <p:txBody>
          <a:bodyPr wrap="square" lIns="0" tIns="0" rIns="0" bIns="0" rtlCol="0" anchor="ctr"/>
          <a:lstStyle/>
          <a:p>
            <a:pPr algn="ctr" indent="0" marL="0">
              <a:buNone/>
            </a:pPr>
            <a:r>
              <a:rPr lang="en-US" sz="1200" b="1" dirty="0">
                <a:solidFill>
                  <a:srgbClr val="B5792A"/>
                </a:solidFill>
                <a:latin typeface="Aptos" pitchFamily="34" charset="0"/>
                <a:ea typeface="Aptos" pitchFamily="34" charset="-122"/>
                <a:cs typeface="Aptos" pitchFamily="34" charset="-120"/>
              </a:rPr>
              <a:t>CE QU’ON VOIT</a:t>
            </a:r>
            <a:endParaRPr lang="en-US" sz="1200" dirty="0"/>
          </a:p>
        </p:txBody>
      </p:sp>
      <p:sp>
        <p:nvSpPr>
          <p:cNvPr id="10" name="Text 7"/>
          <p:cNvSpPr/>
          <p:nvPr/>
        </p:nvSpPr>
        <p:spPr>
          <a:xfrm>
            <a:off x="6144768" y="1572768"/>
            <a:ext cx="4754880" cy="338328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2200" b="1" dirty="0">
                <a:solidFill>
                  <a:srgbClr val="17324D"/>
                </a:solidFill>
                <a:latin typeface="Aptos" pitchFamily="34" charset="0"/>
                <a:ea typeface="Aptos" pitchFamily="34" charset="-122"/>
                <a:cs typeface="Aptos" pitchFamily="34" charset="-120"/>
              </a:rPr>
              <a:t>À L’INTÉRIEUR</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unités de contrôle</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registres</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unités arithmétiques et logiques</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caches</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 et beaucoup d’autres circuits</a:t>
            </a:r>
            <a:endParaRPr lang="en-US" sz="2200" dirty="0"/>
          </a:p>
        </p:txBody>
      </p:sp>
      <p:sp>
        <p:nvSpPr>
          <p:cNvPr id="11" name="Text 8"/>
          <p:cNvSpPr/>
          <p:nvPr/>
        </p:nvSpPr>
        <p:spPr>
          <a:xfrm>
            <a:off x="6199632" y="5175504"/>
            <a:ext cx="4590288" cy="502920"/>
          </a:xfrm>
          <a:prstGeom prst="rect">
            <a:avLst/>
          </a:prstGeom>
          <a:noFill/>
          <a:ln/>
        </p:spPr>
        <p:txBody>
          <a:bodyPr wrap="square" lIns="0" tIns="0" rIns="0" bIns="0" rtlCol="0" anchor="ctr"/>
          <a:lstStyle/>
          <a:p>
            <a:pPr indent="0" marL="0">
              <a:buNone/>
            </a:pPr>
            <a:r>
              <a:rPr lang="en-US" sz="1700" dirty="0">
                <a:solidFill>
                  <a:srgbClr val="6B7178"/>
                </a:solidFill>
                <a:latin typeface="Aptos" pitchFamily="34" charset="0"/>
                <a:ea typeface="Aptos" pitchFamily="34" charset="-122"/>
                <a:cs typeface="Aptos" pitchFamily="34" charset="-120"/>
              </a:rPr>
              <a:t>On peut tenir le boîtier en main. On ne peut pas « voir » l’UAL en ouvrant le PC.</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MODÈLE DU PROCESSEUR</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Un modèle volontairement simplifié</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8</a:t>
            </a:r>
            <a:endParaRPr lang="en-US" sz="820" dirty="0"/>
          </a:p>
        </p:txBody>
      </p:sp>
      <p:sp>
        <p:nvSpPr>
          <p:cNvPr id="7" name="Text 5"/>
          <p:cNvSpPr/>
          <p:nvPr/>
        </p:nvSpPr>
        <p:spPr>
          <a:xfrm>
            <a:off x="3749040" y="1536192"/>
            <a:ext cx="4709160" cy="841248"/>
          </a:xfrm>
          <a:prstGeom prst="rect">
            <a:avLst/>
          </a:prstGeom>
          <a:solidFill>
            <a:srgbClr val="17324D"/>
          </a:solidFill>
          <a:ln>
            <a:solidFill>
              <a:srgbClr val="17324D"/>
            </a:solidFill>
          </a:ln>
        </p:spPr>
        <p:txBody>
          <a:bodyPr wrap="square" lIns="1524" tIns="1524" rIns="1524" bIns="1524"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UNITÉ DE CONTRÔLE</a:t>
            </a:r>
            <a:endParaRPr lang="en-US" sz="2000" dirty="0"/>
          </a:p>
          <a:p>
            <a:pPr algn="ctr" indent="0" marL="0">
              <a:buNone/>
            </a:pPr>
            <a:r>
              <a:rPr lang="en-US" sz="2000" b="1" dirty="0">
                <a:solidFill>
                  <a:srgbClr val="FFFFFF"/>
                </a:solidFill>
                <a:latin typeface="Aptos" pitchFamily="34" charset="0"/>
                <a:ea typeface="Aptos" pitchFamily="34" charset="-122"/>
                <a:cs typeface="Aptos" pitchFamily="34" charset="-120"/>
              </a:rPr>
              <a:t>décode • coordonne</a:t>
            </a:r>
            <a:endParaRPr lang="en-US" sz="2000" dirty="0"/>
          </a:p>
        </p:txBody>
      </p:sp>
      <p:sp>
        <p:nvSpPr>
          <p:cNvPr id="8" name="Text 6"/>
          <p:cNvSpPr/>
          <p:nvPr/>
        </p:nvSpPr>
        <p:spPr>
          <a:xfrm>
            <a:off x="960120" y="2980944"/>
            <a:ext cx="2971800" cy="1005840"/>
          </a:xfrm>
          <a:prstGeom prst="rect">
            <a:avLst/>
          </a:prstGeom>
          <a:solidFill>
            <a:srgbClr val="EEE9E1"/>
          </a:solidFill>
          <a:ln>
            <a:solidFill>
              <a:srgbClr val="CEC9BF"/>
            </a:solidFill>
          </a:ln>
        </p:spPr>
        <p:txBody>
          <a:bodyPr wrap="square" lIns="1524" tIns="1524" rIns="1524" bIns="1524" rtlCol="0" anchor="ctr"/>
          <a:lstStyle/>
          <a:p>
            <a:pPr algn="ctr" indent="0" marL="0">
              <a:buNone/>
            </a:pPr>
            <a:r>
              <a:rPr lang="en-US" sz="2000" b="1" dirty="0">
                <a:solidFill>
                  <a:srgbClr val="222831"/>
                </a:solidFill>
                <a:latin typeface="Aptos" pitchFamily="34" charset="0"/>
                <a:ea typeface="Aptos" pitchFamily="34" charset="-122"/>
                <a:cs typeface="Aptos" pitchFamily="34" charset="-120"/>
              </a:rPr>
              <a:t>REGISTRES</a:t>
            </a:r>
            <a:endParaRPr lang="en-US" sz="2000" dirty="0"/>
          </a:p>
          <a:p>
            <a:pPr algn="ctr" indent="0" marL="0">
              <a:buNone/>
            </a:pPr>
            <a:r>
              <a:rPr lang="en-US" sz="2000" b="1" dirty="0">
                <a:solidFill>
                  <a:srgbClr val="222831"/>
                </a:solidFill>
                <a:latin typeface="Aptos" pitchFamily="34" charset="0"/>
                <a:ea typeface="Aptos" pitchFamily="34" charset="-122"/>
                <a:cs typeface="Aptos" pitchFamily="34" charset="-120"/>
              </a:rPr>
              <a:t>opérandes • résultats</a:t>
            </a:r>
            <a:endParaRPr lang="en-US" sz="2000" dirty="0"/>
          </a:p>
        </p:txBody>
      </p:sp>
      <p:sp>
        <p:nvSpPr>
          <p:cNvPr id="9" name="Text 7"/>
          <p:cNvSpPr/>
          <p:nvPr/>
        </p:nvSpPr>
        <p:spPr>
          <a:xfrm>
            <a:off x="4553712" y="2980944"/>
            <a:ext cx="2971800" cy="1005840"/>
          </a:xfrm>
          <a:prstGeom prst="rect">
            <a:avLst/>
          </a:prstGeom>
          <a:solidFill>
            <a:srgbClr val="2D6F6B"/>
          </a:solidFill>
          <a:ln>
            <a:solidFill>
              <a:srgbClr val="2D6F6B"/>
            </a:solidFill>
          </a:ln>
        </p:spPr>
        <p:txBody>
          <a:bodyPr wrap="square" lIns="1524" tIns="1524" rIns="1524" bIns="1524"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UAL</a:t>
            </a:r>
            <a:endParaRPr lang="en-US" sz="2000" dirty="0"/>
          </a:p>
          <a:p>
            <a:pPr algn="ctr" indent="0" marL="0">
              <a:buNone/>
            </a:pPr>
            <a:r>
              <a:rPr lang="en-US" sz="2000" b="1" dirty="0">
                <a:solidFill>
                  <a:srgbClr val="FFFFFF"/>
                </a:solidFill>
                <a:latin typeface="Aptos" pitchFamily="34" charset="0"/>
                <a:ea typeface="Aptos" pitchFamily="34" charset="-122"/>
                <a:cs typeface="Aptos" pitchFamily="34" charset="-120"/>
              </a:rPr>
              <a:t>arithmétique • logique</a:t>
            </a:r>
            <a:endParaRPr lang="en-US" sz="2000" dirty="0"/>
          </a:p>
        </p:txBody>
      </p:sp>
      <p:sp>
        <p:nvSpPr>
          <p:cNvPr id="10" name="Text 8"/>
          <p:cNvSpPr/>
          <p:nvPr/>
        </p:nvSpPr>
        <p:spPr>
          <a:xfrm>
            <a:off x="8156448" y="2980944"/>
            <a:ext cx="2971800" cy="1005840"/>
          </a:xfrm>
          <a:prstGeom prst="rect">
            <a:avLst/>
          </a:prstGeom>
          <a:solidFill>
            <a:srgbClr val="F2E4CE"/>
          </a:solidFill>
          <a:ln>
            <a:solidFill>
              <a:srgbClr val="CEC9BF"/>
            </a:solidFill>
          </a:ln>
        </p:spPr>
        <p:txBody>
          <a:bodyPr wrap="square" lIns="1524" tIns="1524" rIns="1524" bIns="1524" rtlCol="0" anchor="ctr"/>
          <a:lstStyle/>
          <a:p>
            <a:pPr algn="ctr" indent="0" marL="0">
              <a:buNone/>
            </a:pPr>
            <a:r>
              <a:rPr lang="en-US" sz="2000" b="1" dirty="0">
                <a:solidFill>
                  <a:srgbClr val="222831"/>
                </a:solidFill>
                <a:latin typeface="Aptos" pitchFamily="34" charset="0"/>
                <a:ea typeface="Aptos" pitchFamily="34" charset="-122"/>
                <a:cs typeface="Aptos" pitchFamily="34" charset="-120"/>
              </a:rPr>
              <a:t>CACHE</a:t>
            </a:r>
            <a:endParaRPr lang="en-US" sz="2000" dirty="0"/>
          </a:p>
          <a:p>
            <a:pPr algn="ctr" indent="0" marL="0">
              <a:buNone/>
            </a:pPr>
            <a:r>
              <a:rPr lang="en-US" sz="2000" b="1" dirty="0">
                <a:solidFill>
                  <a:srgbClr val="222831"/>
                </a:solidFill>
                <a:latin typeface="Aptos" pitchFamily="34" charset="0"/>
                <a:ea typeface="Aptos" pitchFamily="34" charset="-122"/>
                <a:cs typeface="Aptos" pitchFamily="34" charset="-120"/>
              </a:rPr>
              <a:t>données / instructions proches</a:t>
            </a:r>
            <a:endParaRPr lang="en-US" sz="2000" dirty="0"/>
          </a:p>
        </p:txBody>
      </p:sp>
      <p:sp>
        <p:nvSpPr>
          <p:cNvPr id="11" name="Shape 9"/>
          <p:cNvSpPr/>
          <p:nvPr/>
        </p:nvSpPr>
        <p:spPr>
          <a:xfrm>
            <a:off x="5394960" y="2404872"/>
            <a:ext cx="0" cy="420624"/>
          </a:xfrm>
          <a:prstGeom prst="line">
            <a:avLst/>
          </a:prstGeom>
          <a:noFill/>
          <a:ln w="29210">
            <a:solidFill>
              <a:srgbClr val="17324D"/>
            </a:solidFill>
            <a:prstDash val="solid"/>
            <a:headEnd type="none"/>
            <a:tailEnd type="triangle"/>
          </a:ln>
        </p:spPr>
      </p:sp>
      <p:sp>
        <p:nvSpPr>
          <p:cNvPr id="12" name="Shape 10"/>
          <p:cNvSpPr/>
          <p:nvPr/>
        </p:nvSpPr>
        <p:spPr>
          <a:xfrm>
            <a:off x="4050792" y="3483864"/>
            <a:ext cx="384048" cy="0"/>
          </a:xfrm>
          <a:prstGeom prst="line">
            <a:avLst/>
          </a:prstGeom>
          <a:noFill/>
          <a:ln w="29210">
            <a:solidFill>
              <a:srgbClr val="2D6F6B"/>
            </a:solidFill>
            <a:prstDash val="solid"/>
            <a:headEnd type="none"/>
            <a:tailEnd type="triangle"/>
          </a:ln>
        </p:spPr>
      </p:sp>
      <p:sp>
        <p:nvSpPr>
          <p:cNvPr id="13" name="Shape 11"/>
          <p:cNvSpPr/>
          <p:nvPr/>
        </p:nvSpPr>
        <p:spPr>
          <a:xfrm>
            <a:off x="7644384" y="3483864"/>
            <a:ext cx="384048" cy="0"/>
          </a:xfrm>
          <a:prstGeom prst="line">
            <a:avLst/>
          </a:prstGeom>
          <a:noFill/>
          <a:ln w="29210">
            <a:solidFill>
              <a:srgbClr val="2D6F6B"/>
            </a:solidFill>
            <a:prstDash val="solid"/>
            <a:headEnd type="none"/>
            <a:tailEnd type="triangle"/>
          </a:ln>
        </p:spPr>
      </p:sp>
      <p:sp>
        <p:nvSpPr>
          <p:cNvPr id="14" name="Text 12"/>
          <p:cNvSpPr/>
          <p:nvPr/>
        </p:nvSpPr>
        <p:spPr>
          <a:xfrm>
            <a:off x="1828800" y="4718304"/>
            <a:ext cx="8549640" cy="502920"/>
          </a:xfrm>
          <a:prstGeom prst="rect">
            <a:avLst/>
          </a:prstGeom>
          <a:noFill/>
          <a:ln/>
        </p:spPr>
        <p:txBody>
          <a:bodyPr wrap="square" lIns="0" tIns="0" rIns="0" bIns="0" rtlCol="0" anchor="ctr"/>
          <a:lstStyle/>
          <a:p>
            <a:pPr algn="ctr" indent="0" marL="0">
              <a:buNone/>
            </a:pPr>
            <a:r>
              <a:rPr lang="en-US" sz="1800" i="1" dirty="0">
                <a:solidFill>
                  <a:srgbClr val="6B7178"/>
                </a:solidFill>
                <a:latin typeface="Aptos" pitchFamily="34" charset="0"/>
                <a:ea typeface="Aptos" pitchFamily="34" charset="-122"/>
                <a:cs typeface="Aptos" pitchFamily="34" charset="-120"/>
              </a:rPr>
              <a:t>Ce schéma montre des rôles, pas nécessairement des blocs uniques et séparés.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RÔLE 1</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Unité de contrôle — coordonner</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9</a:t>
            </a:r>
            <a:endParaRPr lang="en-US" sz="820" dirty="0"/>
          </a:p>
        </p:txBody>
      </p:sp>
      <p:sp>
        <p:nvSpPr>
          <p:cNvPr id="7" name="Text 5"/>
          <p:cNvSpPr/>
          <p:nvPr/>
        </p:nvSpPr>
        <p:spPr>
          <a:xfrm>
            <a:off x="822960" y="1591056"/>
            <a:ext cx="2286000" cy="685800"/>
          </a:xfrm>
          <a:prstGeom prst="rect">
            <a:avLst/>
          </a:prstGeom>
          <a:noFill/>
          <a:ln/>
        </p:spPr>
        <p:txBody>
          <a:bodyPr wrap="square" lIns="0" tIns="0" rIns="0" bIns="0" rtlCol="0" anchor="ctr"/>
          <a:lstStyle/>
          <a:p>
            <a:pPr algn="ctr" indent="0" marL="0">
              <a:buNone/>
            </a:pPr>
            <a:r>
              <a:rPr lang="en-US" sz="3100" b="1" dirty="0">
                <a:solidFill>
                  <a:srgbClr val="17324D"/>
                </a:solidFill>
                <a:latin typeface="Aptos Display" pitchFamily="34" charset="0"/>
                <a:ea typeface="Aptos Display" pitchFamily="34" charset="-122"/>
                <a:cs typeface="Aptos Display" pitchFamily="34" charset="-120"/>
              </a:rPr>
              <a:t>DÉCODER</a:t>
            </a:r>
            <a:endParaRPr lang="en-US" sz="3100" dirty="0"/>
          </a:p>
        </p:txBody>
      </p:sp>
      <p:sp>
        <p:nvSpPr>
          <p:cNvPr id="8" name="Text 6"/>
          <p:cNvSpPr/>
          <p:nvPr/>
        </p:nvSpPr>
        <p:spPr>
          <a:xfrm>
            <a:off x="3611880" y="1591056"/>
            <a:ext cx="3200400" cy="685800"/>
          </a:xfrm>
          <a:prstGeom prst="rect">
            <a:avLst/>
          </a:prstGeom>
          <a:noFill/>
          <a:ln/>
        </p:spPr>
        <p:txBody>
          <a:bodyPr wrap="square" lIns="0" tIns="0" rIns="0" bIns="0" rtlCol="0" anchor="ctr"/>
          <a:lstStyle/>
          <a:p>
            <a:pPr algn="ctr" indent="0" marL="0">
              <a:buNone/>
            </a:pPr>
            <a:r>
              <a:rPr lang="en-US" sz="2900" b="1" dirty="0">
                <a:solidFill>
                  <a:srgbClr val="17324D"/>
                </a:solidFill>
                <a:latin typeface="Aptos Display" pitchFamily="34" charset="0"/>
                <a:ea typeface="Aptos Display" pitchFamily="34" charset="-122"/>
                <a:cs typeface="Aptos Display" pitchFamily="34" charset="-120"/>
              </a:rPr>
              <a:t>SÉLECTIONNER</a:t>
            </a:r>
            <a:endParaRPr lang="en-US" sz="2900" dirty="0"/>
          </a:p>
        </p:txBody>
      </p:sp>
      <p:sp>
        <p:nvSpPr>
          <p:cNvPr id="9" name="Text 7"/>
          <p:cNvSpPr/>
          <p:nvPr/>
        </p:nvSpPr>
        <p:spPr>
          <a:xfrm>
            <a:off x="7635240" y="1591056"/>
            <a:ext cx="2468880" cy="685800"/>
          </a:xfrm>
          <a:prstGeom prst="rect">
            <a:avLst/>
          </a:prstGeom>
          <a:noFill/>
          <a:ln/>
        </p:spPr>
        <p:txBody>
          <a:bodyPr wrap="square" lIns="0" tIns="0" rIns="0" bIns="0" rtlCol="0" anchor="ctr"/>
          <a:lstStyle/>
          <a:p>
            <a:pPr algn="ctr" indent="0" marL="0">
              <a:buNone/>
            </a:pPr>
            <a:r>
              <a:rPr lang="en-US" sz="3100" b="1" dirty="0">
                <a:solidFill>
                  <a:srgbClr val="17324D"/>
                </a:solidFill>
                <a:latin typeface="Aptos Display" pitchFamily="34" charset="0"/>
                <a:ea typeface="Aptos Display" pitchFamily="34" charset="-122"/>
                <a:cs typeface="Aptos Display" pitchFamily="34" charset="-120"/>
              </a:rPr>
              <a:t>DIRIGER</a:t>
            </a:r>
            <a:endParaRPr lang="en-US" sz="3100" dirty="0"/>
          </a:p>
        </p:txBody>
      </p:sp>
      <p:sp>
        <p:nvSpPr>
          <p:cNvPr id="10" name="Text 8"/>
          <p:cNvSpPr/>
          <p:nvPr/>
        </p:nvSpPr>
        <p:spPr>
          <a:xfrm>
            <a:off x="822960" y="2304288"/>
            <a:ext cx="2286000" cy="365760"/>
          </a:xfrm>
          <a:prstGeom prst="rect">
            <a:avLst/>
          </a:prstGeom>
          <a:noFill/>
          <a:ln/>
        </p:spPr>
        <p:txBody>
          <a:bodyPr wrap="square" lIns="0" tIns="0" rIns="0" bIns="0" rtlCol="0" anchor="ctr"/>
          <a:lstStyle/>
          <a:p>
            <a:pPr algn="ctr" indent="0" marL="0">
              <a:buNone/>
            </a:pPr>
            <a:r>
              <a:rPr lang="en-US" sz="1800" dirty="0">
                <a:solidFill>
                  <a:srgbClr val="6B7178"/>
                </a:solidFill>
                <a:latin typeface="Aptos" pitchFamily="34" charset="0"/>
                <a:ea typeface="Aptos" pitchFamily="34" charset="-122"/>
                <a:cs typeface="Aptos" pitchFamily="34" charset="-120"/>
              </a:rPr>
              <a:t>l’instruction</a:t>
            </a:r>
            <a:endParaRPr lang="en-US" sz="1800" dirty="0"/>
          </a:p>
        </p:txBody>
      </p:sp>
      <p:sp>
        <p:nvSpPr>
          <p:cNvPr id="11" name="Text 9"/>
          <p:cNvSpPr/>
          <p:nvPr/>
        </p:nvSpPr>
        <p:spPr>
          <a:xfrm>
            <a:off x="3611880" y="2304288"/>
            <a:ext cx="3200400" cy="365760"/>
          </a:xfrm>
          <a:prstGeom prst="rect">
            <a:avLst/>
          </a:prstGeom>
          <a:noFill/>
          <a:ln/>
        </p:spPr>
        <p:txBody>
          <a:bodyPr wrap="square" lIns="0" tIns="0" rIns="0" bIns="0" rtlCol="0" anchor="ctr"/>
          <a:lstStyle/>
          <a:p>
            <a:pPr algn="ctr" indent="0" marL="0">
              <a:buNone/>
            </a:pPr>
            <a:r>
              <a:rPr lang="en-US" sz="1800" dirty="0">
                <a:solidFill>
                  <a:srgbClr val="6B7178"/>
                </a:solidFill>
                <a:latin typeface="Aptos" pitchFamily="34" charset="0"/>
                <a:ea typeface="Aptos" pitchFamily="34" charset="-122"/>
                <a:cs typeface="Aptos" pitchFamily="34" charset="-120"/>
              </a:rPr>
              <a:t>les registres / données</a:t>
            </a:r>
            <a:endParaRPr lang="en-US" sz="1800" dirty="0"/>
          </a:p>
        </p:txBody>
      </p:sp>
      <p:sp>
        <p:nvSpPr>
          <p:cNvPr id="12" name="Text 10"/>
          <p:cNvSpPr/>
          <p:nvPr/>
        </p:nvSpPr>
        <p:spPr>
          <a:xfrm>
            <a:off x="7635240" y="2304288"/>
            <a:ext cx="2468880" cy="365760"/>
          </a:xfrm>
          <a:prstGeom prst="rect">
            <a:avLst/>
          </a:prstGeom>
          <a:noFill/>
          <a:ln/>
        </p:spPr>
        <p:txBody>
          <a:bodyPr wrap="square" lIns="0" tIns="0" rIns="0" bIns="0" rtlCol="0" anchor="ctr"/>
          <a:lstStyle/>
          <a:p>
            <a:pPr algn="ctr" indent="0" marL="0">
              <a:buNone/>
            </a:pPr>
            <a:r>
              <a:rPr lang="en-US" sz="1800" dirty="0">
                <a:solidFill>
                  <a:srgbClr val="6B7178"/>
                </a:solidFill>
                <a:latin typeface="Aptos" pitchFamily="34" charset="0"/>
                <a:ea typeface="Aptos" pitchFamily="34" charset="-122"/>
                <a:cs typeface="Aptos" pitchFamily="34" charset="-120"/>
              </a:rPr>
              <a:t>les transferts</a:t>
            </a:r>
            <a:endParaRPr lang="en-US" sz="1800" dirty="0"/>
          </a:p>
        </p:txBody>
      </p:sp>
      <p:sp>
        <p:nvSpPr>
          <p:cNvPr id="13" name="Shape 11"/>
          <p:cNvSpPr/>
          <p:nvPr/>
        </p:nvSpPr>
        <p:spPr>
          <a:xfrm>
            <a:off x="3182112" y="1993392"/>
            <a:ext cx="457200" cy="0"/>
          </a:xfrm>
          <a:prstGeom prst="line">
            <a:avLst/>
          </a:prstGeom>
          <a:noFill/>
          <a:ln w="35560">
            <a:solidFill>
              <a:srgbClr val="B5792A"/>
            </a:solidFill>
            <a:prstDash val="solid"/>
            <a:headEnd type="none"/>
            <a:tailEnd type="triangle"/>
          </a:ln>
        </p:spPr>
      </p:sp>
      <p:sp>
        <p:nvSpPr>
          <p:cNvPr id="14" name="Shape 12"/>
          <p:cNvSpPr/>
          <p:nvPr/>
        </p:nvSpPr>
        <p:spPr>
          <a:xfrm>
            <a:off x="6903720" y="1993392"/>
            <a:ext cx="457200" cy="0"/>
          </a:xfrm>
          <a:prstGeom prst="line">
            <a:avLst/>
          </a:prstGeom>
          <a:noFill/>
          <a:ln w="35560">
            <a:solidFill>
              <a:srgbClr val="B5792A"/>
            </a:solidFill>
            <a:prstDash val="solid"/>
            <a:headEnd type="none"/>
            <a:tailEnd type="triangle"/>
          </a:ln>
        </p:spPr>
      </p:sp>
      <p:sp>
        <p:nvSpPr>
          <p:cNvPr id="15" name="Text 13"/>
          <p:cNvSpPr/>
          <p:nvPr/>
        </p:nvSpPr>
        <p:spPr>
          <a:xfrm>
            <a:off x="1828800" y="3675888"/>
            <a:ext cx="8458200" cy="100584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2200" b="1" dirty="0">
                <a:solidFill>
                  <a:srgbClr val="B5792A"/>
                </a:solidFill>
                <a:latin typeface="Aptos" pitchFamily="34" charset="0"/>
                <a:ea typeface="Aptos" pitchFamily="34" charset="-122"/>
                <a:cs typeface="Aptos" pitchFamily="34" charset="-120"/>
              </a:rPr>
              <a:t>QUESTION FLASH</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Est-ce l’unité de contrôle qui additionne directement les bits?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RÔLE 2</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Registres — garder ce qui sert maintenant</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10</a:t>
            </a:r>
            <a:endParaRPr lang="en-US" sz="820" dirty="0"/>
          </a:p>
        </p:txBody>
      </p:sp>
      <p:sp>
        <p:nvSpPr>
          <p:cNvPr id="7" name="Text 5"/>
          <p:cNvSpPr/>
          <p:nvPr/>
        </p:nvSpPr>
        <p:spPr>
          <a:xfrm>
            <a:off x="960120" y="1856232"/>
            <a:ext cx="2011680" cy="11887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4000" b="1" dirty="0">
                <a:solidFill>
                  <a:srgbClr val="FFFFFF"/>
                </a:solidFill>
                <a:latin typeface="Aptos Mono" pitchFamily="34" charset="0"/>
                <a:ea typeface="Aptos Mono" pitchFamily="34" charset="-122"/>
                <a:cs typeface="Aptos Mono" pitchFamily="34" charset="-120"/>
              </a:rPr>
              <a:t>R1</a:t>
            </a:r>
            <a:endParaRPr lang="en-US" sz="4000" dirty="0"/>
          </a:p>
        </p:txBody>
      </p:sp>
      <p:sp>
        <p:nvSpPr>
          <p:cNvPr id="8" name="Text 6"/>
          <p:cNvSpPr/>
          <p:nvPr/>
        </p:nvSpPr>
        <p:spPr>
          <a:xfrm>
            <a:off x="3675888" y="1856232"/>
            <a:ext cx="2011680" cy="11887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4000" b="1" dirty="0">
                <a:solidFill>
                  <a:srgbClr val="FFFFFF"/>
                </a:solidFill>
                <a:latin typeface="Aptos Mono" pitchFamily="34" charset="0"/>
                <a:ea typeface="Aptos Mono" pitchFamily="34" charset="-122"/>
                <a:cs typeface="Aptos Mono" pitchFamily="34" charset="-120"/>
              </a:rPr>
              <a:t>R2</a:t>
            </a:r>
            <a:endParaRPr lang="en-US" sz="4000" dirty="0"/>
          </a:p>
        </p:txBody>
      </p:sp>
      <p:sp>
        <p:nvSpPr>
          <p:cNvPr id="9" name="Text 7"/>
          <p:cNvSpPr/>
          <p:nvPr/>
        </p:nvSpPr>
        <p:spPr>
          <a:xfrm>
            <a:off x="6391656" y="1856232"/>
            <a:ext cx="2011680" cy="11887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4000" b="1" dirty="0">
                <a:solidFill>
                  <a:srgbClr val="FFFFFF"/>
                </a:solidFill>
                <a:latin typeface="Aptos Mono" pitchFamily="34" charset="0"/>
                <a:ea typeface="Aptos Mono" pitchFamily="34" charset="-122"/>
                <a:cs typeface="Aptos Mono" pitchFamily="34" charset="-120"/>
              </a:rPr>
              <a:t>R3</a:t>
            </a:r>
            <a:endParaRPr lang="en-US" sz="4000" dirty="0"/>
          </a:p>
        </p:txBody>
      </p:sp>
      <p:sp>
        <p:nvSpPr>
          <p:cNvPr id="10" name="Text 8"/>
          <p:cNvSpPr/>
          <p:nvPr/>
        </p:nvSpPr>
        <p:spPr>
          <a:xfrm>
            <a:off x="8851392" y="1856232"/>
            <a:ext cx="1097280" cy="1188720"/>
          </a:xfrm>
          <a:prstGeom prst="rect">
            <a:avLst/>
          </a:prstGeom>
          <a:noFill/>
          <a:ln/>
        </p:spPr>
        <p:txBody>
          <a:bodyPr wrap="square" lIns="0" tIns="0" rIns="0" bIns="0" rtlCol="0" anchor="ctr"/>
          <a:lstStyle/>
          <a:p>
            <a:pPr algn="ctr" indent="0" marL="0">
              <a:buNone/>
            </a:pPr>
            <a:r>
              <a:rPr lang="en-US" sz="4000" b="1" dirty="0">
                <a:solidFill>
                  <a:srgbClr val="6B7178"/>
                </a:solidFill>
                <a:latin typeface="Aptos Display" pitchFamily="34" charset="0"/>
                <a:ea typeface="Aptos Display" pitchFamily="34" charset="-122"/>
                <a:cs typeface="Aptos Display" pitchFamily="34" charset="-120"/>
              </a:rPr>
              <a:t>…</a:t>
            </a:r>
            <a:endParaRPr lang="en-US" sz="4000" dirty="0"/>
          </a:p>
        </p:txBody>
      </p:sp>
      <p:sp>
        <p:nvSpPr>
          <p:cNvPr id="11" name="Text 9"/>
          <p:cNvSpPr/>
          <p:nvPr/>
        </p:nvSpPr>
        <p:spPr>
          <a:xfrm>
            <a:off x="960120" y="3675888"/>
            <a:ext cx="9784080" cy="960120"/>
          </a:xfrm>
          <a:prstGeom prst="rect">
            <a:avLst/>
          </a:prstGeom>
          <a:solidFill>
            <a:srgbClr val="EEE9E1"/>
          </a:solidFill>
          <a:ln>
            <a:solidFill>
              <a:srgbClr val="CEC9BF"/>
            </a:solidFill>
          </a:ln>
        </p:spPr>
        <p:txBody>
          <a:bodyPr wrap="square" lIns="2286" tIns="2286" rIns="2286" bIns="2286" rtlCol="0" anchor="ctr"/>
          <a:lstStyle/>
          <a:p>
            <a:pPr algn="ctr" indent="0" marL="0">
              <a:buNone/>
            </a:pPr>
            <a:r>
              <a:rPr lang="en-US" sz="2200" dirty="0">
                <a:solidFill>
                  <a:srgbClr val="222831"/>
                </a:solidFill>
                <a:latin typeface="Aptos" pitchFamily="34" charset="0"/>
                <a:ea typeface="Aptos" pitchFamily="34" charset="-122"/>
                <a:cs typeface="Aptos" pitchFamily="34" charset="-120"/>
              </a:rPr>
              <a:t>Un registre peut temporairement conserver un opérande, un résultat, une adresse, une instruction ou un état de contrôle.</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RÔLE 3</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UAL — transformer les bits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11</a:t>
            </a:r>
            <a:endParaRPr lang="en-US" sz="820" dirty="0"/>
          </a:p>
        </p:txBody>
      </p:sp>
      <p:sp>
        <p:nvSpPr>
          <p:cNvPr id="7" name="Text 5"/>
          <p:cNvSpPr/>
          <p:nvPr/>
        </p:nvSpPr>
        <p:spPr>
          <a:xfrm>
            <a:off x="749808" y="1691640"/>
            <a:ext cx="2487168" cy="169164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1800" b="1" dirty="0">
                <a:solidFill>
                  <a:srgbClr val="2D6F6B"/>
                </a:solidFill>
                <a:latin typeface="Aptos" pitchFamily="34" charset="0"/>
                <a:ea typeface="Aptos" pitchFamily="34" charset="-122"/>
                <a:cs typeface="Aptos" pitchFamily="34" charset="-120"/>
              </a:rPr>
              <a:t>ARITHMÉTIQUE</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addition • soustraction</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incrémentation</a:t>
            </a:r>
            <a:endParaRPr lang="en-US" sz="1800" dirty="0"/>
          </a:p>
        </p:txBody>
      </p:sp>
      <p:sp>
        <p:nvSpPr>
          <p:cNvPr id="8" name="Text 6"/>
          <p:cNvSpPr/>
          <p:nvPr/>
        </p:nvSpPr>
        <p:spPr>
          <a:xfrm>
            <a:off x="3566160" y="1691640"/>
            <a:ext cx="2487168" cy="169164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LOGIQUE</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ET • OU • XOR • NON</a:t>
            </a:r>
            <a:endParaRPr lang="en-US" sz="1800" dirty="0"/>
          </a:p>
        </p:txBody>
      </p:sp>
      <p:sp>
        <p:nvSpPr>
          <p:cNvPr id="9" name="Text 7"/>
          <p:cNvSpPr/>
          <p:nvPr/>
        </p:nvSpPr>
        <p:spPr>
          <a:xfrm>
            <a:off x="6382512" y="1691640"/>
            <a:ext cx="2487168" cy="169164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COMPARAISON</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égal? • plus petit?</a:t>
            </a:r>
            <a:endParaRPr lang="en-US" sz="1800" dirty="0"/>
          </a:p>
        </p:txBody>
      </p:sp>
      <p:sp>
        <p:nvSpPr>
          <p:cNvPr id="10" name="Text 8"/>
          <p:cNvSpPr/>
          <p:nvPr/>
        </p:nvSpPr>
        <p:spPr>
          <a:xfrm>
            <a:off x="9198864" y="1691640"/>
            <a:ext cx="2487168" cy="169164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DÉCALAGE</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bits vers la gauche / droite</a:t>
            </a:r>
            <a:endParaRPr lang="en-US" sz="1800" dirty="0"/>
          </a:p>
        </p:txBody>
      </p:sp>
      <p:sp>
        <p:nvSpPr>
          <p:cNvPr id="11" name="Text 9"/>
          <p:cNvSpPr/>
          <p:nvPr/>
        </p:nvSpPr>
        <p:spPr>
          <a:xfrm>
            <a:off x="1188720" y="4087368"/>
            <a:ext cx="9784080" cy="530352"/>
          </a:xfrm>
          <a:prstGeom prst="rect">
            <a:avLst/>
          </a:prstGeom>
          <a:noFill/>
          <a:ln/>
        </p:spPr>
        <p:txBody>
          <a:bodyPr wrap="square" lIns="0" tIns="0" rIns="0" bIns="0" rtlCol="0" anchor="ctr"/>
          <a:lstStyle/>
          <a:p>
            <a:pPr algn="ctr" indent="0" marL="0">
              <a:buNone/>
            </a:pPr>
            <a:r>
              <a:rPr lang="en-US" sz="2100" b="1" dirty="0">
                <a:solidFill>
                  <a:srgbClr val="2D6F6B"/>
                </a:solidFill>
                <a:latin typeface="Aptos" pitchFamily="34" charset="0"/>
                <a:ea typeface="Aptos" pitchFamily="34" charset="-122"/>
                <a:cs typeface="Aptos" pitchFamily="34" charset="-120"/>
              </a:rPr>
              <a:t>UAL = unité arithmétique et logique  •  ALU = arithmetic logic unit</a:t>
            </a:r>
            <a:endParaRPr lang="en-US" sz="2100" dirty="0"/>
          </a:p>
        </p:txBody>
      </p:sp>
      <p:sp>
        <p:nvSpPr>
          <p:cNvPr id="12" name="Text 10"/>
          <p:cNvSpPr/>
          <p:nvPr/>
        </p:nvSpPr>
        <p:spPr>
          <a:xfrm>
            <a:off x="1417320" y="4828032"/>
            <a:ext cx="9326880" cy="420624"/>
          </a:xfrm>
          <a:prstGeom prst="rect">
            <a:avLst/>
          </a:prstGeom>
          <a:noFill/>
          <a:ln/>
        </p:spPr>
        <p:txBody>
          <a:bodyPr wrap="square" lIns="0" tIns="0" rIns="0" bIns="0" rtlCol="0" anchor="ctr"/>
          <a:lstStyle/>
          <a:p>
            <a:pPr algn="ctr" indent="0" marL="0">
              <a:buNone/>
            </a:pPr>
            <a:r>
              <a:rPr lang="en-US" sz="1700" i="1" dirty="0">
                <a:solidFill>
                  <a:srgbClr val="6B7178"/>
                </a:solidFill>
                <a:latin typeface="Aptos" pitchFamily="34" charset="0"/>
                <a:ea typeface="Aptos" pitchFamily="34" charset="-122"/>
                <a:cs typeface="Aptos" pitchFamily="34" charset="-120"/>
              </a:rPr>
              <a:t>Un processeur réel peut contenir plusieurs unités d’exécution spécialisées.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RÔLE 4</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Cache — garder l’utile près du travail</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12</a:t>
            </a:r>
            <a:endParaRPr lang="en-US" sz="820" dirty="0"/>
          </a:p>
        </p:txBody>
      </p:sp>
      <p:sp>
        <p:nvSpPr>
          <p:cNvPr id="7" name="Text 5"/>
          <p:cNvSpPr/>
          <p:nvPr/>
        </p:nvSpPr>
        <p:spPr>
          <a:xfrm>
            <a:off x="914400" y="1847088"/>
            <a:ext cx="1828800" cy="960120"/>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L1</a:t>
            </a:r>
            <a:endParaRPr lang="en-US" sz="3200" dirty="0"/>
          </a:p>
        </p:txBody>
      </p:sp>
      <p:sp>
        <p:nvSpPr>
          <p:cNvPr id="8" name="Text 6"/>
          <p:cNvSpPr/>
          <p:nvPr/>
        </p:nvSpPr>
        <p:spPr>
          <a:xfrm>
            <a:off x="3310128" y="1847088"/>
            <a:ext cx="2331720" cy="9601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L2</a:t>
            </a:r>
            <a:endParaRPr lang="en-US" sz="3200" dirty="0"/>
          </a:p>
        </p:txBody>
      </p:sp>
      <p:sp>
        <p:nvSpPr>
          <p:cNvPr id="9" name="Text 7"/>
          <p:cNvSpPr/>
          <p:nvPr/>
        </p:nvSpPr>
        <p:spPr>
          <a:xfrm>
            <a:off x="6199632" y="1847088"/>
            <a:ext cx="2788920" cy="960120"/>
          </a:xfrm>
          <a:prstGeom prst="rect">
            <a:avLst/>
          </a:prstGeom>
          <a:solidFill>
            <a:srgbClr val="F2E4CE"/>
          </a:solidFill>
          <a:ln>
            <a:solidFill>
              <a:srgbClr val="CEC9BF"/>
            </a:solidFill>
          </a:ln>
        </p:spPr>
        <p:txBody>
          <a:bodyPr wrap="square" lIns="0" tIns="0" rIns="0" bIns="0" rtlCol="0" anchor="ctr"/>
          <a:lstStyle/>
          <a:p>
            <a:pPr algn="ctr" indent="0" marL="0">
              <a:buNone/>
            </a:pPr>
            <a:r>
              <a:rPr lang="en-US" sz="3200" b="1" dirty="0">
                <a:solidFill>
                  <a:srgbClr val="222831"/>
                </a:solidFill>
                <a:latin typeface="Aptos Display" pitchFamily="34" charset="0"/>
                <a:ea typeface="Aptos Display" pitchFamily="34" charset="-122"/>
                <a:cs typeface="Aptos Display" pitchFamily="34" charset="-120"/>
              </a:rPr>
              <a:t>L3</a:t>
            </a:r>
            <a:endParaRPr lang="en-US" sz="3200" dirty="0"/>
          </a:p>
        </p:txBody>
      </p:sp>
      <p:sp>
        <p:nvSpPr>
          <p:cNvPr id="10" name="Text 8"/>
          <p:cNvSpPr/>
          <p:nvPr/>
        </p:nvSpPr>
        <p:spPr>
          <a:xfrm>
            <a:off x="9555480" y="1847088"/>
            <a:ext cx="1691640" cy="96012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3200" b="1" dirty="0">
                <a:solidFill>
                  <a:srgbClr val="222831"/>
                </a:solidFill>
                <a:latin typeface="Aptos Display" pitchFamily="34" charset="0"/>
                <a:ea typeface="Aptos Display" pitchFamily="34" charset="-122"/>
                <a:cs typeface="Aptos Display" pitchFamily="34" charset="-120"/>
              </a:rPr>
              <a:t>RAM</a:t>
            </a:r>
            <a:endParaRPr lang="en-US" sz="3200" dirty="0"/>
          </a:p>
        </p:txBody>
      </p:sp>
      <p:sp>
        <p:nvSpPr>
          <p:cNvPr id="11" name="Shape 9"/>
          <p:cNvSpPr/>
          <p:nvPr/>
        </p:nvSpPr>
        <p:spPr>
          <a:xfrm>
            <a:off x="2807208" y="2331720"/>
            <a:ext cx="384048" cy="0"/>
          </a:xfrm>
          <a:prstGeom prst="line">
            <a:avLst/>
          </a:prstGeom>
          <a:noFill/>
          <a:ln w="25400">
            <a:solidFill>
              <a:srgbClr val="6B7178"/>
            </a:solidFill>
            <a:prstDash val="solid"/>
            <a:headEnd type="none"/>
            <a:tailEnd type="triangle"/>
          </a:ln>
        </p:spPr>
      </p:sp>
      <p:sp>
        <p:nvSpPr>
          <p:cNvPr id="12" name="Shape 10"/>
          <p:cNvSpPr/>
          <p:nvPr/>
        </p:nvSpPr>
        <p:spPr>
          <a:xfrm>
            <a:off x="5705856" y="2331720"/>
            <a:ext cx="384048" cy="0"/>
          </a:xfrm>
          <a:prstGeom prst="line">
            <a:avLst/>
          </a:prstGeom>
          <a:noFill/>
          <a:ln w="25400">
            <a:solidFill>
              <a:srgbClr val="6B7178"/>
            </a:solidFill>
            <a:prstDash val="solid"/>
            <a:headEnd type="none"/>
            <a:tailEnd type="triangle"/>
          </a:ln>
        </p:spPr>
      </p:sp>
      <p:sp>
        <p:nvSpPr>
          <p:cNvPr id="13" name="Shape 11"/>
          <p:cNvSpPr/>
          <p:nvPr/>
        </p:nvSpPr>
        <p:spPr>
          <a:xfrm>
            <a:off x="9034272" y="2331720"/>
            <a:ext cx="384048" cy="0"/>
          </a:xfrm>
          <a:prstGeom prst="line">
            <a:avLst/>
          </a:prstGeom>
          <a:noFill/>
          <a:ln w="25400">
            <a:solidFill>
              <a:srgbClr val="6B7178"/>
            </a:solidFill>
            <a:prstDash val="solid"/>
            <a:headEnd type="none"/>
            <a:tailEnd type="triangle"/>
          </a:ln>
        </p:spPr>
      </p:sp>
      <p:sp>
        <p:nvSpPr>
          <p:cNvPr id="14" name="Text 12"/>
          <p:cNvSpPr/>
          <p:nvPr/>
        </p:nvSpPr>
        <p:spPr>
          <a:xfrm>
            <a:off x="896112" y="3081528"/>
            <a:ext cx="3108960" cy="320040"/>
          </a:xfrm>
          <a:prstGeom prst="rect">
            <a:avLst/>
          </a:prstGeom>
          <a:noFill/>
          <a:ln/>
        </p:spPr>
        <p:txBody>
          <a:bodyPr wrap="square" lIns="0" tIns="0" rIns="0" bIns="0" rtlCol="0" anchor="ctr"/>
          <a:lstStyle/>
          <a:p>
            <a:pPr indent="0" marL="0">
              <a:buNone/>
            </a:pPr>
            <a:r>
              <a:rPr lang="en-US" sz="1500" dirty="0">
                <a:solidFill>
                  <a:srgbClr val="2D6F6B"/>
                </a:solidFill>
                <a:latin typeface="Aptos" pitchFamily="34" charset="0"/>
                <a:ea typeface="Aptos" pitchFamily="34" charset="-122"/>
                <a:cs typeface="Aptos" pitchFamily="34" charset="-120"/>
              </a:rPr>
              <a:t>plus proche / plus petite</a:t>
            </a:r>
            <a:endParaRPr lang="en-US" sz="1500" dirty="0"/>
          </a:p>
        </p:txBody>
      </p:sp>
      <p:sp>
        <p:nvSpPr>
          <p:cNvPr id="15" name="Text 13"/>
          <p:cNvSpPr/>
          <p:nvPr/>
        </p:nvSpPr>
        <p:spPr>
          <a:xfrm>
            <a:off x="7360920" y="3081528"/>
            <a:ext cx="3840480" cy="320040"/>
          </a:xfrm>
          <a:prstGeom prst="rect">
            <a:avLst/>
          </a:prstGeom>
          <a:noFill/>
          <a:ln/>
        </p:spPr>
        <p:txBody>
          <a:bodyPr wrap="square" lIns="0" tIns="0" rIns="0" bIns="0" rtlCol="0" anchor="ctr"/>
          <a:lstStyle/>
          <a:p>
            <a:pPr algn="r" indent="0" marL="0">
              <a:buNone/>
            </a:pPr>
            <a:r>
              <a:rPr lang="en-US" sz="1500" dirty="0">
                <a:solidFill>
                  <a:srgbClr val="6B7178"/>
                </a:solidFill>
                <a:latin typeface="Aptos" pitchFamily="34" charset="0"/>
                <a:ea typeface="Aptos" pitchFamily="34" charset="-122"/>
                <a:cs typeface="Aptos" pitchFamily="34" charset="-120"/>
              </a:rPr>
              <a:t>plus éloignée / généralement plus grande</a:t>
            </a:r>
            <a:endParaRPr lang="en-US" sz="1500" dirty="0"/>
          </a:p>
        </p:txBody>
      </p:sp>
      <p:sp>
        <p:nvSpPr>
          <p:cNvPr id="16" name="Text 14"/>
          <p:cNvSpPr/>
          <p:nvPr/>
        </p:nvSpPr>
        <p:spPr>
          <a:xfrm>
            <a:off x="1051560" y="3977640"/>
            <a:ext cx="10058400" cy="868680"/>
          </a:xfrm>
          <a:prstGeom prst="rect">
            <a:avLst/>
          </a:prstGeom>
          <a:solidFill>
            <a:srgbClr val="F5F1EA"/>
          </a:solidFill>
          <a:ln>
            <a:solidFill>
              <a:srgbClr val="CEC9BF"/>
            </a:solidFill>
          </a:ln>
        </p:spPr>
        <p:txBody>
          <a:bodyPr wrap="square" lIns="2159" tIns="2159" rIns="2159" bIns="2159" rtlCol="0" anchor="ctr"/>
          <a:lstStyle/>
          <a:p>
            <a:pPr algn="ctr" indent="0" marL="0">
              <a:buNone/>
            </a:pPr>
            <a:r>
              <a:rPr lang="en-US" sz="2100" dirty="0">
                <a:solidFill>
                  <a:srgbClr val="222831"/>
                </a:solidFill>
                <a:latin typeface="Aptos" pitchFamily="34" charset="0"/>
                <a:ea typeface="Aptos" pitchFamily="34" charset="-122"/>
                <a:cs typeface="Aptos" pitchFamily="34" charset="-120"/>
              </a:rPr>
              <a:t>La cache conserve des copies de données et d’instructions susceptibles d’être réutilisées bientôt.</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VÉRIFICATION FLASH</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Qui fait quoi?</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13</a:t>
            </a:r>
            <a:endParaRPr lang="en-US" sz="820" dirty="0"/>
          </a:p>
        </p:txBody>
      </p:sp>
      <p:sp>
        <p:nvSpPr>
          <p:cNvPr id="7" name="Text 5"/>
          <p:cNvSpPr/>
          <p:nvPr/>
        </p:nvSpPr>
        <p:spPr>
          <a:xfrm>
            <a:off x="914400" y="1517904"/>
            <a:ext cx="4572000" cy="621792"/>
          </a:xfrm>
          <a:prstGeom prst="rect">
            <a:avLst/>
          </a:prstGeom>
          <a:solidFill>
            <a:srgbClr val="EEE9E1"/>
          </a:solidFill>
          <a:ln>
            <a:solidFill>
              <a:srgbClr val="CEC9BF"/>
            </a:solidFill>
          </a:ln>
        </p:spPr>
        <p:txBody>
          <a:bodyPr wrap="square" lIns="1778" tIns="1778" rIns="1778" bIns="1778" rtlCol="0" anchor="ctr"/>
          <a:lstStyle/>
          <a:p>
            <a:pPr indent="0" marL="0">
              <a:buNone/>
            </a:pPr>
            <a:r>
              <a:rPr lang="en-US" sz="2200" b="1" dirty="0">
                <a:solidFill>
                  <a:srgbClr val="222831"/>
                </a:solidFill>
                <a:latin typeface="Aptos" pitchFamily="34" charset="0"/>
                <a:ea typeface="Aptos" pitchFamily="34" charset="-122"/>
                <a:cs typeface="Aptos" pitchFamily="34" charset="-120"/>
              </a:rPr>
              <a:t>Décoder ADD</a:t>
            </a:r>
            <a:endParaRPr lang="en-US" sz="2200" dirty="0"/>
          </a:p>
        </p:txBody>
      </p:sp>
      <p:sp>
        <p:nvSpPr>
          <p:cNvPr id="8" name="Text 6"/>
          <p:cNvSpPr/>
          <p:nvPr/>
        </p:nvSpPr>
        <p:spPr>
          <a:xfrm>
            <a:off x="6492240" y="1517904"/>
            <a:ext cx="4480560" cy="621792"/>
          </a:xfrm>
          <a:prstGeom prst="rect">
            <a:avLst/>
          </a:prstGeom>
          <a:solidFill>
            <a:srgbClr val="FFFFFF"/>
          </a:solidFill>
          <a:ln>
            <a:solidFill>
              <a:srgbClr val="CEC9BF"/>
            </a:solidFill>
          </a:ln>
        </p:spPr>
        <p:txBody>
          <a:bodyPr wrap="square" lIns="1778" tIns="1778" rIns="1778" bIns="1778" rtlCol="0" anchor="ctr"/>
          <a:lstStyle/>
          <a:p>
            <a:pPr indent="0" marL="0">
              <a:buNone/>
            </a:pPr>
            <a:r>
              <a:rPr lang="en-US" sz="2200" b="1" dirty="0">
                <a:solidFill>
                  <a:srgbClr val="17324D"/>
                </a:solidFill>
                <a:latin typeface="Aptos" pitchFamily="34" charset="0"/>
                <a:ea typeface="Aptos" pitchFamily="34" charset="-122"/>
                <a:cs typeface="Aptos" pitchFamily="34" charset="-120"/>
              </a:rPr>
              <a:t>unité de contrôle</a:t>
            </a:r>
            <a:endParaRPr lang="en-US" sz="2200" dirty="0"/>
          </a:p>
        </p:txBody>
      </p:sp>
      <p:sp>
        <p:nvSpPr>
          <p:cNvPr id="9" name="Shape 7"/>
          <p:cNvSpPr/>
          <p:nvPr/>
        </p:nvSpPr>
        <p:spPr>
          <a:xfrm>
            <a:off x="5669280" y="1828800"/>
            <a:ext cx="594360" cy="0"/>
          </a:xfrm>
          <a:prstGeom prst="line">
            <a:avLst/>
          </a:prstGeom>
          <a:noFill/>
          <a:ln w="27940">
            <a:solidFill>
              <a:srgbClr val="B5792A"/>
            </a:solidFill>
            <a:prstDash val="solid"/>
            <a:headEnd type="none"/>
            <a:tailEnd type="triangle"/>
          </a:ln>
        </p:spPr>
      </p:sp>
      <p:sp>
        <p:nvSpPr>
          <p:cNvPr id="10" name="Text 8"/>
          <p:cNvSpPr/>
          <p:nvPr/>
        </p:nvSpPr>
        <p:spPr>
          <a:xfrm>
            <a:off x="914400" y="2459736"/>
            <a:ext cx="4572000" cy="621792"/>
          </a:xfrm>
          <a:prstGeom prst="rect">
            <a:avLst/>
          </a:prstGeom>
          <a:solidFill>
            <a:srgbClr val="EEE9E1"/>
          </a:solidFill>
          <a:ln>
            <a:solidFill>
              <a:srgbClr val="CEC9BF"/>
            </a:solidFill>
          </a:ln>
        </p:spPr>
        <p:txBody>
          <a:bodyPr wrap="square" lIns="1778" tIns="1778" rIns="1778" bIns="1778" rtlCol="0" anchor="ctr"/>
          <a:lstStyle/>
          <a:p>
            <a:pPr indent="0" marL="0">
              <a:buNone/>
            </a:pPr>
            <a:r>
              <a:rPr lang="en-US" sz="2200" b="1" dirty="0">
                <a:solidFill>
                  <a:srgbClr val="222831"/>
                </a:solidFill>
                <a:latin typeface="Aptos" pitchFamily="34" charset="0"/>
                <a:ea typeface="Aptos" pitchFamily="34" charset="-122"/>
                <a:cs typeface="Aptos" pitchFamily="34" charset="-120"/>
              </a:rPr>
              <a:t>Conserver un opérande</a:t>
            </a:r>
            <a:endParaRPr lang="en-US" sz="2200" dirty="0"/>
          </a:p>
        </p:txBody>
      </p:sp>
      <p:sp>
        <p:nvSpPr>
          <p:cNvPr id="11" name="Text 9"/>
          <p:cNvSpPr/>
          <p:nvPr/>
        </p:nvSpPr>
        <p:spPr>
          <a:xfrm>
            <a:off x="6492240" y="2459736"/>
            <a:ext cx="4480560" cy="621792"/>
          </a:xfrm>
          <a:prstGeom prst="rect">
            <a:avLst/>
          </a:prstGeom>
          <a:solidFill>
            <a:srgbClr val="FFFFFF"/>
          </a:solidFill>
          <a:ln>
            <a:solidFill>
              <a:srgbClr val="CEC9BF"/>
            </a:solidFill>
          </a:ln>
        </p:spPr>
        <p:txBody>
          <a:bodyPr wrap="square" lIns="1778" tIns="1778" rIns="1778" bIns="1778" rtlCol="0" anchor="ctr"/>
          <a:lstStyle/>
          <a:p>
            <a:pPr indent="0" marL="0">
              <a:buNone/>
            </a:pPr>
            <a:r>
              <a:rPr lang="en-US" sz="2200" b="1" dirty="0">
                <a:solidFill>
                  <a:srgbClr val="17324D"/>
                </a:solidFill>
                <a:latin typeface="Aptos" pitchFamily="34" charset="0"/>
                <a:ea typeface="Aptos" pitchFamily="34" charset="-122"/>
                <a:cs typeface="Aptos" pitchFamily="34" charset="-120"/>
              </a:rPr>
              <a:t>registre</a:t>
            </a:r>
            <a:endParaRPr lang="en-US" sz="2200" dirty="0"/>
          </a:p>
        </p:txBody>
      </p:sp>
      <p:sp>
        <p:nvSpPr>
          <p:cNvPr id="12" name="Shape 10"/>
          <p:cNvSpPr/>
          <p:nvPr/>
        </p:nvSpPr>
        <p:spPr>
          <a:xfrm>
            <a:off x="5669280" y="2770632"/>
            <a:ext cx="594360" cy="0"/>
          </a:xfrm>
          <a:prstGeom prst="line">
            <a:avLst/>
          </a:prstGeom>
          <a:noFill/>
          <a:ln w="27940">
            <a:solidFill>
              <a:srgbClr val="B5792A"/>
            </a:solidFill>
            <a:prstDash val="solid"/>
            <a:headEnd type="none"/>
            <a:tailEnd type="triangle"/>
          </a:ln>
        </p:spPr>
      </p:sp>
      <p:sp>
        <p:nvSpPr>
          <p:cNvPr id="13" name="Text 11"/>
          <p:cNvSpPr/>
          <p:nvPr/>
        </p:nvSpPr>
        <p:spPr>
          <a:xfrm>
            <a:off x="914400" y="3401568"/>
            <a:ext cx="4572000" cy="621792"/>
          </a:xfrm>
          <a:prstGeom prst="rect">
            <a:avLst/>
          </a:prstGeom>
          <a:solidFill>
            <a:srgbClr val="EEE9E1"/>
          </a:solidFill>
          <a:ln>
            <a:solidFill>
              <a:srgbClr val="CEC9BF"/>
            </a:solidFill>
          </a:ln>
        </p:spPr>
        <p:txBody>
          <a:bodyPr wrap="square" lIns="1778" tIns="1778" rIns="1778" bIns="1778" rtlCol="0" anchor="ctr"/>
          <a:lstStyle/>
          <a:p>
            <a:pPr indent="0" marL="0">
              <a:buNone/>
            </a:pPr>
            <a:r>
              <a:rPr lang="en-US" sz="2200" b="1" dirty="0">
                <a:solidFill>
                  <a:srgbClr val="222831"/>
                </a:solidFill>
                <a:latin typeface="Aptos" pitchFamily="34" charset="0"/>
                <a:ea typeface="Aptos" pitchFamily="34" charset="-122"/>
                <a:cs typeface="Aptos" pitchFamily="34" charset="-120"/>
              </a:rPr>
              <a:t>Produire la somme</a:t>
            </a:r>
            <a:endParaRPr lang="en-US" sz="2200" dirty="0"/>
          </a:p>
        </p:txBody>
      </p:sp>
      <p:sp>
        <p:nvSpPr>
          <p:cNvPr id="14" name="Text 12"/>
          <p:cNvSpPr/>
          <p:nvPr/>
        </p:nvSpPr>
        <p:spPr>
          <a:xfrm>
            <a:off x="6492240" y="3401568"/>
            <a:ext cx="4480560" cy="621792"/>
          </a:xfrm>
          <a:prstGeom prst="rect">
            <a:avLst/>
          </a:prstGeom>
          <a:solidFill>
            <a:srgbClr val="FFFFFF"/>
          </a:solidFill>
          <a:ln>
            <a:solidFill>
              <a:srgbClr val="CEC9BF"/>
            </a:solidFill>
          </a:ln>
        </p:spPr>
        <p:txBody>
          <a:bodyPr wrap="square" lIns="1778" tIns="1778" rIns="1778" bIns="1778" rtlCol="0" anchor="ctr"/>
          <a:lstStyle/>
          <a:p>
            <a:pPr indent="0" marL="0">
              <a:buNone/>
            </a:pPr>
            <a:r>
              <a:rPr lang="en-US" sz="2200" b="1" dirty="0">
                <a:solidFill>
                  <a:srgbClr val="2D6F6B"/>
                </a:solidFill>
                <a:latin typeface="Aptos" pitchFamily="34" charset="0"/>
                <a:ea typeface="Aptos" pitchFamily="34" charset="-122"/>
                <a:cs typeface="Aptos" pitchFamily="34" charset="-120"/>
              </a:rPr>
              <a:t>UAL</a:t>
            </a:r>
            <a:endParaRPr lang="en-US" sz="2200" dirty="0"/>
          </a:p>
        </p:txBody>
      </p:sp>
      <p:sp>
        <p:nvSpPr>
          <p:cNvPr id="15" name="Shape 13"/>
          <p:cNvSpPr/>
          <p:nvPr/>
        </p:nvSpPr>
        <p:spPr>
          <a:xfrm>
            <a:off x="5669280" y="3712464"/>
            <a:ext cx="594360" cy="0"/>
          </a:xfrm>
          <a:prstGeom prst="line">
            <a:avLst/>
          </a:prstGeom>
          <a:noFill/>
          <a:ln w="27940">
            <a:solidFill>
              <a:srgbClr val="B5792A"/>
            </a:solidFill>
            <a:prstDash val="solid"/>
            <a:headEnd type="none"/>
            <a:tailEnd type="triangle"/>
          </a:ln>
        </p:spPr>
      </p:sp>
      <p:sp>
        <p:nvSpPr>
          <p:cNvPr id="16" name="Text 14"/>
          <p:cNvSpPr/>
          <p:nvPr/>
        </p:nvSpPr>
        <p:spPr>
          <a:xfrm>
            <a:off x="914400" y="4343400"/>
            <a:ext cx="4572000" cy="621792"/>
          </a:xfrm>
          <a:prstGeom prst="rect">
            <a:avLst/>
          </a:prstGeom>
          <a:solidFill>
            <a:srgbClr val="EEE9E1"/>
          </a:solidFill>
          <a:ln>
            <a:solidFill>
              <a:srgbClr val="CEC9BF"/>
            </a:solidFill>
          </a:ln>
        </p:spPr>
        <p:txBody>
          <a:bodyPr wrap="square" lIns="1778" tIns="1778" rIns="1778" bIns="1778" rtlCol="0" anchor="ctr"/>
          <a:lstStyle/>
          <a:p>
            <a:pPr indent="0" marL="0">
              <a:buNone/>
            </a:pPr>
            <a:r>
              <a:rPr lang="en-US" sz="2200" b="1" dirty="0">
                <a:solidFill>
                  <a:srgbClr val="222831"/>
                </a:solidFill>
                <a:latin typeface="Aptos" pitchFamily="34" charset="0"/>
                <a:ea typeface="Aptos" pitchFamily="34" charset="-122"/>
                <a:cs typeface="Aptos" pitchFamily="34" charset="-120"/>
              </a:rPr>
              <a:t>Garder une copie récente</a:t>
            </a:r>
            <a:endParaRPr lang="en-US" sz="2200" dirty="0"/>
          </a:p>
        </p:txBody>
      </p:sp>
      <p:sp>
        <p:nvSpPr>
          <p:cNvPr id="17" name="Text 15"/>
          <p:cNvSpPr/>
          <p:nvPr/>
        </p:nvSpPr>
        <p:spPr>
          <a:xfrm>
            <a:off x="6492240" y="4343400"/>
            <a:ext cx="4480560" cy="621792"/>
          </a:xfrm>
          <a:prstGeom prst="rect">
            <a:avLst/>
          </a:prstGeom>
          <a:solidFill>
            <a:srgbClr val="FFFFFF"/>
          </a:solidFill>
          <a:ln>
            <a:solidFill>
              <a:srgbClr val="CEC9BF"/>
            </a:solidFill>
          </a:ln>
        </p:spPr>
        <p:txBody>
          <a:bodyPr wrap="square" lIns="1778" tIns="1778" rIns="1778" bIns="1778" rtlCol="0" anchor="ctr"/>
          <a:lstStyle/>
          <a:p>
            <a:pPr indent="0" marL="0">
              <a:buNone/>
            </a:pPr>
            <a:r>
              <a:rPr lang="en-US" sz="2200" b="1" dirty="0">
                <a:solidFill>
                  <a:srgbClr val="17324D"/>
                </a:solidFill>
                <a:latin typeface="Aptos" pitchFamily="34" charset="0"/>
                <a:ea typeface="Aptos" pitchFamily="34" charset="-122"/>
                <a:cs typeface="Aptos" pitchFamily="34" charset="-120"/>
              </a:rPr>
              <a:t>cache</a:t>
            </a:r>
            <a:endParaRPr lang="en-US" sz="2200" dirty="0"/>
          </a:p>
        </p:txBody>
      </p:sp>
      <p:sp>
        <p:nvSpPr>
          <p:cNvPr id="18" name="Shape 16"/>
          <p:cNvSpPr/>
          <p:nvPr/>
        </p:nvSpPr>
        <p:spPr>
          <a:xfrm>
            <a:off x="5669280" y="4654296"/>
            <a:ext cx="594360" cy="0"/>
          </a:xfrm>
          <a:prstGeom prst="line">
            <a:avLst/>
          </a:prstGeom>
          <a:noFill/>
          <a:ln w="27940">
            <a:solidFill>
              <a:srgbClr val="B5792A"/>
            </a:solidFill>
            <a:prstDash val="solid"/>
            <a:headEnd type="none"/>
            <a:tailEnd type="triangle"/>
          </a:ln>
        </p:spPr>
      </p:sp>
      <p:sp>
        <p:nvSpPr>
          <p:cNvPr id="19" name="Text 17"/>
          <p:cNvSpPr/>
          <p:nvPr/>
        </p:nvSpPr>
        <p:spPr>
          <a:xfrm>
            <a:off x="1371600" y="5468112"/>
            <a:ext cx="9509760" cy="310896"/>
          </a:xfrm>
          <a:prstGeom prst="rect">
            <a:avLst/>
          </a:prstGeom>
          <a:noFill/>
          <a:ln/>
        </p:spPr>
        <p:txBody>
          <a:bodyPr wrap="square" lIns="0" tIns="0" rIns="0" bIns="0" rtlCol="0" anchor="ctr"/>
          <a:lstStyle/>
          <a:p>
            <a:pPr algn="ctr" indent="0" marL="0">
              <a:buNone/>
            </a:pPr>
            <a:r>
              <a:rPr lang="en-US" sz="1500" i="1" dirty="0">
                <a:solidFill>
                  <a:srgbClr val="6B7178"/>
                </a:solidFill>
                <a:latin typeface="Aptos" pitchFamily="34" charset="0"/>
                <a:ea typeface="Aptos" pitchFamily="34" charset="-122"/>
                <a:cs typeface="Aptos" pitchFamily="34" charset="-120"/>
              </a:rPr>
              <a:t>Si les réponses viennent immédiatement, on avance immédiatement.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TRAJET D’UNE INSTRUCTION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Suivons ADD R1, R2, R3</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14</a:t>
            </a:r>
            <a:endParaRPr lang="en-US" sz="820" dirty="0"/>
          </a:p>
        </p:txBody>
      </p:sp>
      <p:sp>
        <p:nvSpPr>
          <p:cNvPr id="7" name="Text 5"/>
          <p:cNvSpPr/>
          <p:nvPr/>
        </p:nvSpPr>
        <p:spPr>
          <a:xfrm>
            <a:off x="822960" y="1920240"/>
            <a:ext cx="1554480" cy="91440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000" b="1" dirty="0">
                <a:solidFill>
                  <a:srgbClr val="FFFFFF"/>
                </a:solidFill>
                <a:latin typeface="Aptos Mono" pitchFamily="34" charset="0"/>
                <a:ea typeface="Aptos Mono" pitchFamily="34" charset="-122"/>
                <a:cs typeface="Aptos Mono" pitchFamily="34" charset="-120"/>
              </a:rPr>
              <a:t>R1</a:t>
            </a:r>
            <a:endParaRPr lang="en-US" sz="3000" dirty="0"/>
          </a:p>
        </p:txBody>
      </p:sp>
      <p:sp>
        <p:nvSpPr>
          <p:cNvPr id="8" name="Text 6"/>
          <p:cNvSpPr/>
          <p:nvPr/>
        </p:nvSpPr>
        <p:spPr>
          <a:xfrm>
            <a:off x="822960" y="3657600"/>
            <a:ext cx="1554480" cy="91440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000" b="1" dirty="0">
                <a:solidFill>
                  <a:srgbClr val="FFFFFF"/>
                </a:solidFill>
                <a:latin typeface="Aptos Mono" pitchFamily="34" charset="0"/>
                <a:ea typeface="Aptos Mono" pitchFamily="34" charset="-122"/>
                <a:cs typeface="Aptos Mono" pitchFamily="34" charset="-120"/>
              </a:rPr>
              <a:t>R2</a:t>
            </a:r>
            <a:endParaRPr lang="en-US" sz="3000" dirty="0"/>
          </a:p>
        </p:txBody>
      </p:sp>
      <p:sp>
        <p:nvSpPr>
          <p:cNvPr id="9" name="Text 7"/>
          <p:cNvSpPr/>
          <p:nvPr/>
        </p:nvSpPr>
        <p:spPr>
          <a:xfrm>
            <a:off x="4663440" y="2596896"/>
            <a:ext cx="2468880" cy="1234440"/>
          </a:xfrm>
          <a:prstGeom prst="rect">
            <a:avLst/>
          </a:prstGeom>
          <a:solidFill>
            <a:srgbClr val="2D6F6B"/>
          </a:solidFill>
          <a:ln>
            <a:solidFill>
              <a:srgbClr val="2D6F6B"/>
            </a:solidFill>
          </a:ln>
        </p:spPr>
        <p:txBody>
          <a:bodyPr wrap="square" lIns="1016" tIns="1016" rIns="1016" bIns="1016" rtlCol="0" anchor="ctr"/>
          <a:lstStyle/>
          <a:p>
            <a:pPr algn="ctr" indent="0" marL="0">
              <a:buNone/>
            </a:pPr>
            <a:r>
              <a:rPr lang="en-US" sz="2600" b="1" dirty="0">
                <a:solidFill>
                  <a:srgbClr val="FFFFFF"/>
                </a:solidFill>
                <a:latin typeface="Aptos" pitchFamily="34" charset="0"/>
                <a:ea typeface="Aptos" pitchFamily="34" charset="-122"/>
                <a:cs typeface="Aptos" pitchFamily="34" charset="-120"/>
              </a:rPr>
              <a:t>UAL</a:t>
            </a:r>
            <a:endParaRPr lang="en-US" sz="2600" dirty="0"/>
          </a:p>
          <a:p>
            <a:pPr algn="ctr" indent="0" marL="0">
              <a:buNone/>
            </a:pPr>
            <a:r>
              <a:rPr lang="en-US" sz="2600" b="1" dirty="0">
                <a:solidFill>
                  <a:srgbClr val="FFFFFF"/>
                </a:solidFill>
                <a:latin typeface="Aptos" pitchFamily="34" charset="0"/>
                <a:ea typeface="Aptos" pitchFamily="34" charset="-122"/>
                <a:cs typeface="Aptos" pitchFamily="34" charset="-120"/>
              </a:rPr>
              <a:t>ADD</a:t>
            </a:r>
            <a:endParaRPr lang="en-US" sz="2600" dirty="0"/>
          </a:p>
        </p:txBody>
      </p:sp>
      <p:sp>
        <p:nvSpPr>
          <p:cNvPr id="10" name="Text 8"/>
          <p:cNvSpPr/>
          <p:nvPr/>
        </p:nvSpPr>
        <p:spPr>
          <a:xfrm>
            <a:off x="9537192" y="2743200"/>
            <a:ext cx="1554480" cy="91440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000" b="1" dirty="0">
                <a:solidFill>
                  <a:srgbClr val="FFFFFF"/>
                </a:solidFill>
                <a:latin typeface="Aptos Mono" pitchFamily="34" charset="0"/>
                <a:ea typeface="Aptos Mono" pitchFamily="34" charset="-122"/>
                <a:cs typeface="Aptos Mono" pitchFamily="34" charset="-120"/>
              </a:rPr>
              <a:t>R3</a:t>
            </a:r>
            <a:endParaRPr lang="en-US" sz="3000" dirty="0"/>
          </a:p>
        </p:txBody>
      </p:sp>
      <p:sp>
        <p:nvSpPr>
          <p:cNvPr id="11" name="Shape 9"/>
          <p:cNvSpPr/>
          <p:nvPr/>
        </p:nvSpPr>
        <p:spPr>
          <a:xfrm>
            <a:off x="2468880" y="2331720"/>
            <a:ext cx="1965960" cy="658368"/>
          </a:xfrm>
          <a:prstGeom prst="line">
            <a:avLst/>
          </a:prstGeom>
          <a:noFill/>
          <a:ln w="34290">
            <a:solidFill>
              <a:srgbClr val="B5792A"/>
            </a:solidFill>
            <a:prstDash val="solid"/>
            <a:headEnd type="none"/>
            <a:tailEnd type="triangle"/>
          </a:ln>
        </p:spPr>
      </p:sp>
      <p:sp>
        <p:nvSpPr>
          <p:cNvPr id="12" name="Shape 10"/>
          <p:cNvSpPr/>
          <p:nvPr/>
        </p:nvSpPr>
        <p:spPr>
          <a:xfrm>
            <a:off x="2468880" y="4069080"/>
            <a:ext cx="1965960" cy="-658368"/>
          </a:xfrm>
          <a:prstGeom prst="line">
            <a:avLst/>
          </a:prstGeom>
          <a:noFill/>
          <a:ln w="34290">
            <a:solidFill>
              <a:srgbClr val="B5792A"/>
            </a:solidFill>
            <a:prstDash val="solid"/>
            <a:headEnd type="none"/>
            <a:tailEnd type="triangle"/>
          </a:ln>
        </p:spPr>
      </p:sp>
      <p:sp>
        <p:nvSpPr>
          <p:cNvPr id="13" name="Shape 11"/>
          <p:cNvSpPr/>
          <p:nvPr/>
        </p:nvSpPr>
        <p:spPr>
          <a:xfrm>
            <a:off x="7269480" y="3209544"/>
            <a:ext cx="1984248" cy="0"/>
          </a:xfrm>
          <a:prstGeom prst="line">
            <a:avLst/>
          </a:prstGeom>
          <a:noFill/>
          <a:ln w="34290">
            <a:solidFill>
              <a:srgbClr val="B5792A"/>
            </a:solidFill>
            <a:prstDash val="solid"/>
            <a:headEnd type="none"/>
            <a:tailEnd type="triangle"/>
          </a:ln>
        </p:spPr>
      </p:sp>
      <p:sp>
        <p:nvSpPr>
          <p:cNvPr id="14" name="Text 12"/>
          <p:cNvSpPr/>
          <p:nvPr/>
        </p:nvSpPr>
        <p:spPr>
          <a:xfrm>
            <a:off x="2834640" y="1847088"/>
            <a:ext cx="1463040" cy="320040"/>
          </a:xfrm>
          <a:prstGeom prst="rect">
            <a:avLst/>
          </a:prstGeom>
          <a:noFill/>
          <a:ln/>
        </p:spPr>
        <p:txBody>
          <a:bodyPr wrap="square" lIns="0" tIns="0" rIns="0" bIns="0" rtlCol="0" anchor="ctr"/>
          <a:lstStyle/>
          <a:p>
            <a:pPr algn="ctr" indent="0" marL="0">
              <a:buNone/>
            </a:pPr>
            <a:r>
              <a:rPr lang="en-US" sz="1500" dirty="0">
                <a:solidFill>
                  <a:srgbClr val="6B7178"/>
                </a:solidFill>
                <a:latin typeface="Aptos" pitchFamily="34" charset="0"/>
                <a:ea typeface="Aptos" pitchFamily="34" charset="-122"/>
                <a:cs typeface="Aptos" pitchFamily="34" charset="-120"/>
              </a:rPr>
              <a:t>opérande A</a:t>
            </a:r>
            <a:endParaRPr lang="en-US" sz="1500" dirty="0"/>
          </a:p>
        </p:txBody>
      </p:sp>
      <p:sp>
        <p:nvSpPr>
          <p:cNvPr id="15" name="Text 13"/>
          <p:cNvSpPr/>
          <p:nvPr/>
        </p:nvSpPr>
        <p:spPr>
          <a:xfrm>
            <a:off x="2834640" y="4352544"/>
            <a:ext cx="1463040" cy="320040"/>
          </a:xfrm>
          <a:prstGeom prst="rect">
            <a:avLst/>
          </a:prstGeom>
          <a:noFill/>
          <a:ln/>
        </p:spPr>
        <p:txBody>
          <a:bodyPr wrap="square" lIns="0" tIns="0" rIns="0" bIns="0" rtlCol="0" anchor="ctr"/>
          <a:lstStyle/>
          <a:p>
            <a:pPr algn="ctr" indent="0" marL="0">
              <a:buNone/>
            </a:pPr>
            <a:r>
              <a:rPr lang="en-US" sz="1500" dirty="0">
                <a:solidFill>
                  <a:srgbClr val="6B7178"/>
                </a:solidFill>
                <a:latin typeface="Aptos" pitchFamily="34" charset="0"/>
                <a:ea typeface="Aptos" pitchFamily="34" charset="-122"/>
                <a:cs typeface="Aptos" pitchFamily="34" charset="-120"/>
              </a:rPr>
              <a:t>opérande B</a:t>
            </a:r>
            <a:endParaRPr lang="en-US" sz="1500" dirty="0"/>
          </a:p>
        </p:txBody>
      </p:sp>
      <p:sp>
        <p:nvSpPr>
          <p:cNvPr id="16" name="Text 14"/>
          <p:cNvSpPr/>
          <p:nvPr/>
        </p:nvSpPr>
        <p:spPr>
          <a:xfrm>
            <a:off x="7543800" y="2798064"/>
            <a:ext cx="1371600" cy="320040"/>
          </a:xfrm>
          <a:prstGeom prst="rect">
            <a:avLst/>
          </a:prstGeom>
          <a:noFill/>
          <a:ln/>
        </p:spPr>
        <p:txBody>
          <a:bodyPr wrap="square" lIns="0" tIns="0" rIns="0" bIns="0" rtlCol="0" anchor="ctr"/>
          <a:lstStyle/>
          <a:p>
            <a:pPr algn="ctr" indent="0" marL="0">
              <a:buNone/>
            </a:pPr>
            <a:r>
              <a:rPr lang="en-US" sz="1500" dirty="0">
                <a:solidFill>
                  <a:srgbClr val="6B7178"/>
                </a:solidFill>
                <a:latin typeface="Aptos" pitchFamily="34" charset="0"/>
                <a:ea typeface="Aptos" pitchFamily="34" charset="-122"/>
                <a:cs typeface="Aptos" pitchFamily="34" charset="-120"/>
              </a:rPr>
              <a:t>résultat</a:t>
            </a:r>
            <a:endParaRPr lang="en-US" sz="1500" dirty="0"/>
          </a:p>
        </p:txBody>
      </p:sp>
      <p:sp>
        <p:nvSpPr>
          <p:cNvPr id="17" name="Text 15"/>
          <p:cNvSpPr/>
          <p:nvPr/>
        </p:nvSpPr>
        <p:spPr>
          <a:xfrm>
            <a:off x="3246120" y="4965192"/>
            <a:ext cx="5760720" cy="438912"/>
          </a:xfrm>
          <a:prstGeom prst="rect">
            <a:avLst/>
          </a:prstGeom>
          <a:noFill/>
          <a:ln/>
        </p:spPr>
        <p:txBody>
          <a:bodyPr wrap="square" lIns="0" tIns="0" rIns="0" bIns="0" rtlCol="0" anchor="ctr"/>
          <a:lstStyle/>
          <a:p>
            <a:pPr algn="ctr" indent="0" marL="0">
              <a:buNone/>
            </a:pPr>
            <a:r>
              <a:rPr lang="en-US" sz="1800" i="1" dirty="0">
                <a:solidFill>
                  <a:srgbClr val="17324D"/>
                </a:solidFill>
                <a:latin typeface="Aptos" pitchFamily="34" charset="0"/>
                <a:ea typeface="Aptos" pitchFamily="34" charset="-122"/>
                <a:cs typeface="Aptos" pitchFamily="34" charset="-120"/>
              </a:rPr>
              <a:t>L’unité de contrôle décode et coordonne ce trajet.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LABORATOIRE 5</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Rôles + trajet de l’instruction</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15</a:t>
            </a:r>
            <a:endParaRPr lang="en-US" sz="820" dirty="0"/>
          </a:p>
        </p:txBody>
      </p:sp>
      <p:sp>
        <p:nvSpPr>
          <p:cNvPr id="7" name="Text 5"/>
          <p:cNvSpPr/>
          <p:nvPr/>
        </p:nvSpPr>
        <p:spPr>
          <a:xfrm>
            <a:off x="822960" y="1627632"/>
            <a:ext cx="5074920" cy="196596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2100" b="1" dirty="0">
                <a:solidFill>
                  <a:srgbClr val="17324D"/>
                </a:solidFill>
                <a:latin typeface="Aptos" pitchFamily="34" charset="0"/>
                <a:ea typeface="Aptos" pitchFamily="34" charset="-122"/>
                <a:cs typeface="Aptos" pitchFamily="34" charset="-120"/>
              </a:rPr>
              <a:t>ÉTAPE 2</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Associez chaque action à l’unité de contrôle, un registre, l’UAL ou la cache.</a:t>
            </a:r>
            <a:endParaRPr lang="en-US" sz="2100" dirty="0"/>
          </a:p>
        </p:txBody>
      </p:sp>
      <p:sp>
        <p:nvSpPr>
          <p:cNvPr id="8" name="Text 6"/>
          <p:cNvSpPr/>
          <p:nvPr/>
        </p:nvSpPr>
        <p:spPr>
          <a:xfrm>
            <a:off x="6263640" y="1627632"/>
            <a:ext cx="5074920" cy="196596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100" b="1" dirty="0">
                <a:solidFill>
                  <a:srgbClr val="2D6F6B"/>
                </a:solidFill>
                <a:latin typeface="Aptos" pitchFamily="34" charset="0"/>
                <a:ea typeface="Aptos" pitchFamily="34" charset="-122"/>
                <a:cs typeface="Aptos" pitchFamily="34" charset="-120"/>
              </a:rPr>
              <a:t>ÉTAPE 3</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Reconstituez ADD R1, R2, R3 : sources, opération et destination.</a:t>
            </a:r>
            <a:endParaRPr lang="en-US" sz="2100" dirty="0"/>
          </a:p>
        </p:txBody>
      </p:sp>
      <p:sp>
        <p:nvSpPr>
          <p:cNvPr id="9" name="Text 7"/>
          <p:cNvSpPr/>
          <p:nvPr/>
        </p:nvSpPr>
        <p:spPr>
          <a:xfrm>
            <a:off x="1920240" y="4261104"/>
            <a:ext cx="8321040" cy="475488"/>
          </a:xfrm>
          <a:prstGeom prst="rect">
            <a:avLst/>
          </a:prstGeom>
          <a:noFill/>
          <a:ln/>
        </p:spPr>
        <p:txBody>
          <a:bodyPr wrap="square" lIns="0" tIns="0" rIns="0" bIns="0" rtlCol="0" anchor="ctr"/>
          <a:lstStyle/>
          <a:p>
            <a:pPr algn="ctr" indent="0" marL="0">
              <a:buNone/>
            </a:pPr>
            <a:r>
              <a:rPr lang="en-US" sz="2100" b="1" dirty="0">
                <a:solidFill>
                  <a:srgbClr val="B5792A"/>
                </a:solidFill>
                <a:latin typeface="Aptos" pitchFamily="34" charset="0"/>
                <a:ea typeface="Aptos" pitchFamily="34" charset="-122"/>
                <a:cs typeface="Aptos" pitchFamily="34" charset="-120"/>
              </a:rPr>
              <a:t>Ouvrez : Laboratoire 5 → étapes 2 et 3</a:t>
            </a:r>
            <a:endParaRPr lang="en-US" sz="2100" dirty="0"/>
          </a:p>
        </p:txBody>
      </p:sp>
      <p:sp>
        <p:nvSpPr>
          <p:cNvPr id="10" name="Text 8"/>
          <p:cNvSpPr/>
          <p:nvPr/>
        </p:nvSpPr>
        <p:spPr>
          <a:xfrm>
            <a:off x="1417320" y="4882896"/>
            <a:ext cx="9326880" cy="402336"/>
          </a:xfrm>
          <a:prstGeom prst="rect">
            <a:avLst/>
          </a:prstGeom>
          <a:noFill/>
          <a:ln/>
        </p:spPr>
        <p:txBody>
          <a:bodyPr wrap="square" lIns="0" tIns="0" rIns="0" bIns="0" rtlCol="0" anchor="ctr"/>
          <a:lstStyle/>
          <a:p>
            <a:pPr algn="ctr" indent="0" marL="0">
              <a:buNone/>
            </a:pPr>
            <a:r>
              <a:rPr lang="en-US" sz="1700" b="1" dirty="0">
                <a:solidFill>
                  <a:srgbClr val="A54B3E"/>
                </a:solidFill>
                <a:latin typeface="Aptos" pitchFamily="34" charset="0"/>
                <a:ea typeface="Aptos" pitchFamily="34" charset="-122"/>
                <a:cs typeface="Aptos" pitchFamily="34" charset="-120"/>
              </a:rPr>
              <a:t>ARRÊTEZ APRÈS L’ÉTAPE 3 — nous ferons l’étape 4 après l’atelier matériel.</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E2B16C"/>
                </a:solidFill>
                <a:latin typeface="Aptos" pitchFamily="34" charset="0"/>
                <a:ea typeface="Aptos" pitchFamily="34" charset="-122"/>
                <a:cs typeface="Aptos" pitchFamily="34" charset="-120"/>
              </a:rPr>
              <a:t>PAUSE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5 minutes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16</a:t>
            </a:r>
            <a:endParaRPr lang="en-US" sz="820" dirty="0"/>
          </a:p>
        </p:txBody>
      </p:sp>
      <p:sp>
        <p:nvSpPr>
          <p:cNvPr id="7" name="Text 5"/>
          <p:cNvSpPr/>
          <p:nvPr/>
        </p:nvSpPr>
        <p:spPr>
          <a:xfrm>
            <a:off x="777240" y="1417320"/>
            <a:ext cx="1554480" cy="1508760"/>
          </a:xfrm>
          <a:prstGeom prst="rect">
            <a:avLst/>
          </a:prstGeom>
          <a:noFill/>
          <a:ln/>
        </p:spPr>
        <p:txBody>
          <a:bodyPr wrap="square" lIns="0" tIns="0" rIns="0" bIns="0" rtlCol="0" anchor="ctr"/>
          <a:lstStyle/>
          <a:p>
            <a:pPr algn="ctr" indent="0" marL="0">
              <a:buNone/>
            </a:pPr>
            <a:r>
              <a:rPr lang="en-US" sz="8800" b="1" dirty="0">
                <a:solidFill>
                  <a:srgbClr val="E2B16C"/>
                </a:solidFill>
                <a:latin typeface="Aptos Display" pitchFamily="34" charset="0"/>
                <a:ea typeface="Aptos Display" pitchFamily="34" charset="-122"/>
                <a:cs typeface="Aptos Display" pitchFamily="34" charset="-120"/>
              </a:rPr>
              <a:t>2</a:t>
            </a:r>
            <a:endParaRPr lang="en-US" sz="8800" dirty="0"/>
          </a:p>
        </p:txBody>
      </p:sp>
      <p:sp>
        <p:nvSpPr>
          <p:cNvPr id="8" name="Text 6"/>
          <p:cNvSpPr/>
          <p:nvPr/>
        </p:nvSpPr>
        <p:spPr>
          <a:xfrm>
            <a:off x="2606040" y="1627632"/>
            <a:ext cx="3840480" cy="320040"/>
          </a:xfrm>
          <a:prstGeom prst="rect">
            <a:avLst/>
          </a:prstGeom>
          <a:noFill/>
          <a:ln/>
        </p:spPr>
        <p:txBody>
          <a:bodyPr wrap="square" lIns="0" tIns="0" rIns="0" bIns="0" rtlCol="0" anchor="ctr"/>
          <a:lstStyle/>
          <a:p>
            <a:pPr indent="0" marL="0">
              <a:buNone/>
            </a:pPr>
            <a:r>
              <a:rPr lang="en-US" sz="1200" b="1" spc="100" kern="0" dirty="0">
                <a:solidFill>
                  <a:srgbClr val="D8E0E8"/>
                </a:solidFill>
                <a:latin typeface="Aptos" pitchFamily="34" charset="0"/>
                <a:ea typeface="Aptos" pitchFamily="34" charset="-122"/>
                <a:cs typeface="Aptos" pitchFamily="34" charset="-120"/>
              </a:rPr>
              <a:t>PÉRIODE SUIVANTE</a:t>
            </a:r>
            <a:endParaRPr lang="en-US" sz="1200" dirty="0"/>
          </a:p>
        </p:txBody>
      </p:sp>
      <p:sp>
        <p:nvSpPr>
          <p:cNvPr id="9" name="Text 7"/>
          <p:cNvSpPr/>
          <p:nvPr/>
        </p:nvSpPr>
        <p:spPr>
          <a:xfrm>
            <a:off x="2606040" y="2057400"/>
            <a:ext cx="8183880" cy="146304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Qu’arrive-t-il quand la réponse a besoin de plus de bits que le registre?</a:t>
            </a:r>
            <a:endParaRPr lang="en-US" sz="3000" dirty="0"/>
          </a:p>
        </p:txBody>
      </p:sp>
      <p:sp>
        <p:nvSpPr>
          <p:cNvPr id="10" name="Text 8"/>
          <p:cNvSpPr/>
          <p:nvPr/>
        </p:nvSpPr>
        <p:spPr>
          <a:xfrm>
            <a:off x="2606040" y="4069080"/>
            <a:ext cx="6949440" cy="347472"/>
          </a:xfrm>
          <a:prstGeom prst="rect">
            <a:avLst/>
          </a:prstGeom>
          <a:noFill/>
          <a:ln/>
        </p:spPr>
        <p:txBody>
          <a:bodyPr wrap="square" lIns="0" tIns="0" rIns="0" bIns="0" rtlCol="0" anchor="ctr"/>
          <a:lstStyle/>
          <a:p>
            <a:pPr indent="0" marL="0">
              <a:buNone/>
            </a:pPr>
            <a:r>
              <a:rPr lang="en-US" sz="1600" dirty="0">
                <a:solidFill>
                  <a:srgbClr val="D8E0E8"/>
                </a:solidFill>
                <a:latin typeface="Aptos" pitchFamily="34" charset="0"/>
                <a:ea typeface="Aptos" pitchFamily="34" charset="-122"/>
                <a:cs typeface="Aptos" pitchFamily="34" charset="-120"/>
              </a:rPr>
              <a:t>Laissez cette diapositive affichée pendant la pause.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LARGEUR FIXE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Un registre ne s’étire pas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17</a:t>
            </a:r>
            <a:endParaRPr lang="en-US" sz="820" dirty="0"/>
          </a:p>
        </p:txBody>
      </p:sp>
      <p:sp>
        <p:nvSpPr>
          <p:cNvPr id="7" name="Text 5"/>
          <p:cNvSpPr/>
          <p:nvPr/>
        </p:nvSpPr>
        <p:spPr>
          <a:xfrm>
            <a:off x="96012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8" name="Text 6"/>
          <p:cNvSpPr/>
          <p:nvPr/>
        </p:nvSpPr>
        <p:spPr>
          <a:xfrm>
            <a:off x="160020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9" name="Text 7"/>
          <p:cNvSpPr/>
          <p:nvPr/>
        </p:nvSpPr>
        <p:spPr>
          <a:xfrm>
            <a:off x="224028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10" name="Text 8"/>
          <p:cNvSpPr/>
          <p:nvPr/>
        </p:nvSpPr>
        <p:spPr>
          <a:xfrm>
            <a:off x="288036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11" name="Text 9"/>
          <p:cNvSpPr/>
          <p:nvPr/>
        </p:nvSpPr>
        <p:spPr>
          <a:xfrm>
            <a:off x="352044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12" name="Text 10"/>
          <p:cNvSpPr/>
          <p:nvPr/>
        </p:nvSpPr>
        <p:spPr>
          <a:xfrm>
            <a:off x="416052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13" name="Text 11"/>
          <p:cNvSpPr/>
          <p:nvPr/>
        </p:nvSpPr>
        <p:spPr>
          <a:xfrm>
            <a:off x="480060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14" name="Text 12"/>
          <p:cNvSpPr/>
          <p:nvPr/>
        </p:nvSpPr>
        <p:spPr>
          <a:xfrm>
            <a:off x="5440680" y="1965960"/>
            <a:ext cx="566928" cy="566928"/>
          </a:xfrm>
          <a:prstGeom prst="rect">
            <a:avLst/>
          </a:prstGeom>
          <a:solidFill>
            <a:srgbClr val="FFFFFF"/>
          </a:solidFill>
          <a:ln w="12700">
            <a:solidFill>
              <a:srgbClr val="CEC9BF"/>
            </a:solidFill>
          </a:ln>
        </p:spPr>
        <p:txBody>
          <a:bodyPr wrap="square" lIns="0" tIns="0" rIns="0" bIns="0" rtlCol="0" anchor="ctr"/>
          <a:lstStyle/>
          <a:p>
            <a:pPr algn="ctr" indent="0" marL="0">
              <a:buNone/>
            </a:pPr>
            <a:r>
              <a:rPr lang="en-US" sz="2500" b="1" dirty="0">
                <a:solidFill>
                  <a:srgbClr val="222831"/>
                </a:solidFill>
                <a:latin typeface="Aptos Mono" pitchFamily="34" charset="0"/>
                <a:ea typeface="Aptos Mono" pitchFamily="34" charset="-122"/>
                <a:cs typeface="Aptos Mono" pitchFamily="34" charset="-120"/>
              </a:rPr>
              <a:t>1</a:t>
            </a:r>
            <a:endParaRPr lang="en-US" sz="2500" dirty="0"/>
          </a:p>
        </p:txBody>
      </p:sp>
      <p:sp>
        <p:nvSpPr>
          <p:cNvPr id="15" name="Text 13"/>
          <p:cNvSpPr/>
          <p:nvPr/>
        </p:nvSpPr>
        <p:spPr>
          <a:xfrm>
            <a:off x="987552" y="2788920"/>
            <a:ext cx="5029200" cy="502920"/>
          </a:xfrm>
          <a:prstGeom prst="rect">
            <a:avLst/>
          </a:prstGeom>
          <a:noFill/>
          <a:ln/>
        </p:spPr>
        <p:txBody>
          <a:bodyPr wrap="square" lIns="0" tIns="0" rIns="0" bIns="0" rtlCol="0" anchor="ctr"/>
          <a:lstStyle/>
          <a:p>
            <a:pPr algn="ctr" indent="0" marL="0">
              <a:buNone/>
            </a:pPr>
            <a:r>
              <a:rPr lang="en-US" sz="3000" b="1" dirty="0">
                <a:solidFill>
                  <a:srgbClr val="222831"/>
                </a:solidFill>
                <a:latin typeface="Aptos Mono" pitchFamily="34" charset="0"/>
                <a:ea typeface="Aptos Mono" pitchFamily="34" charset="-122"/>
                <a:cs typeface="Aptos Mono" pitchFamily="34" charset="-120"/>
              </a:rPr>
              <a:t>+ 1</a:t>
            </a:r>
            <a:endParaRPr lang="en-US" sz="3000" dirty="0"/>
          </a:p>
        </p:txBody>
      </p:sp>
      <p:sp>
        <p:nvSpPr>
          <p:cNvPr id="16" name="Shape 14"/>
          <p:cNvSpPr/>
          <p:nvPr/>
        </p:nvSpPr>
        <p:spPr>
          <a:xfrm>
            <a:off x="6172200" y="2542032"/>
            <a:ext cx="1005840" cy="0"/>
          </a:xfrm>
          <a:prstGeom prst="line">
            <a:avLst/>
          </a:prstGeom>
          <a:noFill/>
          <a:ln w="35560">
            <a:solidFill>
              <a:srgbClr val="B5792A"/>
            </a:solidFill>
            <a:prstDash val="solid"/>
            <a:headEnd type="none"/>
            <a:tailEnd type="triangle"/>
          </a:ln>
        </p:spPr>
      </p:sp>
      <p:sp>
        <p:nvSpPr>
          <p:cNvPr id="17" name="Text 15"/>
          <p:cNvSpPr/>
          <p:nvPr/>
        </p:nvSpPr>
        <p:spPr>
          <a:xfrm>
            <a:off x="7635240" y="1828800"/>
            <a:ext cx="2468880" cy="91440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800" b="1" dirty="0">
                <a:solidFill>
                  <a:srgbClr val="FFFFFF"/>
                </a:solidFill>
                <a:latin typeface="Aptos Display" pitchFamily="34" charset="0"/>
                <a:ea typeface="Aptos Display" pitchFamily="34" charset="-122"/>
                <a:cs typeface="Aptos Display" pitchFamily="34" charset="-120"/>
              </a:rPr>
              <a:t>8 bits</a:t>
            </a:r>
            <a:endParaRPr lang="en-US" sz="3800" dirty="0"/>
          </a:p>
        </p:txBody>
      </p:sp>
      <p:sp>
        <p:nvSpPr>
          <p:cNvPr id="18" name="Text 16"/>
          <p:cNvSpPr/>
          <p:nvPr/>
        </p:nvSpPr>
        <p:spPr>
          <a:xfrm>
            <a:off x="1097280" y="4078224"/>
            <a:ext cx="9966960" cy="786384"/>
          </a:xfrm>
          <a:prstGeom prst="rect">
            <a:avLst/>
          </a:prstGeom>
          <a:solidFill>
            <a:srgbClr val="EEE9E1"/>
          </a:solidFill>
          <a:ln>
            <a:solidFill>
              <a:srgbClr val="CEC9BF"/>
            </a:solidFill>
          </a:ln>
        </p:spPr>
        <p:txBody>
          <a:bodyPr wrap="square" lIns="2032" tIns="2032" rIns="2032" bIns="2032" rtlCol="0" anchor="ctr"/>
          <a:lstStyle/>
          <a:p>
            <a:pPr algn="ctr" indent="0" marL="0">
              <a:buNone/>
            </a:pPr>
            <a:r>
              <a:rPr lang="en-US" sz="2200" dirty="0">
                <a:solidFill>
                  <a:srgbClr val="222831"/>
                </a:solidFill>
                <a:latin typeface="Aptos" pitchFamily="34" charset="0"/>
                <a:ea typeface="Aptos" pitchFamily="34" charset="-122"/>
                <a:cs typeface="Aptos" pitchFamily="34" charset="-120"/>
              </a:rPr>
              <a:t>La destination conserve huit bits — même si la somme mathématique en demande neuf.</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LARGEUR FIXE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Une opération possède une largeur</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18</a:t>
            </a:r>
            <a:endParaRPr lang="en-US" sz="820" dirty="0"/>
          </a:p>
        </p:txBody>
      </p:sp>
      <p:sp>
        <p:nvSpPr>
          <p:cNvPr id="7" name="Text 5"/>
          <p:cNvSpPr/>
          <p:nvPr/>
        </p:nvSpPr>
        <p:spPr>
          <a:xfrm>
            <a:off x="841248" y="1938528"/>
            <a:ext cx="2286000" cy="9601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400" b="1" dirty="0">
                <a:solidFill>
                  <a:srgbClr val="FFFFFF"/>
                </a:solidFill>
                <a:latin typeface="Aptos Display" pitchFamily="34" charset="0"/>
                <a:ea typeface="Aptos Display" pitchFamily="34" charset="-122"/>
                <a:cs typeface="Aptos Display" pitchFamily="34" charset="-120"/>
              </a:rPr>
              <a:t>8 bits</a:t>
            </a:r>
            <a:endParaRPr lang="en-US" sz="3400" dirty="0"/>
          </a:p>
        </p:txBody>
      </p:sp>
      <p:sp>
        <p:nvSpPr>
          <p:cNvPr id="8" name="Text 6"/>
          <p:cNvSpPr/>
          <p:nvPr/>
        </p:nvSpPr>
        <p:spPr>
          <a:xfrm>
            <a:off x="3401568" y="1938528"/>
            <a:ext cx="548640" cy="960120"/>
          </a:xfrm>
          <a:prstGeom prst="rect">
            <a:avLst/>
          </a:prstGeom>
          <a:noFill/>
          <a:ln/>
        </p:spPr>
        <p:txBody>
          <a:bodyPr wrap="square" lIns="0" tIns="0" rIns="0" bIns="0" rtlCol="0" anchor="ctr"/>
          <a:lstStyle/>
          <a:p>
            <a:pPr algn="ctr" indent="0" marL="0">
              <a:buNone/>
            </a:pPr>
            <a:r>
              <a:rPr lang="en-US" sz="3400" b="1" dirty="0">
                <a:solidFill>
                  <a:srgbClr val="B5792A"/>
                </a:solidFill>
                <a:latin typeface="Aptos Display" pitchFamily="34" charset="0"/>
                <a:ea typeface="Aptos Display" pitchFamily="34" charset="-122"/>
                <a:cs typeface="Aptos Display" pitchFamily="34" charset="-120"/>
              </a:rPr>
              <a:t>+</a:t>
            </a:r>
            <a:endParaRPr lang="en-US" sz="3400" dirty="0"/>
          </a:p>
        </p:txBody>
      </p:sp>
      <p:sp>
        <p:nvSpPr>
          <p:cNvPr id="9" name="Text 7"/>
          <p:cNvSpPr/>
          <p:nvPr/>
        </p:nvSpPr>
        <p:spPr>
          <a:xfrm>
            <a:off x="4169664" y="1938528"/>
            <a:ext cx="2286000" cy="9601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400" b="1" dirty="0">
                <a:solidFill>
                  <a:srgbClr val="FFFFFF"/>
                </a:solidFill>
                <a:latin typeface="Aptos Display" pitchFamily="34" charset="0"/>
                <a:ea typeface="Aptos Display" pitchFamily="34" charset="-122"/>
                <a:cs typeface="Aptos Display" pitchFamily="34" charset="-120"/>
              </a:rPr>
              <a:t>8 bits</a:t>
            </a:r>
            <a:endParaRPr lang="en-US" sz="3400" dirty="0"/>
          </a:p>
        </p:txBody>
      </p:sp>
      <p:sp>
        <p:nvSpPr>
          <p:cNvPr id="10" name="Text 8"/>
          <p:cNvSpPr/>
          <p:nvPr/>
        </p:nvSpPr>
        <p:spPr>
          <a:xfrm>
            <a:off x="6784848" y="1938528"/>
            <a:ext cx="731520" cy="960120"/>
          </a:xfrm>
          <a:prstGeom prst="rect">
            <a:avLst/>
          </a:prstGeom>
          <a:noFill/>
          <a:ln/>
        </p:spPr>
        <p:txBody>
          <a:bodyPr wrap="square" lIns="0" tIns="0" rIns="0" bIns="0" rtlCol="0" anchor="ctr"/>
          <a:lstStyle/>
          <a:p>
            <a:pPr algn="ctr" indent="0" marL="0">
              <a:buNone/>
            </a:pPr>
            <a:r>
              <a:rPr lang="en-US" sz="3800" b="1" dirty="0">
                <a:solidFill>
                  <a:srgbClr val="B5792A"/>
                </a:solidFill>
                <a:latin typeface="Aptos Display" pitchFamily="34" charset="0"/>
                <a:ea typeface="Aptos Display" pitchFamily="34" charset="-122"/>
                <a:cs typeface="Aptos Display" pitchFamily="34" charset="-120"/>
              </a:rPr>
              <a:t>→</a:t>
            </a:r>
            <a:endParaRPr lang="en-US" sz="3800" dirty="0"/>
          </a:p>
        </p:txBody>
      </p:sp>
      <p:sp>
        <p:nvSpPr>
          <p:cNvPr id="11" name="Text 9"/>
          <p:cNvSpPr/>
          <p:nvPr/>
        </p:nvSpPr>
        <p:spPr>
          <a:xfrm>
            <a:off x="7836408" y="1664208"/>
            <a:ext cx="2514600" cy="1508760"/>
          </a:xfrm>
          <a:prstGeom prst="rect">
            <a:avLst/>
          </a:prstGeom>
          <a:solidFill>
            <a:srgbClr val="F2E4CE"/>
          </a:solidFill>
          <a:ln>
            <a:solidFill>
              <a:srgbClr val="CEC9BF"/>
            </a:solidFill>
          </a:ln>
        </p:spPr>
        <p:txBody>
          <a:bodyPr wrap="square" lIns="1016" tIns="1016" rIns="1016" bIns="1016" rtlCol="0" anchor="ctr"/>
          <a:lstStyle/>
          <a:p>
            <a:pPr algn="ctr" indent="0" marL="0">
              <a:buNone/>
            </a:pPr>
            <a:r>
              <a:rPr lang="en-US" sz="3000" b="1" dirty="0">
                <a:solidFill>
                  <a:srgbClr val="222831"/>
                </a:solidFill>
                <a:latin typeface="Aptos Display" pitchFamily="34" charset="0"/>
                <a:ea typeface="Aptos Display" pitchFamily="34" charset="-122"/>
                <a:cs typeface="Aptos Display" pitchFamily="34" charset="-120"/>
              </a:rPr>
              <a:t>destination</a:t>
            </a:r>
            <a:endParaRPr lang="en-US" sz="3000" dirty="0"/>
          </a:p>
          <a:p>
            <a:pPr algn="ctr" indent="0" marL="0">
              <a:buNone/>
            </a:pPr>
            <a:r>
              <a:rPr lang="en-US" sz="3000" b="1" dirty="0">
                <a:solidFill>
                  <a:srgbClr val="222831"/>
                </a:solidFill>
                <a:latin typeface="Aptos Display" pitchFamily="34" charset="0"/>
                <a:ea typeface="Aptos Display" pitchFamily="34" charset="-122"/>
                <a:cs typeface="Aptos Display" pitchFamily="34" charset="-120"/>
              </a:rPr>
              <a:t>8 bits</a:t>
            </a:r>
            <a:endParaRPr lang="en-US" sz="3000" dirty="0"/>
          </a:p>
        </p:txBody>
      </p:sp>
      <p:sp>
        <p:nvSpPr>
          <p:cNvPr id="12" name="Text 10"/>
          <p:cNvSpPr/>
          <p:nvPr/>
        </p:nvSpPr>
        <p:spPr>
          <a:xfrm>
            <a:off x="2788920" y="3968496"/>
            <a:ext cx="6629400" cy="100584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2200" b="1" dirty="0">
                <a:solidFill>
                  <a:srgbClr val="B5792A"/>
                </a:solidFill>
                <a:latin typeface="Aptos" pitchFamily="34" charset="0"/>
                <a:ea typeface="Aptos" pitchFamily="34" charset="-122"/>
                <a:cs typeface="Aptos" pitchFamily="34" charset="-120"/>
              </a:rPr>
              <a:t>MAIS…</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la somme mathématique peut demander 9 bits.</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ADDITION BINAIRE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Les cas de base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19</a:t>
            </a:r>
            <a:endParaRPr lang="en-US" sz="820" dirty="0"/>
          </a:p>
        </p:txBody>
      </p:sp>
      <p:sp>
        <p:nvSpPr>
          <p:cNvPr id="7" name="Text 5"/>
          <p:cNvSpPr/>
          <p:nvPr/>
        </p:nvSpPr>
        <p:spPr>
          <a:xfrm>
            <a:off x="868680" y="1920240"/>
            <a:ext cx="2240280" cy="68580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2800" b="1" dirty="0">
                <a:solidFill>
                  <a:srgbClr val="222831"/>
                </a:solidFill>
                <a:latin typeface="Aptos Mono" pitchFamily="34" charset="0"/>
                <a:ea typeface="Aptos Mono" pitchFamily="34" charset="-122"/>
                <a:cs typeface="Aptos Mono" pitchFamily="34" charset="-120"/>
              </a:rPr>
              <a:t>0 + 0</a:t>
            </a:r>
            <a:endParaRPr lang="en-US" sz="2800" dirty="0"/>
          </a:p>
        </p:txBody>
      </p:sp>
      <p:sp>
        <p:nvSpPr>
          <p:cNvPr id="8" name="Text 6"/>
          <p:cNvSpPr/>
          <p:nvPr/>
        </p:nvSpPr>
        <p:spPr>
          <a:xfrm>
            <a:off x="868680" y="2834640"/>
            <a:ext cx="2240280" cy="822960"/>
          </a:xfrm>
          <a:prstGeom prst="rect">
            <a:avLst/>
          </a:prstGeom>
          <a:noFill/>
          <a:ln/>
        </p:spPr>
        <p:txBody>
          <a:bodyPr wrap="square" lIns="0" tIns="0" rIns="0" bIns="0" rtlCol="0" anchor="ctr"/>
          <a:lstStyle/>
          <a:p>
            <a:pPr algn="ctr" indent="0" marL="0">
              <a:buNone/>
            </a:pPr>
            <a:r>
              <a:rPr lang="en-US" sz="3600" b="1" dirty="0">
                <a:solidFill>
                  <a:srgbClr val="2D6F6B"/>
                </a:solidFill>
                <a:latin typeface="Aptos Mono" pitchFamily="34" charset="0"/>
                <a:ea typeface="Aptos Mono" pitchFamily="34" charset="-122"/>
                <a:cs typeface="Aptos Mono" pitchFamily="34" charset="-120"/>
              </a:rPr>
              <a:t>0</a:t>
            </a:r>
            <a:endParaRPr lang="en-US" sz="3600" dirty="0"/>
          </a:p>
        </p:txBody>
      </p:sp>
      <p:sp>
        <p:nvSpPr>
          <p:cNvPr id="9" name="Text 7"/>
          <p:cNvSpPr/>
          <p:nvPr/>
        </p:nvSpPr>
        <p:spPr>
          <a:xfrm>
            <a:off x="3639312" y="1920240"/>
            <a:ext cx="2240280" cy="68580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2800" b="1" dirty="0">
                <a:solidFill>
                  <a:srgbClr val="222831"/>
                </a:solidFill>
                <a:latin typeface="Aptos Mono" pitchFamily="34" charset="0"/>
                <a:ea typeface="Aptos Mono" pitchFamily="34" charset="-122"/>
                <a:cs typeface="Aptos Mono" pitchFamily="34" charset="-120"/>
              </a:rPr>
              <a:t>0 + 1</a:t>
            </a:r>
            <a:endParaRPr lang="en-US" sz="2800" dirty="0"/>
          </a:p>
        </p:txBody>
      </p:sp>
      <p:sp>
        <p:nvSpPr>
          <p:cNvPr id="10" name="Text 8"/>
          <p:cNvSpPr/>
          <p:nvPr/>
        </p:nvSpPr>
        <p:spPr>
          <a:xfrm>
            <a:off x="3639312" y="2834640"/>
            <a:ext cx="2240280" cy="822960"/>
          </a:xfrm>
          <a:prstGeom prst="rect">
            <a:avLst/>
          </a:prstGeom>
          <a:noFill/>
          <a:ln/>
        </p:spPr>
        <p:txBody>
          <a:bodyPr wrap="square" lIns="0" tIns="0" rIns="0" bIns="0" rtlCol="0" anchor="ctr"/>
          <a:lstStyle/>
          <a:p>
            <a:pPr algn="ctr" indent="0" marL="0">
              <a:buNone/>
            </a:pPr>
            <a:r>
              <a:rPr lang="en-US" sz="3600" b="1" dirty="0">
                <a:solidFill>
                  <a:srgbClr val="2D6F6B"/>
                </a:solidFill>
                <a:latin typeface="Aptos Mono" pitchFamily="34" charset="0"/>
                <a:ea typeface="Aptos Mono" pitchFamily="34" charset="-122"/>
                <a:cs typeface="Aptos Mono" pitchFamily="34" charset="-120"/>
              </a:rPr>
              <a:t>1</a:t>
            </a:r>
            <a:endParaRPr lang="en-US" sz="3600" dirty="0"/>
          </a:p>
        </p:txBody>
      </p:sp>
      <p:sp>
        <p:nvSpPr>
          <p:cNvPr id="11" name="Text 9"/>
          <p:cNvSpPr/>
          <p:nvPr/>
        </p:nvSpPr>
        <p:spPr>
          <a:xfrm>
            <a:off x="6409944" y="1920240"/>
            <a:ext cx="2240280" cy="68580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2800" b="1" dirty="0">
                <a:solidFill>
                  <a:srgbClr val="222831"/>
                </a:solidFill>
                <a:latin typeface="Aptos Mono" pitchFamily="34" charset="0"/>
                <a:ea typeface="Aptos Mono" pitchFamily="34" charset="-122"/>
                <a:cs typeface="Aptos Mono" pitchFamily="34" charset="-120"/>
              </a:rPr>
              <a:t>1 + 0</a:t>
            </a:r>
            <a:endParaRPr lang="en-US" sz="2800" dirty="0"/>
          </a:p>
        </p:txBody>
      </p:sp>
      <p:sp>
        <p:nvSpPr>
          <p:cNvPr id="12" name="Text 10"/>
          <p:cNvSpPr/>
          <p:nvPr/>
        </p:nvSpPr>
        <p:spPr>
          <a:xfrm>
            <a:off x="6409944" y="2834640"/>
            <a:ext cx="2240280" cy="822960"/>
          </a:xfrm>
          <a:prstGeom prst="rect">
            <a:avLst/>
          </a:prstGeom>
          <a:noFill/>
          <a:ln/>
        </p:spPr>
        <p:txBody>
          <a:bodyPr wrap="square" lIns="0" tIns="0" rIns="0" bIns="0" rtlCol="0" anchor="ctr"/>
          <a:lstStyle/>
          <a:p>
            <a:pPr algn="ctr" indent="0" marL="0">
              <a:buNone/>
            </a:pPr>
            <a:r>
              <a:rPr lang="en-US" sz="3600" b="1" dirty="0">
                <a:solidFill>
                  <a:srgbClr val="2D6F6B"/>
                </a:solidFill>
                <a:latin typeface="Aptos Mono" pitchFamily="34" charset="0"/>
                <a:ea typeface="Aptos Mono" pitchFamily="34" charset="-122"/>
                <a:cs typeface="Aptos Mono" pitchFamily="34" charset="-120"/>
              </a:rPr>
              <a:t>1</a:t>
            </a:r>
            <a:endParaRPr lang="en-US" sz="3600" dirty="0"/>
          </a:p>
        </p:txBody>
      </p:sp>
      <p:sp>
        <p:nvSpPr>
          <p:cNvPr id="13" name="Text 11"/>
          <p:cNvSpPr/>
          <p:nvPr/>
        </p:nvSpPr>
        <p:spPr>
          <a:xfrm>
            <a:off x="9180576" y="1920240"/>
            <a:ext cx="2240280" cy="68580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2800" b="1" dirty="0">
                <a:solidFill>
                  <a:srgbClr val="222831"/>
                </a:solidFill>
                <a:latin typeface="Aptos Mono" pitchFamily="34" charset="0"/>
                <a:ea typeface="Aptos Mono" pitchFamily="34" charset="-122"/>
                <a:cs typeface="Aptos Mono" pitchFamily="34" charset="-120"/>
              </a:rPr>
              <a:t>1 + 1</a:t>
            </a:r>
            <a:endParaRPr lang="en-US" sz="2800" dirty="0"/>
          </a:p>
        </p:txBody>
      </p:sp>
      <p:sp>
        <p:nvSpPr>
          <p:cNvPr id="14" name="Text 12"/>
          <p:cNvSpPr/>
          <p:nvPr/>
        </p:nvSpPr>
        <p:spPr>
          <a:xfrm>
            <a:off x="9180576" y="2834640"/>
            <a:ext cx="2240280" cy="822960"/>
          </a:xfrm>
          <a:prstGeom prst="rect">
            <a:avLst/>
          </a:prstGeom>
          <a:noFill/>
          <a:ln/>
        </p:spPr>
        <p:txBody>
          <a:bodyPr wrap="square" lIns="0" tIns="0" rIns="0" bIns="0" rtlCol="0" anchor="ctr"/>
          <a:lstStyle/>
          <a:p>
            <a:pPr algn="ctr" indent="0" marL="0">
              <a:buNone/>
            </a:pPr>
            <a:r>
              <a:rPr lang="en-US" sz="3600" b="1" dirty="0">
                <a:solidFill>
                  <a:srgbClr val="B5792A"/>
                </a:solidFill>
                <a:latin typeface="Aptos Mono" pitchFamily="34" charset="0"/>
                <a:ea typeface="Aptos Mono" pitchFamily="34" charset="-122"/>
                <a:cs typeface="Aptos Mono" pitchFamily="34" charset="-120"/>
              </a:rPr>
              <a:t>10</a:t>
            </a:r>
            <a:endParaRPr lang="en-US" sz="3600" dirty="0"/>
          </a:p>
        </p:txBody>
      </p:sp>
      <p:sp>
        <p:nvSpPr>
          <p:cNvPr id="15" name="Text 13"/>
          <p:cNvSpPr/>
          <p:nvPr/>
        </p:nvSpPr>
        <p:spPr>
          <a:xfrm>
            <a:off x="2011680" y="4434840"/>
            <a:ext cx="8138160" cy="640080"/>
          </a:xfrm>
          <a:prstGeom prst="rect">
            <a:avLst/>
          </a:prstGeom>
          <a:noFill/>
          <a:ln/>
        </p:spPr>
        <p:txBody>
          <a:bodyPr wrap="square" lIns="0" tIns="0" rIns="0" bIns="0" rtlCol="0" anchor="ctr"/>
          <a:lstStyle/>
          <a:p>
            <a:pPr algn="ctr" indent="0" marL="0">
              <a:buNone/>
            </a:pPr>
            <a:r>
              <a:rPr lang="en-US" sz="2300" b="1" dirty="0">
                <a:solidFill>
                  <a:srgbClr val="17324D"/>
                </a:solidFill>
                <a:latin typeface="Aptos" pitchFamily="34" charset="0"/>
                <a:ea typeface="Aptos" pitchFamily="34" charset="-122"/>
                <a:cs typeface="Aptos" pitchFamily="34" charset="-120"/>
              </a:rPr>
              <a:t>1 + 1 = 10₂  →  on écrit 0 et on retient 1.</a:t>
            </a:r>
            <a:endParaRPr lang="en-US" sz="2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ADDITION BINAIRE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Et lorsqu’une retenue arrive?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20</a:t>
            </a:r>
            <a:endParaRPr lang="en-US" sz="820" dirty="0"/>
          </a:p>
        </p:txBody>
      </p:sp>
      <p:sp>
        <p:nvSpPr>
          <p:cNvPr id="7" name="Text 5"/>
          <p:cNvSpPr/>
          <p:nvPr/>
        </p:nvSpPr>
        <p:spPr>
          <a:xfrm>
            <a:off x="1143000" y="1645920"/>
            <a:ext cx="4023360" cy="777240"/>
          </a:xfrm>
          <a:prstGeom prst="rect">
            <a:avLst/>
          </a:prstGeom>
          <a:noFill/>
          <a:ln/>
        </p:spPr>
        <p:txBody>
          <a:bodyPr wrap="square" lIns="0" tIns="0" rIns="0" bIns="0" rtlCol="0" anchor="ctr"/>
          <a:lstStyle/>
          <a:p>
            <a:pPr algn="ctr" indent="0" marL="0">
              <a:buNone/>
            </a:pPr>
            <a:r>
              <a:rPr lang="en-US" sz="4200" b="1" dirty="0">
                <a:solidFill>
                  <a:srgbClr val="222831"/>
                </a:solidFill>
                <a:latin typeface="Aptos Display" pitchFamily="34" charset="0"/>
                <a:ea typeface="Aptos Display" pitchFamily="34" charset="-122"/>
                <a:cs typeface="Aptos Display" pitchFamily="34" charset="-120"/>
              </a:rPr>
              <a:t>1 + 1 + 1</a:t>
            </a:r>
            <a:endParaRPr lang="en-US" sz="4200" dirty="0"/>
          </a:p>
        </p:txBody>
      </p:sp>
      <p:sp>
        <p:nvSpPr>
          <p:cNvPr id="8" name="Shape 6"/>
          <p:cNvSpPr/>
          <p:nvPr/>
        </p:nvSpPr>
        <p:spPr>
          <a:xfrm>
            <a:off x="5074920" y="2029968"/>
            <a:ext cx="1234440" cy="0"/>
          </a:xfrm>
          <a:prstGeom prst="line">
            <a:avLst/>
          </a:prstGeom>
          <a:noFill/>
          <a:ln w="38100">
            <a:solidFill>
              <a:srgbClr val="B5792A"/>
            </a:solidFill>
            <a:prstDash val="solid"/>
            <a:headEnd type="none"/>
            <a:tailEnd type="triangle"/>
          </a:ln>
        </p:spPr>
      </p:sp>
      <p:sp>
        <p:nvSpPr>
          <p:cNvPr id="9" name="Text 7"/>
          <p:cNvSpPr/>
          <p:nvPr/>
        </p:nvSpPr>
        <p:spPr>
          <a:xfrm>
            <a:off x="6720840" y="1517904"/>
            <a:ext cx="2286000" cy="960120"/>
          </a:xfrm>
          <a:prstGeom prst="rect">
            <a:avLst/>
          </a:prstGeom>
          <a:noFill/>
          <a:ln/>
        </p:spPr>
        <p:txBody>
          <a:bodyPr wrap="square" lIns="0" tIns="0" rIns="0" bIns="0" rtlCol="0" anchor="ctr"/>
          <a:lstStyle/>
          <a:p>
            <a:pPr algn="ctr" indent="0" marL="0">
              <a:buNone/>
            </a:pPr>
            <a:r>
              <a:rPr lang="en-US" sz="4800" b="1" dirty="0">
                <a:solidFill>
                  <a:srgbClr val="2D6F6B"/>
                </a:solidFill>
                <a:latin typeface="Aptos Mono" pitchFamily="34" charset="0"/>
                <a:ea typeface="Aptos Mono" pitchFamily="34" charset="-122"/>
                <a:cs typeface="Aptos Mono" pitchFamily="34" charset="-120"/>
              </a:rPr>
              <a:t>11₂</a:t>
            </a:r>
            <a:endParaRPr lang="en-US" sz="4800" dirty="0"/>
          </a:p>
        </p:txBody>
      </p:sp>
      <p:sp>
        <p:nvSpPr>
          <p:cNvPr id="10" name="Text 8"/>
          <p:cNvSpPr/>
          <p:nvPr/>
        </p:nvSpPr>
        <p:spPr>
          <a:xfrm>
            <a:off x="1325880" y="3246120"/>
            <a:ext cx="4114800" cy="114300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800" b="1" dirty="0">
                <a:solidFill>
                  <a:srgbClr val="2D6F6B"/>
                </a:solidFill>
                <a:latin typeface="Aptos" pitchFamily="34" charset="0"/>
                <a:ea typeface="Aptos" pitchFamily="34" charset="-122"/>
                <a:cs typeface="Aptos" pitchFamily="34" charset="-120"/>
              </a:rPr>
              <a:t>BIT DE SOMME</a:t>
            </a:r>
            <a:endParaRPr lang="en-US" sz="2800" dirty="0"/>
          </a:p>
          <a:p>
            <a:pPr indent="0" marL="0">
              <a:buNone/>
            </a:pPr>
            <a:r>
              <a:rPr lang="en-US" sz="2800" dirty="0">
                <a:solidFill>
                  <a:srgbClr val="222831"/>
                </a:solidFill>
                <a:latin typeface="Aptos" pitchFamily="34" charset="0"/>
                <a:ea typeface="Aptos" pitchFamily="34" charset="-122"/>
                <a:cs typeface="Aptos" pitchFamily="34" charset="-120"/>
              </a:rPr>
              <a:t>1</a:t>
            </a:r>
            <a:endParaRPr lang="en-US" sz="2800" dirty="0"/>
          </a:p>
        </p:txBody>
      </p:sp>
      <p:sp>
        <p:nvSpPr>
          <p:cNvPr id="11" name="Text 9"/>
          <p:cNvSpPr/>
          <p:nvPr/>
        </p:nvSpPr>
        <p:spPr>
          <a:xfrm>
            <a:off x="6400800" y="3246120"/>
            <a:ext cx="4114800" cy="114300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800" b="1" dirty="0">
                <a:solidFill>
                  <a:srgbClr val="B5792A"/>
                </a:solidFill>
                <a:latin typeface="Aptos" pitchFamily="34" charset="0"/>
                <a:ea typeface="Aptos" pitchFamily="34" charset="-122"/>
                <a:cs typeface="Aptos" pitchFamily="34" charset="-120"/>
              </a:rPr>
              <a:t>RETENUE SORTANTE</a:t>
            </a:r>
            <a:endParaRPr lang="en-US" sz="2800" dirty="0"/>
          </a:p>
          <a:p>
            <a:pPr indent="0" marL="0">
              <a:buNone/>
            </a:pPr>
            <a:r>
              <a:rPr lang="en-US" sz="2800" dirty="0">
                <a:solidFill>
                  <a:srgbClr val="222831"/>
                </a:solidFill>
                <a:latin typeface="Aptos" pitchFamily="34" charset="0"/>
                <a:ea typeface="Aptos" pitchFamily="34" charset="-122"/>
                <a:cs typeface="Aptos" pitchFamily="34" charset="-120"/>
              </a:rPr>
              <a:t>1</a:t>
            </a:r>
            <a:endParaRPr lang="en-US" sz="2800" dirty="0"/>
          </a:p>
        </p:txBody>
      </p:sp>
      <p:sp>
        <p:nvSpPr>
          <p:cNvPr id="12" name="Text 10"/>
          <p:cNvSpPr/>
          <p:nvPr/>
        </p:nvSpPr>
        <p:spPr>
          <a:xfrm>
            <a:off x="2057400" y="4992624"/>
            <a:ext cx="8046720" cy="429768"/>
          </a:xfrm>
          <a:prstGeom prst="rect">
            <a:avLst/>
          </a:prstGeom>
          <a:noFill/>
          <a:ln/>
        </p:spPr>
        <p:txBody>
          <a:bodyPr wrap="square" lIns="0" tIns="0" rIns="0" bIns="0" rtlCol="0" anchor="ctr"/>
          <a:lstStyle/>
          <a:p>
            <a:pPr algn="ctr" indent="0" marL="0">
              <a:buNone/>
            </a:pPr>
            <a:r>
              <a:rPr lang="en-US" sz="1900" dirty="0">
                <a:solidFill>
                  <a:srgbClr val="6B7178"/>
                </a:solidFill>
                <a:latin typeface="Aptos" pitchFamily="34" charset="0"/>
                <a:ea typeface="Aptos" pitchFamily="34" charset="-122"/>
                <a:cs typeface="Aptos" pitchFamily="34" charset="-120"/>
              </a:rPr>
              <a:t>À chaque colonne : A + B + retenue entrante.</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EXEMPLE GUIDÉ</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0101 + 0011</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21</a:t>
            </a:r>
            <a:endParaRPr lang="en-US" sz="820" dirty="0"/>
          </a:p>
        </p:txBody>
      </p:sp>
      <p:sp>
        <p:nvSpPr>
          <p:cNvPr id="7" name="Text 5"/>
          <p:cNvSpPr/>
          <p:nvPr/>
        </p:nvSpPr>
        <p:spPr>
          <a:xfrm>
            <a:off x="1280160" y="1874520"/>
            <a:ext cx="4114800" cy="384048"/>
          </a:xfrm>
          <a:prstGeom prst="rect">
            <a:avLst/>
          </a:prstGeom>
          <a:noFill/>
          <a:ln/>
        </p:spPr>
        <p:txBody>
          <a:bodyPr wrap="square" lIns="0" tIns="0" rIns="0" bIns="0" rtlCol="0" anchor="ctr"/>
          <a:lstStyle/>
          <a:p>
            <a:pPr algn="r" indent="0" marL="0">
              <a:buNone/>
            </a:pPr>
            <a:r>
              <a:rPr lang="en-US" sz="3400" b="1" dirty="0">
                <a:solidFill>
                  <a:srgbClr val="222831"/>
                </a:solidFill>
                <a:latin typeface="Aptos Mono" pitchFamily="34" charset="0"/>
                <a:ea typeface="Aptos Mono" pitchFamily="34" charset="-122"/>
                <a:cs typeface="Aptos Mono" pitchFamily="34" charset="-120"/>
              </a:rPr>
              <a:t>0101</a:t>
            </a:r>
            <a:endParaRPr lang="en-US" sz="3400" dirty="0"/>
          </a:p>
        </p:txBody>
      </p:sp>
      <p:sp>
        <p:nvSpPr>
          <p:cNvPr id="8" name="Text 6"/>
          <p:cNvSpPr/>
          <p:nvPr/>
        </p:nvSpPr>
        <p:spPr>
          <a:xfrm>
            <a:off x="1280160" y="2313432"/>
            <a:ext cx="4114800" cy="384048"/>
          </a:xfrm>
          <a:prstGeom prst="rect">
            <a:avLst/>
          </a:prstGeom>
          <a:noFill/>
          <a:ln/>
        </p:spPr>
        <p:txBody>
          <a:bodyPr wrap="square" lIns="0" tIns="0" rIns="0" bIns="0" rtlCol="0" anchor="ctr"/>
          <a:lstStyle/>
          <a:p>
            <a:pPr algn="r" indent="0" marL="0">
              <a:buNone/>
            </a:pPr>
            <a:r>
              <a:rPr lang="en-US" sz="3400" b="1" dirty="0">
                <a:solidFill>
                  <a:srgbClr val="222831"/>
                </a:solidFill>
                <a:latin typeface="Aptos Mono" pitchFamily="34" charset="0"/>
                <a:ea typeface="Aptos Mono" pitchFamily="34" charset="-122"/>
                <a:cs typeface="Aptos Mono" pitchFamily="34" charset="-120"/>
              </a:rPr>
              <a:t>+ 0011</a:t>
            </a:r>
            <a:endParaRPr lang="en-US" sz="3400" dirty="0"/>
          </a:p>
        </p:txBody>
      </p:sp>
      <p:sp>
        <p:nvSpPr>
          <p:cNvPr id="9" name="Shape 7"/>
          <p:cNvSpPr/>
          <p:nvPr/>
        </p:nvSpPr>
        <p:spPr>
          <a:xfrm>
            <a:off x="1600200" y="2770632"/>
            <a:ext cx="3794760" cy="0"/>
          </a:xfrm>
          <a:prstGeom prst="line">
            <a:avLst/>
          </a:prstGeom>
          <a:noFill/>
          <a:ln w="20320">
            <a:solidFill>
              <a:srgbClr val="222831"/>
            </a:solidFill>
            <a:prstDash val="solid"/>
          </a:ln>
        </p:spPr>
      </p:sp>
      <p:sp>
        <p:nvSpPr>
          <p:cNvPr id="10" name="Text 8"/>
          <p:cNvSpPr/>
          <p:nvPr/>
        </p:nvSpPr>
        <p:spPr>
          <a:xfrm>
            <a:off x="1280160" y="2852928"/>
            <a:ext cx="4114800" cy="384048"/>
          </a:xfrm>
          <a:prstGeom prst="rect">
            <a:avLst/>
          </a:prstGeom>
          <a:noFill/>
          <a:ln/>
        </p:spPr>
        <p:txBody>
          <a:bodyPr wrap="square" lIns="0" tIns="0" rIns="0" bIns="0" rtlCol="0" anchor="ctr"/>
          <a:lstStyle/>
          <a:p>
            <a:pPr algn="r" indent="0" marL="0">
              <a:buNone/>
            </a:pPr>
            <a:r>
              <a:rPr lang="en-US" sz="3400" b="1" dirty="0">
                <a:solidFill>
                  <a:srgbClr val="17324D"/>
                </a:solidFill>
                <a:latin typeface="Aptos Mono" pitchFamily="34" charset="0"/>
                <a:ea typeface="Aptos Mono" pitchFamily="34" charset="-122"/>
                <a:cs typeface="Aptos Mono" pitchFamily="34" charset="-120"/>
              </a:rPr>
              <a:t>1000</a:t>
            </a:r>
            <a:endParaRPr lang="en-US" sz="3400" dirty="0"/>
          </a:p>
        </p:txBody>
      </p:sp>
      <p:sp>
        <p:nvSpPr>
          <p:cNvPr id="11" name="Text 9"/>
          <p:cNvSpPr/>
          <p:nvPr/>
        </p:nvSpPr>
        <p:spPr>
          <a:xfrm>
            <a:off x="5989320" y="1783080"/>
            <a:ext cx="4480560" cy="411480"/>
          </a:xfrm>
          <a:prstGeom prst="rect">
            <a:avLst/>
          </a:prstGeom>
          <a:noFill/>
          <a:ln/>
        </p:spPr>
        <p:txBody>
          <a:bodyPr wrap="square" lIns="0" tIns="0" rIns="0" bIns="0" rtlCol="0" anchor="ctr"/>
          <a:lstStyle/>
          <a:p>
            <a:pPr indent="0" marL="0">
              <a:buNone/>
            </a:pPr>
            <a:r>
              <a:rPr lang="en-US" sz="2000" b="1" dirty="0">
                <a:solidFill>
                  <a:srgbClr val="17324D"/>
                </a:solidFill>
                <a:latin typeface="Aptos" pitchFamily="34" charset="0"/>
                <a:ea typeface="Aptos" pitchFamily="34" charset="-122"/>
                <a:cs typeface="Aptos" pitchFamily="34" charset="-120"/>
              </a:rPr>
              <a:t>Travaillez de droite à gauche.</a:t>
            </a:r>
            <a:endParaRPr lang="en-US" sz="2000" dirty="0"/>
          </a:p>
        </p:txBody>
      </p:sp>
      <p:sp>
        <p:nvSpPr>
          <p:cNvPr id="12" name="Text 10"/>
          <p:cNvSpPr/>
          <p:nvPr/>
        </p:nvSpPr>
        <p:spPr>
          <a:xfrm>
            <a:off x="5989320" y="2377440"/>
            <a:ext cx="4892040" cy="2194560"/>
          </a:xfrm>
          <a:prstGeom prst="rect">
            <a:avLst/>
          </a:prstGeom>
          <a:solidFill>
            <a:srgbClr val="F5F1EA"/>
          </a:solidFill>
          <a:ln>
            <a:solidFill>
              <a:srgbClr val="CEC9BF"/>
            </a:solidFill>
          </a:ln>
        </p:spPr>
        <p:txBody>
          <a:bodyPr wrap="square" lIns="2286" tIns="2286" rIns="2286" bIns="2286" rtlCol="0" anchor="ctr"/>
          <a:lstStyle/>
          <a:p>
            <a:pPr indent="0" marL="0">
              <a:buNone/>
            </a:pPr>
            <a:r>
              <a:rPr lang="en-US" sz="1800" dirty="0">
                <a:solidFill>
                  <a:srgbClr val="222831"/>
                </a:solidFill>
                <a:latin typeface="Aptos Mono" pitchFamily="34" charset="0"/>
                <a:ea typeface="Aptos Mono" pitchFamily="34" charset="-122"/>
                <a:cs typeface="Aptos Mono" pitchFamily="34" charset="-120"/>
              </a:rPr>
              <a:t>colonne 0 : 1 + 1 → 0, retenue 1</a:t>
            </a:r>
            <a:endParaRPr lang="en-US" sz="1800" dirty="0"/>
          </a:p>
          <a:p>
            <a:pPr indent="0" marL="0">
              <a:buNone/>
            </a:pPr>
            <a:r>
              <a:rPr lang="en-US" sz="1800" dirty="0">
                <a:solidFill>
                  <a:srgbClr val="222831"/>
                </a:solidFill>
                <a:latin typeface="Aptos Mono" pitchFamily="34" charset="0"/>
                <a:ea typeface="Aptos Mono" pitchFamily="34" charset="-122"/>
                <a:cs typeface="Aptos Mono" pitchFamily="34" charset="-120"/>
              </a:rPr>
              <a:t>colonne 1 : 0 + 1 + 1 → 0, retenue 1</a:t>
            </a:r>
            <a:endParaRPr lang="en-US" sz="1800" dirty="0"/>
          </a:p>
          <a:p>
            <a:pPr indent="0" marL="0">
              <a:buNone/>
            </a:pPr>
            <a:r>
              <a:rPr lang="en-US" sz="1800" dirty="0">
                <a:solidFill>
                  <a:srgbClr val="222831"/>
                </a:solidFill>
                <a:latin typeface="Aptos Mono" pitchFamily="34" charset="0"/>
                <a:ea typeface="Aptos Mono" pitchFamily="34" charset="-122"/>
                <a:cs typeface="Aptos Mono" pitchFamily="34" charset="-120"/>
              </a:rPr>
              <a:t>colonne 2 : 1 + 0 + 1 → 0, retenue 1</a:t>
            </a:r>
            <a:endParaRPr lang="en-US" sz="1800" dirty="0"/>
          </a:p>
          <a:p>
            <a:pPr indent="0" marL="0">
              <a:buNone/>
            </a:pPr>
            <a:r>
              <a:rPr lang="en-US" sz="1800" dirty="0">
                <a:solidFill>
                  <a:srgbClr val="222831"/>
                </a:solidFill>
                <a:latin typeface="Aptos Mono" pitchFamily="34" charset="0"/>
                <a:ea typeface="Aptos Mono" pitchFamily="34" charset="-122"/>
                <a:cs typeface="Aptos Mono" pitchFamily="34" charset="-120"/>
              </a:rPr>
              <a:t>colonne 3 : 0 + 0 + 1 → 1, retenue 0</a:t>
            </a:r>
            <a:endParaRPr lang="en-US" sz="1800" dirty="0"/>
          </a:p>
        </p:txBody>
      </p:sp>
      <p:sp>
        <p:nvSpPr>
          <p:cNvPr id="13" name="Text 11"/>
          <p:cNvSpPr/>
          <p:nvPr/>
        </p:nvSpPr>
        <p:spPr>
          <a:xfrm>
            <a:off x="1280160" y="4800600"/>
            <a:ext cx="9555480" cy="502920"/>
          </a:xfrm>
          <a:prstGeom prst="rect">
            <a:avLst/>
          </a:prstGeom>
          <a:noFill/>
          <a:ln/>
        </p:spPr>
        <p:txBody>
          <a:bodyPr wrap="square" lIns="0" tIns="0" rIns="0" bIns="0" rtlCol="0" anchor="ctr"/>
          <a:lstStyle/>
          <a:p>
            <a:pPr algn="ctr" indent="0" marL="0">
              <a:buNone/>
            </a:pPr>
            <a:r>
              <a:rPr lang="en-US" sz="2100" b="1" dirty="0">
                <a:solidFill>
                  <a:srgbClr val="2D6F6B"/>
                </a:solidFill>
                <a:latin typeface="Aptos" pitchFamily="34" charset="0"/>
                <a:ea typeface="Aptos" pitchFamily="34" charset="-122"/>
                <a:cs typeface="Aptos" pitchFamily="34" charset="-120"/>
              </a:rPr>
              <a:t>Somme = 1000₂ = 8₁₀  •  aucune retenue finale</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MÉCANISME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La retenue voyage vers la gauche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22</a:t>
            </a:r>
            <a:endParaRPr lang="en-US" sz="820" dirty="0"/>
          </a:p>
        </p:txBody>
      </p:sp>
      <p:sp>
        <p:nvSpPr>
          <p:cNvPr id="7" name="Text 5"/>
          <p:cNvSpPr/>
          <p:nvPr/>
        </p:nvSpPr>
        <p:spPr>
          <a:xfrm>
            <a:off x="914400" y="1847088"/>
            <a:ext cx="2148840" cy="201168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COLONNE 0</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1 + 1</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bit = 0</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retenue → 1</a:t>
            </a:r>
            <a:endParaRPr lang="en-US" sz="1800" dirty="0"/>
          </a:p>
        </p:txBody>
      </p:sp>
      <p:sp>
        <p:nvSpPr>
          <p:cNvPr id="8" name="Shape 6"/>
          <p:cNvSpPr/>
          <p:nvPr/>
        </p:nvSpPr>
        <p:spPr>
          <a:xfrm>
            <a:off x="3072384" y="2807208"/>
            <a:ext cx="384048" cy="0"/>
          </a:xfrm>
          <a:prstGeom prst="line">
            <a:avLst/>
          </a:prstGeom>
          <a:noFill/>
          <a:ln w="31750">
            <a:solidFill>
              <a:srgbClr val="B5792A"/>
            </a:solidFill>
            <a:prstDash val="solid"/>
            <a:headEnd type="none"/>
            <a:tailEnd type="triangle"/>
          </a:ln>
        </p:spPr>
      </p:sp>
      <p:sp>
        <p:nvSpPr>
          <p:cNvPr id="9" name="Text 7"/>
          <p:cNvSpPr/>
          <p:nvPr/>
        </p:nvSpPr>
        <p:spPr>
          <a:xfrm>
            <a:off x="3337560" y="1847088"/>
            <a:ext cx="2148840" cy="201168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COLONNE 1</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0 + 1 + 1</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bit = 0</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retenue → 1</a:t>
            </a:r>
            <a:endParaRPr lang="en-US" sz="1800" dirty="0"/>
          </a:p>
        </p:txBody>
      </p:sp>
      <p:sp>
        <p:nvSpPr>
          <p:cNvPr id="10" name="Shape 8"/>
          <p:cNvSpPr/>
          <p:nvPr/>
        </p:nvSpPr>
        <p:spPr>
          <a:xfrm>
            <a:off x="5495544" y="2807208"/>
            <a:ext cx="384048" cy="0"/>
          </a:xfrm>
          <a:prstGeom prst="line">
            <a:avLst/>
          </a:prstGeom>
          <a:noFill/>
          <a:ln w="31750">
            <a:solidFill>
              <a:srgbClr val="B5792A"/>
            </a:solidFill>
            <a:prstDash val="solid"/>
            <a:headEnd type="none"/>
            <a:tailEnd type="triangle"/>
          </a:ln>
        </p:spPr>
      </p:sp>
      <p:sp>
        <p:nvSpPr>
          <p:cNvPr id="11" name="Text 9"/>
          <p:cNvSpPr/>
          <p:nvPr/>
        </p:nvSpPr>
        <p:spPr>
          <a:xfrm>
            <a:off x="5760720" y="1847088"/>
            <a:ext cx="2148840" cy="201168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COLONNE 2</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1 + 0 + 1</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bit = 0</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retenue → 1</a:t>
            </a:r>
            <a:endParaRPr lang="en-US" sz="1800" dirty="0"/>
          </a:p>
        </p:txBody>
      </p:sp>
      <p:sp>
        <p:nvSpPr>
          <p:cNvPr id="12" name="Shape 10"/>
          <p:cNvSpPr/>
          <p:nvPr/>
        </p:nvSpPr>
        <p:spPr>
          <a:xfrm>
            <a:off x="7918704" y="2807208"/>
            <a:ext cx="384048" cy="0"/>
          </a:xfrm>
          <a:prstGeom prst="line">
            <a:avLst/>
          </a:prstGeom>
          <a:noFill/>
          <a:ln w="31750">
            <a:solidFill>
              <a:srgbClr val="B5792A"/>
            </a:solidFill>
            <a:prstDash val="solid"/>
            <a:headEnd type="none"/>
            <a:tailEnd type="triangle"/>
          </a:ln>
        </p:spPr>
      </p:sp>
      <p:sp>
        <p:nvSpPr>
          <p:cNvPr id="13" name="Text 11"/>
          <p:cNvSpPr/>
          <p:nvPr/>
        </p:nvSpPr>
        <p:spPr>
          <a:xfrm>
            <a:off x="8183880" y="1847088"/>
            <a:ext cx="2148840" cy="201168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1800" b="1" dirty="0">
                <a:solidFill>
                  <a:srgbClr val="2D6F6B"/>
                </a:solidFill>
                <a:latin typeface="Aptos" pitchFamily="34" charset="0"/>
                <a:ea typeface="Aptos" pitchFamily="34" charset="-122"/>
                <a:cs typeface="Aptos" pitchFamily="34" charset="-120"/>
              </a:rPr>
              <a:t>COLONNE 3</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0 + 0 + 1</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bit = 1</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retenue → 0</a:t>
            </a:r>
            <a:endParaRPr lang="en-US" sz="1800" dirty="0"/>
          </a:p>
        </p:txBody>
      </p:sp>
      <p:sp>
        <p:nvSpPr>
          <p:cNvPr id="14" name="Text 12"/>
          <p:cNvSpPr/>
          <p:nvPr/>
        </p:nvSpPr>
        <p:spPr>
          <a:xfrm>
            <a:off x="1325880" y="4709160"/>
            <a:ext cx="9509760" cy="640080"/>
          </a:xfrm>
          <a:prstGeom prst="rect">
            <a:avLst/>
          </a:prstGeom>
          <a:noFill/>
          <a:ln/>
        </p:spPr>
        <p:txBody>
          <a:bodyPr wrap="square" lIns="0" tIns="0" rIns="0" bIns="0" rtlCol="0" anchor="ctr"/>
          <a:lstStyle/>
          <a:p>
            <a:pPr algn="ctr" indent="0" marL="0">
              <a:buNone/>
            </a:pPr>
            <a:r>
              <a:rPr lang="en-US" sz="2100" b="1" dirty="0">
                <a:solidFill>
                  <a:srgbClr val="B5792A"/>
                </a:solidFill>
                <a:latin typeface="Aptos" pitchFamily="34" charset="0"/>
                <a:ea typeface="Aptos" pitchFamily="34" charset="-122"/>
                <a:cs typeface="Aptos" pitchFamily="34" charset="-120"/>
              </a:rPr>
              <a:t>La « retenue finale » n’est que la retenue qui sort de la position la plus significative.</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EXEMPLE GUIDÉ</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1110 + 0101</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23</a:t>
            </a:r>
            <a:endParaRPr lang="en-US" sz="820" dirty="0"/>
          </a:p>
        </p:txBody>
      </p:sp>
      <p:sp>
        <p:nvSpPr>
          <p:cNvPr id="7" name="Text 5"/>
          <p:cNvSpPr/>
          <p:nvPr/>
        </p:nvSpPr>
        <p:spPr>
          <a:xfrm>
            <a:off x="1234440" y="1792224"/>
            <a:ext cx="4389120" cy="384048"/>
          </a:xfrm>
          <a:prstGeom prst="rect">
            <a:avLst/>
          </a:prstGeom>
          <a:noFill/>
          <a:ln/>
        </p:spPr>
        <p:txBody>
          <a:bodyPr wrap="square" lIns="0" tIns="0" rIns="0" bIns="0" rtlCol="0" anchor="ctr"/>
          <a:lstStyle/>
          <a:p>
            <a:pPr algn="r" indent="0" marL="0">
              <a:buNone/>
            </a:pPr>
            <a:r>
              <a:rPr lang="en-US" sz="3400" b="1" dirty="0">
                <a:solidFill>
                  <a:srgbClr val="222831"/>
                </a:solidFill>
                <a:latin typeface="Aptos Mono" pitchFamily="34" charset="0"/>
                <a:ea typeface="Aptos Mono" pitchFamily="34" charset="-122"/>
                <a:cs typeface="Aptos Mono" pitchFamily="34" charset="-120"/>
              </a:rPr>
              <a:t>1110</a:t>
            </a:r>
            <a:endParaRPr lang="en-US" sz="3400" dirty="0"/>
          </a:p>
        </p:txBody>
      </p:sp>
      <p:sp>
        <p:nvSpPr>
          <p:cNvPr id="8" name="Text 6"/>
          <p:cNvSpPr/>
          <p:nvPr/>
        </p:nvSpPr>
        <p:spPr>
          <a:xfrm>
            <a:off x="1234440" y="2231136"/>
            <a:ext cx="4389120" cy="384048"/>
          </a:xfrm>
          <a:prstGeom prst="rect">
            <a:avLst/>
          </a:prstGeom>
          <a:noFill/>
          <a:ln/>
        </p:spPr>
        <p:txBody>
          <a:bodyPr wrap="square" lIns="0" tIns="0" rIns="0" bIns="0" rtlCol="0" anchor="ctr"/>
          <a:lstStyle/>
          <a:p>
            <a:pPr algn="r" indent="0" marL="0">
              <a:buNone/>
            </a:pPr>
            <a:r>
              <a:rPr lang="en-US" sz="3400" b="1" dirty="0">
                <a:solidFill>
                  <a:srgbClr val="222831"/>
                </a:solidFill>
                <a:latin typeface="Aptos Mono" pitchFamily="34" charset="0"/>
                <a:ea typeface="Aptos Mono" pitchFamily="34" charset="-122"/>
                <a:cs typeface="Aptos Mono" pitchFamily="34" charset="-120"/>
              </a:rPr>
              <a:t>+ 0101</a:t>
            </a:r>
            <a:endParaRPr lang="en-US" sz="3400" dirty="0"/>
          </a:p>
        </p:txBody>
      </p:sp>
      <p:sp>
        <p:nvSpPr>
          <p:cNvPr id="9" name="Shape 7"/>
          <p:cNvSpPr/>
          <p:nvPr/>
        </p:nvSpPr>
        <p:spPr>
          <a:xfrm>
            <a:off x="1554480" y="2688336"/>
            <a:ext cx="4069080" cy="0"/>
          </a:xfrm>
          <a:prstGeom prst="line">
            <a:avLst/>
          </a:prstGeom>
          <a:noFill/>
          <a:ln w="20320">
            <a:solidFill>
              <a:srgbClr val="222831"/>
            </a:solidFill>
            <a:prstDash val="solid"/>
          </a:ln>
        </p:spPr>
      </p:sp>
      <p:sp>
        <p:nvSpPr>
          <p:cNvPr id="10" name="Text 8"/>
          <p:cNvSpPr/>
          <p:nvPr/>
        </p:nvSpPr>
        <p:spPr>
          <a:xfrm>
            <a:off x="1234440" y="2770632"/>
            <a:ext cx="4389120" cy="384048"/>
          </a:xfrm>
          <a:prstGeom prst="rect">
            <a:avLst/>
          </a:prstGeom>
          <a:noFill/>
          <a:ln/>
        </p:spPr>
        <p:txBody>
          <a:bodyPr wrap="square" lIns="0" tIns="0" rIns="0" bIns="0" rtlCol="0" anchor="ctr"/>
          <a:lstStyle/>
          <a:p>
            <a:pPr algn="r" indent="0" marL="0">
              <a:buNone/>
            </a:pPr>
            <a:r>
              <a:rPr lang="en-US" sz="3400" b="1" dirty="0">
                <a:solidFill>
                  <a:srgbClr val="B5792A"/>
                </a:solidFill>
                <a:latin typeface="Aptos Mono" pitchFamily="34" charset="0"/>
                <a:ea typeface="Aptos Mono" pitchFamily="34" charset="-122"/>
                <a:cs typeface="Aptos Mono" pitchFamily="34" charset="-120"/>
              </a:rPr>
              <a:t>10011</a:t>
            </a:r>
            <a:endParaRPr lang="en-US" sz="3400" dirty="0"/>
          </a:p>
        </p:txBody>
      </p:sp>
      <p:sp>
        <p:nvSpPr>
          <p:cNvPr id="11" name="Text 9"/>
          <p:cNvSpPr/>
          <p:nvPr/>
        </p:nvSpPr>
        <p:spPr>
          <a:xfrm>
            <a:off x="6053328" y="1719072"/>
            <a:ext cx="4572000" cy="1078992"/>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200" b="1" dirty="0">
                <a:solidFill>
                  <a:srgbClr val="B5792A"/>
                </a:solidFill>
                <a:latin typeface="Aptos" pitchFamily="34" charset="0"/>
                <a:ea typeface="Aptos" pitchFamily="34" charset="-122"/>
                <a:cs typeface="Aptos" pitchFamily="34" charset="-120"/>
              </a:rPr>
              <a:t>SOMME MATHÉMATIQUE</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10011₂ = 19₁₀</a:t>
            </a:r>
            <a:endParaRPr lang="en-US" sz="2200" dirty="0"/>
          </a:p>
        </p:txBody>
      </p:sp>
      <p:sp>
        <p:nvSpPr>
          <p:cNvPr id="12" name="Text 10"/>
          <p:cNvSpPr/>
          <p:nvPr/>
        </p:nvSpPr>
        <p:spPr>
          <a:xfrm>
            <a:off x="6053328" y="3035808"/>
            <a:ext cx="4572000" cy="1078992"/>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500" b="1" dirty="0">
                <a:solidFill>
                  <a:srgbClr val="2D6F6B"/>
                </a:solidFill>
                <a:latin typeface="Aptos" pitchFamily="34" charset="0"/>
                <a:ea typeface="Aptos" pitchFamily="34" charset="-122"/>
                <a:cs typeface="Aptos" pitchFamily="34" charset="-120"/>
              </a:rPr>
              <a:t>DESTINATION 4 BITS</a:t>
            </a:r>
            <a:endParaRPr lang="en-US" sz="2500" dirty="0"/>
          </a:p>
          <a:p>
            <a:pPr indent="0" marL="0">
              <a:buNone/>
            </a:pPr>
            <a:r>
              <a:rPr lang="en-US" sz="2500" dirty="0">
                <a:solidFill>
                  <a:srgbClr val="222831"/>
                </a:solidFill>
                <a:latin typeface="Aptos" pitchFamily="34" charset="0"/>
                <a:ea typeface="Aptos" pitchFamily="34" charset="-122"/>
                <a:cs typeface="Aptos" pitchFamily="34" charset="-120"/>
              </a:rPr>
              <a:t>0011</a:t>
            </a:r>
            <a:endParaRPr lang="en-US" sz="2500" dirty="0"/>
          </a:p>
        </p:txBody>
      </p:sp>
      <p:sp>
        <p:nvSpPr>
          <p:cNvPr id="13" name="Text 11"/>
          <p:cNvSpPr/>
          <p:nvPr/>
        </p:nvSpPr>
        <p:spPr>
          <a:xfrm>
            <a:off x="6080760" y="4462272"/>
            <a:ext cx="4526280" cy="457200"/>
          </a:xfrm>
          <a:prstGeom prst="rect">
            <a:avLst/>
          </a:prstGeom>
          <a:noFill/>
          <a:ln/>
        </p:spPr>
        <p:txBody>
          <a:bodyPr wrap="square" lIns="0" tIns="0" rIns="0" bIns="0" rtlCol="0" anchor="ctr"/>
          <a:lstStyle/>
          <a:p>
            <a:pPr algn="ctr" indent="0" marL="0">
              <a:buNone/>
            </a:pPr>
            <a:r>
              <a:rPr lang="en-US" sz="2000" b="1" dirty="0">
                <a:solidFill>
                  <a:srgbClr val="17324D"/>
                </a:solidFill>
                <a:latin typeface="Aptos" pitchFamily="34" charset="0"/>
                <a:ea typeface="Aptos" pitchFamily="34" charset="-122"/>
                <a:cs typeface="Aptos" pitchFamily="34" charset="-120"/>
              </a:rPr>
              <a:t>Le bit qui dépasse = retenue finale 1.</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LARGEUR FIXE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Somme complète ≠ résultat conservé</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24</a:t>
            </a:r>
            <a:endParaRPr lang="en-US" sz="820" dirty="0"/>
          </a:p>
        </p:txBody>
      </p:sp>
      <p:sp>
        <p:nvSpPr>
          <p:cNvPr id="7" name="Text 5"/>
          <p:cNvSpPr/>
          <p:nvPr/>
        </p:nvSpPr>
        <p:spPr>
          <a:xfrm>
            <a:off x="868680" y="1920240"/>
            <a:ext cx="4023360" cy="868680"/>
          </a:xfrm>
          <a:prstGeom prst="rect">
            <a:avLst/>
          </a:prstGeom>
          <a:noFill/>
          <a:ln/>
        </p:spPr>
        <p:txBody>
          <a:bodyPr wrap="square" lIns="0" tIns="0" rIns="0" bIns="0" rtlCol="0" anchor="ctr"/>
          <a:lstStyle/>
          <a:p>
            <a:pPr algn="ctr" indent="0" marL="0">
              <a:buNone/>
            </a:pPr>
            <a:r>
              <a:rPr lang="en-US" sz="4600" b="1" dirty="0">
                <a:solidFill>
                  <a:srgbClr val="B5792A"/>
                </a:solidFill>
                <a:latin typeface="Aptos Mono" pitchFamily="34" charset="0"/>
                <a:ea typeface="Aptos Mono" pitchFamily="34" charset="-122"/>
                <a:cs typeface="Aptos Mono" pitchFamily="34" charset="-120"/>
              </a:rPr>
              <a:t>10011</a:t>
            </a:r>
            <a:endParaRPr lang="en-US" sz="4600" dirty="0"/>
          </a:p>
        </p:txBody>
      </p:sp>
      <p:sp>
        <p:nvSpPr>
          <p:cNvPr id="8" name="Text 6"/>
          <p:cNvSpPr/>
          <p:nvPr/>
        </p:nvSpPr>
        <p:spPr>
          <a:xfrm>
            <a:off x="868680" y="2834640"/>
            <a:ext cx="4023360" cy="365760"/>
          </a:xfrm>
          <a:prstGeom prst="rect">
            <a:avLst/>
          </a:prstGeom>
          <a:noFill/>
          <a:ln/>
        </p:spPr>
        <p:txBody>
          <a:bodyPr wrap="square" lIns="0" tIns="0" rIns="0" bIns="0" rtlCol="0" anchor="ctr"/>
          <a:lstStyle/>
          <a:p>
            <a:pPr algn="ctr" indent="0" marL="0">
              <a:buNone/>
            </a:pPr>
            <a:r>
              <a:rPr lang="en-US" sz="1700" dirty="0">
                <a:solidFill>
                  <a:srgbClr val="6B7178"/>
                </a:solidFill>
                <a:latin typeface="Aptos" pitchFamily="34" charset="0"/>
                <a:ea typeface="Aptos" pitchFamily="34" charset="-122"/>
                <a:cs typeface="Aptos" pitchFamily="34" charset="-120"/>
              </a:rPr>
              <a:t>somme complète</a:t>
            </a:r>
            <a:endParaRPr lang="en-US" sz="1700" dirty="0"/>
          </a:p>
        </p:txBody>
      </p:sp>
      <p:sp>
        <p:nvSpPr>
          <p:cNvPr id="9" name="Shape 7"/>
          <p:cNvSpPr/>
          <p:nvPr/>
        </p:nvSpPr>
        <p:spPr>
          <a:xfrm>
            <a:off x="4709160" y="2340864"/>
            <a:ext cx="914400" cy="0"/>
          </a:xfrm>
          <a:prstGeom prst="line">
            <a:avLst/>
          </a:prstGeom>
          <a:noFill/>
          <a:ln w="38100">
            <a:solidFill>
              <a:srgbClr val="B5792A"/>
            </a:solidFill>
            <a:prstDash val="solid"/>
            <a:headEnd type="none"/>
            <a:tailEnd type="triangle"/>
          </a:ln>
        </p:spPr>
      </p:sp>
      <p:sp>
        <p:nvSpPr>
          <p:cNvPr id="10" name="Text 8"/>
          <p:cNvSpPr/>
          <p:nvPr/>
        </p:nvSpPr>
        <p:spPr>
          <a:xfrm>
            <a:off x="5806440" y="1920240"/>
            <a:ext cx="3017520" cy="868680"/>
          </a:xfrm>
          <a:prstGeom prst="rect">
            <a:avLst/>
          </a:prstGeom>
          <a:solidFill>
            <a:srgbClr val="DCECE9"/>
          </a:solidFill>
          <a:ln>
            <a:solidFill>
              <a:srgbClr val="2D6F6B"/>
            </a:solidFill>
          </a:ln>
        </p:spPr>
        <p:txBody>
          <a:bodyPr wrap="square" lIns="0" tIns="0" rIns="0" bIns="0" rtlCol="0" anchor="ctr"/>
          <a:lstStyle/>
          <a:p>
            <a:pPr algn="ctr" indent="0" marL="0">
              <a:buNone/>
            </a:pPr>
            <a:r>
              <a:rPr lang="en-US" sz="4600" b="1" dirty="0">
                <a:solidFill>
                  <a:srgbClr val="2D6F6B"/>
                </a:solidFill>
                <a:latin typeface="Aptos Mono" pitchFamily="34" charset="0"/>
                <a:ea typeface="Aptos Mono" pitchFamily="34" charset="-122"/>
                <a:cs typeface="Aptos Mono" pitchFamily="34" charset="-120"/>
              </a:rPr>
              <a:t>0011</a:t>
            </a:r>
            <a:endParaRPr lang="en-US" sz="4600" dirty="0"/>
          </a:p>
        </p:txBody>
      </p:sp>
      <p:sp>
        <p:nvSpPr>
          <p:cNvPr id="11" name="Text 9"/>
          <p:cNvSpPr/>
          <p:nvPr/>
        </p:nvSpPr>
        <p:spPr>
          <a:xfrm>
            <a:off x="5806440" y="2834640"/>
            <a:ext cx="3017520" cy="365760"/>
          </a:xfrm>
          <a:prstGeom prst="rect">
            <a:avLst/>
          </a:prstGeom>
          <a:noFill/>
          <a:ln/>
        </p:spPr>
        <p:txBody>
          <a:bodyPr wrap="square" lIns="0" tIns="0" rIns="0" bIns="0" rtlCol="0" anchor="ctr"/>
          <a:lstStyle/>
          <a:p>
            <a:pPr algn="ctr" indent="0" marL="0">
              <a:buNone/>
            </a:pPr>
            <a:r>
              <a:rPr lang="en-US" sz="1700" dirty="0">
                <a:solidFill>
                  <a:srgbClr val="6B7178"/>
                </a:solidFill>
                <a:latin typeface="Aptos" pitchFamily="34" charset="0"/>
                <a:ea typeface="Aptos" pitchFamily="34" charset="-122"/>
                <a:cs typeface="Aptos" pitchFamily="34" charset="-120"/>
              </a:rPr>
              <a:t>résultat conservé</a:t>
            </a:r>
            <a:endParaRPr lang="en-US" sz="1700" dirty="0"/>
          </a:p>
        </p:txBody>
      </p:sp>
      <p:sp>
        <p:nvSpPr>
          <p:cNvPr id="12" name="Text 10"/>
          <p:cNvSpPr/>
          <p:nvPr/>
        </p:nvSpPr>
        <p:spPr>
          <a:xfrm>
            <a:off x="9491472" y="1920240"/>
            <a:ext cx="1234440" cy="868680"/>
          </a:xfrm>
          <a:prstGeom prst="rect">
            <a:avLst/>
          </a:prstGeom>
          <a:solidFill>
            <a:srgbClr val="F2E4CE"/>
          </a:solidFill>
          <a:ln>
            <a:solidFill>
              <a:srgbClr val="B5792A"/>
            </a:solidFill>
          </a:ln>
        </p:spPr>
        <p:txBody>
          <a:bodyPr wrap="square" lIns="0" tIns="0" rIns="0" bIns="0" rtlCol="0" anchor="ctr"/>
          <a:lstStyle/>
          <a:p>
            <a:pPr algn="ctr" indent="0" marL="0">
              <a:buNone/>
            </a:pPr>
            <a:r>
              <a:rPr lang="en-US" sz="4600" b="1" dirty="0">
                <a:solidFill>
                  <a:srgbClr val="B5792A"/>
                </a:solidFill>
                <a:latin typeface="Aptos Mono" pitchFamily="34" charset="0"/>
                <a:ea typeface="Aptos Mono" pitchFamily="34" charset="-122"/>
                <a:cs typeface="Aptos Mono" pitchFamily="34" charset="-120"/>
              </a:rPr>
              <a:t>1</a:t>
            </a:r>
            <a:endParaRPr lang="en-US" sz="4600" dirty="0"/>
          </a:p>
        </p:txBody>
      </p:sp>
      <p:sp>
        <p:nvSpPr>
          <p:cNvPr id="13" name="Text 11"/>
          <p:cNvSpPr/>
          <p:nvPr/>
        </p:nvSpPr>
        <p:spPr>
          <a:xfrm>
            <a:off x="9070848" y="2834640"/>
            <a:ext cx="2103120" cy="365760"/>
          </a:xfrm>
          <a:prstGeom prst="rect">
            <a:avLst/>
          </a:prstGeom>
          <a:noFill/>
          <a:ln/>
        </p:spPr>
        <p:txBody>
          <a:bodyPr wrap="square" lIns="0" tIns="0" rIns="0" bIns="0" rtlCol="0" anchor="ctr"/>
          <a:lstStyle/>
          <a:p>
            <a:pPr algn="ctr" indent="0" marL="0">
              <a:buNone/>
            </a:pPr>
            <a:r>
              <a:rPr lang="en-US" sz="1700" dirty="0">
                <a:solidFill>
                  <a:srgbClr val="6B7178"/>
                </a:solidFill>
                <a:latin typeface="Aptos" pitchFamily="34" charset="0"/>
                <a:ea typeface="Aptos" pitchFamily="34" charset="-122"/>
                <a:cs typeface="Aptos" pitchFamily="34" charset="-120"/>
              </a:rPr>
              <a:t>retenue finale</a:t>
            </a:r>
            <a:endParaRPr lang="en-US" sz="1700" dirty="0"/>
          </a:p>
        </p:txBody>
      </p:sp>
      <p:sp>
        <p:nvSpPr>
          <p:cNvPr id="14" name="Text 12"/>
          <p:cNvSpPr/>
          <p:nvPr/>
        </p:nvSpPr>
        <p:spPr>
          <a:xfrm>
            <a:off x="1143000" y="4224528"/>
            <a:ext cx="9875520" cy="749808"/>
          </a:xfrm>
          <a:prstGeom prst="rect">
            <a:avLst/>
          </a:prstGeom>
          <a:solidFill>
            <a:srgbClr val="EEE9E1"/>
          </a:solidFill>
          <a:ln>
            <a:solidFill>
              <a:srgbClr val="CEC9BF"/>
            </a:solidFill>
          </a:ln>
        </p:spPr>
        <p:txBody>
          <a:bodyPr wrap="square" lIns="1905" tIns="1905" rIns="1905" bIns="1905" rtlCol="0" anchor="ctr"/>
          <a:lstStyle/>
          <a:p>
            <a:pPr algn="ctr" indent="0" marL="0">
              <a:buNone/>
            </a:pPr>
            <a:r>
              <a:rPr lang="en-US" sz="2300" b="1" dirty="0">
                <a:solidFill>
                  <a:srgbClr val="17324D"/>
                </a:solidFill>
                <a:latin typeface="Aptos" pitchFamily="34" charset="0"/>
                <a:ea typeface="Aptos" pitchFamily="34" charset="-122"/>
                <a:cs typeface="Aptos" pitchFamily="34" charset="-120"/>
              </a:rPr>
              <a:t>Règle : une destination de n bits conserve les n bits les moins significatifs.</a:t>
            </a:r>
            <a:endParaRPr lang="en-US" sz="2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ERREUR FRÉQUENTE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Retenue intermédiaire ≠ retenue finale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25</a:t>
            </a:r>
            <a:endParaRPr lang="en-US" sz="820" dirty="0"/>
          </a:p>
        </p:txBody>
      </p:sp>
      <p:sp>
        <p:nvSpPr>
          <p:cNvPr id="7" name="Text 5"/>
          <p:cNvSpPr/>
          <p:nvPr/>
        </p:nvSpPr>
        <p:spPr>
          <a:xfrm>
            <a:off x="822960" y="1783080"/>
            <a:ext cx="4983480" cy="192024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2100" b="1" dirty="0">
                <a:solidFill>
                  <a:srgbClr val="17324D"/>
                </a:solidFill>
                <a:latin typeface="Aptos" pitchFamily="34" charset="0"/>
                <a:ea typeface="Aptos" pitchFamily="34" charset="-122"/>
                <a:cs typeface="Aptos" pitchFamily="34" charset="-120"/>
              </a:rPr>
              <a:t>RETENUES INTERMÉDIAIRES</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elles circulent entre les colonnes pendant l’addition.</a:t>
            </a:r>
            <a:endParaRPr lang="en-US" sz="2100" dirty="0"/>
          </a:p>
        </p:txBody>
      </p:sp>
      <p:sp>
        <p:nvSpPr>
          <p:cNvPr id="8" name="Text 6"/>
          <p:cNvSpPr/>
          <p:nvPr/>
        </p:nvSpPr>
        <p:spPr>
          <a:xfrm>
            <a:off x="6355080" y="1783080"/>
            <a:ext cx="4983480" cy="192024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100" b="1" dirty="0">
                <a:solidFill>
                  <a:srgbClr val="B5792A"/>
                </a:solidFill>
                <a:latin typeface="Aptos" pitchFamily="34" charset="0"/>
                <a:ea typeface="Aptos" pitchFamily="34" charset="-122"/>
                <a:cs typeface="Aptos" pitchFamily="34" charset="-120"/>
              </a:rPr>
              <a:t>RETENUE FINALE</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c’est uniquement celle qui sort de la position la plus significative.</a:t>
            </a:r>
            <a:endParaRPr lang="en-US" sz="2100" dirty="0"/>
          </a:p>
        </p:txBody>
      </p:sp>
      <p:sp>
        <p:nvSpPr>
          <p:cNvPr id="9" name="Text 7"/>
          <p:cNvSpPr/>
          <p:nvPr/>
        </p:nvSpPr>
        <p:spPr>
          <a:xfrm>
            <a:off x="1188720" y="4389120"/>
            <a:ext cx="9784080" cy="530352"/>
          </a:xfrm>
          <a:prstGeom prst="rect">
            <a:avLst/>
          </a:prstGeom>
          <a:noFill/>
          <a:ln/>
        </p:spPr>
        <p:txBody>
          <a:bodyPr wrap="square" lIns="0" tIns="0" rIns="0" bIns="0" rtlCol="0" anchor="ctr"/>
          <a:lstStyle/>
          <a:p>
            <a:pPr algn="ctr" indent="0" marL="0">
              <a:buNone/>
            </a:pPr>
            <a:r>
              <a:rPr lang="en-US" sz="2000" b="1" dirty="0">
                <a:solidFill>
                  <a:srgbClr val="2D6F6B"/>
                </a:solidFill>
                <a:latin typeface="Aptos" pitchFamily="34" charset="0"/>
                <a:ea typeface="Aptos" pitchFamily="34" charset="-122"/>
                <a:cs typeface="Aptos" pitchFamily="34" charset="-120"/>
              </a:rPr>
              <a:t>Une addition peut produire plusieurs retenues intermédiaires sans avoir de retenue finale.</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À VOUS</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1011 + 0110 sur quatre bits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26</a:t>
            </a:r>
            <a:endParaRPr lang="en-US" sz="820" dirty="0"/>
          </a:p>
        </p:txBody>
      </p:sp>
      <p:sp>
        <p:nvSpPr>
          <p:cNvPr id="7" name="Text 5"/>
          <p:cNvSpPr/>
          <p:nvPr/>
        </p:nvSpPr>
        <p:spPr>
          <a:xfrm>
            <a:off x="1051560" y="1828800"/>
            <a:ext cx="4297680" cy="384048"/>
          </a:xfrm>
          <a:prstGeom prst="rect">
            <a:avLst/>
          </a:prstGeom>
          <a:noFill/>
          <a:ln/>
        </p:spPr>
        <p:txBody>
          <a:bodyPr wrap="square" lIns="0" tIns="0" rIns="0" bIns="0" rtlCol="0" anchor="ctr"/>
          <a:lstStyle/>
          <a:p>
            <a:pPr algn="r" indent="0" marL="0">
              <a:buNone/>
            </a:pPr>
            <a:r>
              <a:rPr lang="en-US" sz="3600" b="1" dirty="0">
                <a:solidFill>
                  <a:srgbClr val="222831"/>
                </a:solidFill>
                <a:latin typeface="Aptos Mono" pitchFamily="34" charset="0"/>
                <a:ea typeface="Aptos Mono" pitchFamily="34" charset="-122"/>
                <a:cs typeface="Aptos Mono" pitchFamily="34" charset="-120"/>
              </a:rPr>
              <a:t>1011</a:t>
            </a:r>
            <a:endParaRPr lang="en-US" sz="3600" dirty="0"/>
          </a:p>
        </p:txBody>
      </p:sp>
      <p:sp>
        <p:nvSpPr>
          <p:cNvPr id="8" name="Text 6"/>
          <p:cNvSpPr/>
          <p:nvPr/>
        </p:nvSpPr>
        <p:spPr>
          <a:xfrm>
            <a:off x="1051560" y="2267712"/>
            <a:ext cx="4297680" cy="384048"/>
          </a:xfrm>
          <a:prstGeom prst="rect">
            <a:avLst/>
          </a:prstGeom>
          <a:noFill/>
          <a:ln/>
        </p:spPr>
        <p:txBody>
          <a:bodyPr wrap="square" lIns="0" tIns="0" rIns="0" bIns="0" rtlCol="0" anchor="ctr"/>
          <a:lstStyle/>
          <a:p>
            <a:pPr algn="r" indent="0" marL="0">
              <a:buNone/>
            </a:pPr>
            <a:r>
              <a:rPr lang="en-US" sz="3600" b="1" dirty="0">
                <a:solidFill>
                  <a:srgbClr val="222831"/>
                </a:solidFill>
                <a:latin typeface="Aptos Mono" pitchFamily="34" charset="0"/>
                <a:ea typeface="Aptos Mono" pitchFamily="34" charset="-122"/>
                <a:cs typeface="Aptos Mono" pitchFamily="34" charset="-120"/>
              </a:rPr>
              <a:t>+ 0110</a:t>
            </a:r>
            <a:endParaRPr lang="en-US" sz="3600" dirty="0"/>
          </a:p>
        </p:txBody>
      </p:sp>
      <p:sp>
        <p:nvSpPr>
          <p:cNvPr id="9" name="Shape 7"/>
          <p:cNvSpPr/>
          <p:nvPr/>
        </p:nvSpPr>
        <p:spPr>
          <a:xfrm>
            <a:off x="1371600" y="2724912"/>
            <a:ext cx="3977640" cy="0"/>
          </a:xfrm>
          <a:prstGeom prst="line">
            <a:avLst/>
          </a:prstGeom>
          <a:noFill/>
          <a:ln w="20320">
            <a:solidFill>
              <a:srgbClr val="222831"/>
            </a:solidFill>
            <a:prstDash val="solid"/>
          </a:ln>
        </p:spPr>
      </p:sp>
      <p:sp>
        <p:nvSpPr>
          <p:cNvPr id="10" name="Text 8"/>
          <p:cNvSpPr/>
          <p:nvPr/>
        </p:nvSpPr>
        <p:spPr>
          <a:xfrm>
            <a:off x="1051560" y="2807208"/>
            <a:ext cx="4297680" cy="384048"/>
          </a:xfrm>
          <a:prstGeom prst="rect">
            <a:avLst/>
          </a:prstGeom>
          <a:noFill/>
          <a:ln/>
        </p:spPr>
        <p:txBody>
          <a:bodyPr wrap="square" lIns="0" tIns="0" rIns="0" bIns="0" rtlCol="0" anchor="ctr"/>
          <a:lstStyle/>
          <a:p>
            <a:pPr algn="r" indent="0" marL="0">
              <a:buNone/>
            </a:pPr>
            <a:r>
              <a:rPr lang="en-US" sz="3600" b="1" dirty="0">
                <a:solidFill>
                  <a:srgbClr val="B5792A"/>
                </a:solidFill>
                <a:latin typeface="Aptos Mono" pitchFamily="34" charset="0"/>
                <a:ea typeface="Aptos Mono" pitchFamily="34" charset="-122"/>
                <a:cs typeface="Aptos Mono" pitchFamily="34" charset="-120"/>
              </a:rPr>
              <a:t>?????</a:t>
            </a:r>
            <a:endParaRPr lang="en-US" sz="3600" dirty="0"/>
          </a:p>
        </p:txBody>
      </p:sp>
      <p:sp>
        <p:nvSpPr>
          <p:cNvPr id="11" name="Text 9"/>
          <p:cNvSpPr/>
          <p:nvPr/>
        </p:nvSpPr>
        <p:spPr>
          <a:xfrm>
            <a:off x="5715000" y="1673352"/>
            <a:ext cx="4892040" cy="384048"/>
          </a:xfrm>
          <a:prstGeom prst="rect">
            <a:avLst/>
          </a:prstGeom>
          <a:noFill/>
          <a:ln/>
        </p:spPr>
        <p:txBody>
          <a:bodyPr wrap="square" lIns="0" tIns="0" rIns="0" bIns="0" rtlCol="0" anchor="ctr"/>
          <a:lstStyle/>
          <a:p>
            <a:pPr indent="0" marL="0">
              <a:buNone/>
            </a:pPr>
            <a:r>
              <a:rPr lang="en-US" sz="2000" b="1" dirty="0">
                <a:solidFill>
                  <a:srgbClr val="17324D"/>
                </a:solidFill>
                <a:latin typeface="Aptos" pitchFamily="34" charset="0"/>
                <a:ea typeface="Aptos" pitchFamily="34" charset="-122"/>
                <a:cs typeface="Aptos" pitchFamily="34" charset="-120"/>
              </a:rPr>
              <a:t>Dans le Laboratoire 5 — étape 5 :</a:t>
            </a:r>
            <a:endParaRPr lang="en-US" sz="2000" dirty="0"/>
          </a:p>
        </p:txBody>
      </p:sp>
      <p:sp>
        <p:nvSpPr>
          <p:cNvPr id="12" name="Text 10"/>
          <p:cNvSpPr/>
          <p:nvPr/>
        </p:nvSpPr>
        <p:spPr>
          <a:xfrm>
            <a:off x="5715000" y="2176272"/>
            <a:ext cx="5074920" cy="2194560"/>
          </a:xfrm>
          <a:prstGeom prst="rect">
            <a:avLst/>
          </a:prstGeom>
          <a:noFill/>
          <a:ln/>
        </p:spPr>
        <p:txBody>
          <a:bodyPr wrap="square" lIns="254" tIns="254" rIns="254" bIns="254" rtlCol="0" anchor="t"/>
          <a:lstStyle/>
          <a:p>
            <a:pPr marL="203200" indent="-203200">
              <a:buSzPct val="100000"/>
              <a:buChar char="•"/>
            </a:pPr>
            <a:r>
              <a:rPr lang="en-US" sz="1900" dirty="0">
                <a:solidFill>
                  <a:srgbClr val="222831"/>
                </a:solidFill>
                <a:latin typeface="Aptos" pitchFamily="34" charset="0"/>
                <a:ea typeface="Aptos" pitchFamily="34" charset="-122"/>
                <a:cs typeface="Aptos" pitchFamily="34" charset="-120"/>
              </a:rPr>
              <a:t>notez la retenue entrante de chaque colonne;</a:t>
            </a:r>
            <a:endParaRPr lang="en-US" sz="1900" dirty="0"/>
          </a:p>
          <a:p>
            <a:pPr marL="203200" indent="-203200">
              <a:buSzPct val="100000"/>
              <a:buChar char="•"/>
            </a:pPr>
            <a:r>
              <a:rPr lang="en-US" sz="1900" dirty="0">
                <a:solidFill>
                  <a:srgbClr val="222831"/>
                </a:solidFill>
                <a:latin typeface="Aptos" pitchFamily="34" charset="0"/>
                <a:ea typeface="Aptos" pitchFamily="34" charset="-122"/>
                <a:cs typeface="Aptos" pitchFamily="34" charset="-120"/>
              </a:rPr>
              <a:t>notez le bit de somme;</a:t>
            </a:r>
            <a:endParaRPr lang="en-US" sz="1900" dirty="0"/>
          </a:p>
          <a:p>
            <a:pPr marL="203200" indent="-203200">
              <a:buSzPct val="100000"/>
              <a:buChar char="•"/>
            </a:pPr>
            <a:r>
              <a:rPr lang="en-US" sz="1900" dirty="0">
                <a:solidFill>
                  <a:srgbClr val="222831"/>
                </a:solidFill>
                <a:latin typeface="Aptos" pitchFamily="34" charset="0"/>
                <a:ea typeface="Aptos" pitchFamily="34" charset="-122"/>
                <a:cs typeface="Aptos" pitchFamily="34" charset="-120"/>
              </a:rPr>
              <a:t>notez la retenue sortante;</a:t>
            </a:r>
            <a:endParaRPr lang="en-US" sz="1900" dirty="0"/>
          </a:p>
          <a:p>
            <a:pPr marL="203200" indent="-203200">
              <a:buSzPct val="100000"/>
              <a:buChar char="•"/>
            </a:pPr>
            <a:r>
              <a:rPr lang="en-US" sz="1900" dirty="0">
                <a:solidFill>
                  <a:srgbClr val="222831"/>
                </a:solidFill>
                <a:latin typeface="Aptos" pitchFamily="34" charset="0"/>
                <a:ea typeface="Aptos" pitchFamily="34" charset="-122"/>
                <a:cs typeface="Aptos" pitchFamily="34" charset="-120"/>
              </a:rPr>
              <a:t>écrivez la somme complète puis les 4 bits conservés.</a:t>
            </a:r>
            <a:endParaRPr lang="en-US" sz="1900" dirty="0"/>
          </a:p>
        </p:txBody>
      </p:sp>
      <p:sp>
        <p:nvSpPr>
          <p:cNvPr id="13" name="Text 11"/>
          <p:cNvSpPr/>
          <p:nvPr/>
        </p:nvSpPr>
        <p:spPr>
          <a:xfrm>
            <a:off x="5715000" y="4617720"/>
            <a:ext cx="5074920" cy="457200"/>
          </a:xfrm>
          <a:prstGeom prst="rect">
            <a:avLst/>
          </a:prstGeom>
          <a:noFill/>
          <a:ln/>
        </p:spPr>
        <p:txBody>
          <a:bodyPr wrap="square" lIns="0" tIns="0" rIns="0" bIns="0" rtlCol="0" anchor="ctr"/>
          <a:lstStyle/>
          <a:p>
            <a:pPr indent="0" marL="0">
              <a:buNone/>
            </a:pPr>
            <a:r>
              <a:rPr lang="en-US" sz="1800" i="1" dirty="0">
                <a:solidFill>
                  <a:srgbClr val="B5792A"/>
                </a:solidFill>
                <a:latin typeface="Aptos" pitchFamily="34" charset="0"/>
                <a:ea typeface="Aptos" pitchFamily="34" charset="-122"/>
                <a:cs typeface="Aptos" pitchFamily="34" charset="-120"/>
              </a:rPr>
              <a:t>Ne vous contentez pas de deviner le résultat final.</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CORRECTION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Où chaque retenue est-elle née?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27</a:t>
            </a:r>
            <a:endParaRPr lang="en-US" sz="820" dirty="0"/>
          </a:p>
        </p:txBody>
      </p:sp>
      <p:sp>
        <p:nvSpPr>
          <p:cNvPr id="7" name="Text 5"/>
          <p:cNvSpPr/>
          <p:nvPr/>
        </p:nvSpPr>
        <p:spPr>
          <a:xfrm>
            <a:off x="868680" y="1645920"/>
            <a:ext cx="4206240" cy="384048"/>
          </a:xfrm>
          <a:prstGeom prst="rect">
            <a:avLst/>
          </a:prstGeom>
          <a:noFill/>
          <a:ln/>
        </p:spPr>
        <p:txBody>
          <a:bodyPr wrap="square" lIns="0" tIns="0" rIns="0" bIns="0" rtlCol="0" anchor="ctr"/>
          <a:lstStyle/>
          <a:p>
            <a:pPr algn="r" indent="0" marL="0">
              <a:buNone/>
            </a:pPr>
            <a:r>
              <a:rPr lang="en-US" sz="3400" b="1" dirty="0">
                <a:solidFill>
                  <a:srgbClr val="222831"/>
                </a:solidFill>
                <a:latin typeface="Aptos Mono" pitchFamily="34" charset="0"/>
                <a:ea typeface="Aptos Mono" pitchFamily="34" charset="-122"/>
                <a:cs typeface="Aptos Mono" pitchFamily="34" charset="-120"/>
              </a:rPr>
              <a:t>1011</a:t>
            </a:r>
            <a:endParaRPr lang="en-US" sz="3400" dirty="0"/>
          </a:p>
        </p:txBody>
      </p:sp>
      <p:sp>
        <p:nvSpPr>
          <p:cNvPr id="8" name="Text 6"/>
          <p:cNvSpPr/>
          <p:nvPr/>
        </p:nvSpPr>
        <p:spPr>
          <a:xfrm>
            <a:off x="868680" y="2084832"/>
            <a:ext cx="4206240" cy="384048"/>
          </a:xfrm>
          <a:prstGeom prst="rect">
            <a:avLst/>
          </a:prstGeom>
          <a:noFill/>
          <a:ln/>
        </p:spPr>
        <p:txBody>
          <a:bodyPr wrap="square" lIns="0" tIns="0" rIns="0" bIns="0" rtlCol="0" anchor="ctr"/>
          <a:lstStyle/>
          <a:p>
            <a:pPr algn="r" indent="0" marL="0">
              <a:buNone/>
            </a:pPr>
            <a:r>
              <a:rPr lang="en-US" sz="3400" b="1" dirty="0">
                <a:solidFill>
                  <a:srgbClr val="222831"/>
                </a:solidFill>
                <a:latin typeface="Aptos Mono" pitchFamily="34" charset="0"/>
                <a:ea typeface="Aptos Mono" pitchFamily="34" charset="-122"/>
                <a:cs typeface="Aptos Mono" pitchFamily="34" charset="-120"/>
              </a:rPr>
              <a:t>+ 0110</a:t>
            </a:r>
            <a:endParaRPr lang="en-US" sz="3400" dirty="0"/>
          </a:p>
        </p:txBody>
      </p:sp>
      <p:sp>
        <p:nvSpPr>
          <p:cNvPr id="9" name="Shape 7"/>
          <p:cNvSpPr/>
          <p:nvPr/>
        </p:nvSpPr>
        <p:spPr>
          <a:xfrm>
            <a:off x="1188720" y="2542032"/>
            <a:ext cx="3886200" cy="0"/>
          </a:xfrm>
          <a:prstGeom prst="line">
            <a:avLst/>
          </a:prstGeom>
          <a:noFill/>
          <a:ln w="20320">
            <a:solidFill>
              <a:srgbClr val="222831"/>
            </a:solidFill>
            <a:prstDash val="solid"/>
          </a:ln>
        </p:spPr>
      </p:sp>
      <p:sp>
        <p:nvSpPr>
          <p:cNvPr id="10" name="Text 8"/>
          <p:cNvSpPr/>
          <p:nvPr/>
        </p:nvSpPr>
        <p:spPr>
          <a:xfrm>
            <a:off x="868680" y="2624328"/>
            <a:ext cx="4206240" cy="384048"/>
          </a:xfrm>
          <a:prstGeom prst="rect">
            <a:avLst/>
          </a:prstGeom>
          <a:noFill/>
          <a:ln/>
        </p:spPr>
        <p:txBody>
          <a:bodyPr wrap="square" lIns="0" tIns="0" rIns="0" bIns="0" rtlCol="0" anchor="ctr"/>
          <a:lstStyle/>
          <a:p>
            <a:pPr algn="r" indent="0" marL="0">
              <a:buNone/>
            </a:pPr>
            <a:r>
              <a:rPr lang="en-US" sz="3400" b="1" dirty="0">
                <a:solidFill>
                  <a:srgbClr val="B5792A"/>
                </a:solidFill>
                <a:latin typeface="Aptos Mono" pitchFamily="34" charset="0"/>
                <a:ea typeface="Aptos Mono" pitchFamily="34" charset="-122"/>
                <a:cs typeface="Aptos Mono" pitchFamily="34" charset="-120"/>
              </a:rPr>
              <a:t>10001</a:t>
            </a:r>
            <a:endParaRPr lang="en-US" sz="3400" dirty="0"/>
          </a:p>
        </p:txBody>
      </p:sp>
      <p:sp>
        <p:nvSpPr>
          <p:cNvPr id="11" name="Text 9"/>
          <p:cNvSpPr/>
          <p:nvPr/>
        </p:nvSpPr>
        <p:spPr>
          <a:xfrm>
            <a:off x="5440680" y="1627632"/>
            <a:ext cx="5486400" cy="2377440"/>
          </a:xfrm>
          <a:prstGeom prst="rect">
            <a:avLst/>
          </a:prstGeom>
          <a:solidFill>
            <a:srgbClr val="F5F1EA"/>
          </a:solidFill>
          <a:ln>
            <a:solidFill>
              <a:srgbClr val="CEC9BF"/>
            </a:solidFill>
          </a:ln>
        </p:spPr>
        <p:txBody>
          <a:bodyPr wrap="square" lIns="2286" tIns="2286" rIns="2286" bIns="2286" rtlCol="0" anchor="ctr"/>
          <a:lstStyle/>
          <a:p>
            <a:pPr indent="0" marL="0">
              <a:buNone/>
            </a:pPr>
            <a:r>
              <a:rPr lang="en-US" sz="1800" dirty="0">
                <a:solidFill>
                  <a:srgbClr val="222831"/>
                </a:solidFill>
                <a:latin typeface="Aptos Mono" pitchFamily="34" charset="0"/>
                <a:ea typeface="Aptos Mono" pitchFamily="34" charset="-122"/>
                <a:cs typeface="Aptos Mono" pitchFamily="34" charset="-120"/>
              </a:rPr>
              <a:t>col. 0 : 1 + 0 → 1, retenue 0</a:t>
            </a:r>
            <a:endParaRPr lang="en-US" sz="1800" dirty="0"/>
          </a:p>
          <a:p>
            <a:pPr indent="0" marL="0">
              <a:buNone/>
            </a:pPr>
            <a:r>
              <a:rPr lang="en-US" sz="1800" dirty="0">
                <a:solidFill>
                  <a:srgbClr val="222831"/>
                </a:solidFill>
                <a:latin typeface="Aptos Mono" pitchFamily="34" charset="0"/>
                <a:ea typeface="Aptos Mono" pitchFamily="34" charset="-122"/>
                <a:cs typeface="Aptos Mono" pitchFamily="34" charset="-120"/>
              </a:rPr>
              <a:t>col. 1 : 1 + 1 → 0, retenue 1</a:t>
            </a:r>
            <a:endParaRPr lang="en-US" sz="1800" dirty="0"/>
          </a:p>
          <a:p>
            <a:pPr indent="0" marL="0">
              <a:buNone/>
            </a:pPr>
            <a:r>
              <a:rPr lang="en-US" sz="1800" dirty="0">
                <a:solidFill>
                  <a:srgbClr val="222831"/>
                </a:solidFill>
                <a:latin typeface="Aptos Mono" pitchFamily="34" charset="0"/>
                <a:ea typeface="Aptos Mono" pitchFamily="34" charset="-122"/>
                <a:cs typeface="Aptos Mono" pitchFamily="34" charset="-120"/>
              </a:rPr>
              <a:t>col. 2 : 0 + 1 + 1 → 0, retenue 1</a:t>
            </a:r>
            <a:endParaRPr lang="en-US" sz="1800" dirty="0"/>
          </a:p>
          <a:p>
            <a:pPr indent="0" marL="0">
              <a:buNone/>
            </a:pPr>
            <a:r>
              <a:rPr lang="en-US" sz="1800" dirty="0">
                <a:solidFill>
                  <a:srgbClr val="222831"/>
                </a:solidFill>
                <a:latin typeface="Aptos Mono" pitchFamily="34" charset="0"/>
                <a:ea typeface="Aptos Mono" pitchFamily="34" charset="-122"/>
                <a:cs typeface="Aptos Mono" pitchFamily="34" charset="-120"/>
              </a:rPr>
              <a:t>col. 3 : 1 + 0 + 1 → 0, retenue finale 1</a:t>
            </a:r>
            <a:endParaRPr lang="en-US" sz="1800" dirty="0"/>
          </a:p>
        </p:txBody>
      </p:sp>
      <p:sp>
        <p:nvSpPr>
          <p:cNvPr id="12" name="Text 10"/>
          <p:cNvSpPr/>
          <p:nvPr/>
        </p:nvSpPr>
        <p:spPr>
          <a:xfrm>
            <a:off x="914400" y="4498848"/>
            <a:ext cx="10241280" cy="585216"/>
          </a:xfrm>
          <a:prstGeom prst="rect">
            <a:avLst/>
          </a:prstGeom>
          <a:noFill/>
          <a:ln/>
        </p:spPr>
        <p:txBody>
          <a:bodyPr wrap="square" lIns="0" tIns="0" rIns="0" bIns="0" rtlCol="0" anchor="ctr"/>
          <a:lstStyle/>
          <a:p>
            <a:pPr algn="ctr" indent="0" marL="0">
              <a:buNone/>
            </a:pPr>
            <a:r>
              <a:rPr lang="en-US" sz="2100" b="1" dirty="0">
                <a:solidFill>
                  <a:srgbClr val="2D6F6B"/>
                </a:solidFill>
                <a:latin typeface="Aptos" pitchFamily="34" charset="0"/>
                <a:ea typeface="Aptos" pitchFamily="34" charset="-122"/>
                <a:cs typeface="Aptos" pitchFamily="34" charset="-120"/>
              </a:rPr>
              <a:t>somme complète 10001  •  résultat conservé 0001  •  retenue finale 1</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RÉSERVE — SI NOUS ALLONS VITE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Deux additions supplémentaires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28</a:t>
            </a:r>
            <a:endParaRPr lang="en-US" sz="820" dirty="0"/>
          </a:p>
        </p:txBody>
      </p:sp>
      <p:sp>
        <p:nvSpPr>
          <p:cNvPr id="7" name="Text 5"/>
          <p:cNvSpPr/>
          <p:nvPr/>
        </p:nvSpPr>
        <p:spPr>
          <a:xfrm>
            <a:off x="1143000" y="1828800"/>
            <a:ext cx="4114800" cy="201168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2700" b="1" dirty="0">
                <a:solidFill>
                  <a:srgbClr val="17324D"/>
                </a:solidFill>
                <a:latin typeface="Aptos" pitchFamily="34" charset="0"/>
                <a:ea typeface="Aptos" pitchFamily="34" charset="-122"/>
                <a:cs typeface="Aptos" pitchFamily="34" charset="-120"/>
              </a:rPr>
              <a:t>A</a:t>
            </a:r>
            <a:endParaRPr lang="en-US" sz="2700" dirty="0"/>
          </a:p>
          <a:p>
            <a:pPr indent="0" marL="0">
              <a:buNone/>
            </a:pPr>
            <a:r>
              <a:rPr lang="en-US" sz="2700" dirty="0">
                <a:solidFill>
                  <a:srgbClr val="222831"/>
                </a:solidFill>
                <a:latin typeface="Aptos" pitchFamily="34" charset="0"/>
                <a:ea typeface="Aptos" pitchFamily="34" charset="-122"/>
                <a:cs typeface="Aptos" pitchFamily="34" charset="-120"/>
              </a:rPr>
              <a:t>0110 + 0101</a:t>
            </a:r>
            <a:endParaRPr lang="en-US" sz="2700" dirty="0"/>
          </a:p>
          <a:p>
            <a:pPr indent="0" marL="0">
              <a:buNone/>
            </a:pPr>
            <a:r>
              <a:rPr lang="en-US" sz="2700" dirty="0">
                <a:solidFill>
                  <a:srgbClr val="222831"/>
                </a:solidFill>
                <a:latin typeface="Aptos" pitchFamily="34" charset="0"/>
                <a:ea typeface="Aptos" pitchFamily="34" charset="-122"/>
                <a:cs typeface="Aptos" pitchFamily="34" charset="-120"/>
              </a:rPr>
              <a:t>sur 4 bits</a:t>
            </a:r>
            <a:endParaRPr lang="en-US" sz="2700" dirty="0"/>
          </a:p>
        </p:txBody>
      </p:sp>
      <p:sp>
        <p:nvSpPr>
          <p:cNvPr id="8" name="Text 6"/>
          <p:cNvSpPr/>
          <p:nvPr/>
        </p:nvSpPr>
        <p:spPr>
          <a:xfrm>
            <a:off x="6903720" y="1828800"/>
            <a:ext cx="4114800" cy="201168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700" b="1" dirty="0">
                <a:solidFill>
                  <a:srgbClr val="B5792A"/>
                </a:solidFill>
                <a:latin typeface="Aptos" pitchFamily="34" charset="0"/>
                <a:ea typeface="Aptos" pitchFamily="34" charset="-122"/>
                <a:cs typeface="Aptos" pitchFamily="34" charset="-120"/>
              </a:rPr>
              <a:t>B</a:t>
            </a:r>
            <a:endParaRPr lang="en-US" sz="2700" dirty="0"/>
          </a:p>
          <a:p>
            <a:pPr indent="0" marL="0">
              <a:buNone/>
            </a:pPr>
            <a:r>
              <a:rPr lang="en-US" sz="2700" dirty="0">
                <a:solidFill>
                  <a:srgbClr val="222831"/>
                </a:solidFill>
                <a:latin typeface="Aptos" pitchFamily="34" charset="0"/>
                <a:ea typeface="Aptos" pitchFamily="34" charset="-122"/>
                <a:cs typeface="Aptos" pitchFamily="34" charset="-120"/>
              </a:rPr>
              <a:t>1101 + 0111</a:t>
            </a:r>
            <a:endParaRPr lang="en-US" sz="2700" dirty="0"/>
          </a:p>
          <a:p>
            <a:pPr indent="0" marL="0">
              <a:buNone/>
            </a:pPr>
            <a:r>
              <a:rPr lang="en-US" sz="2700" dirty="0">
                <a:solidFill>
                  <a:srgbClr val="222831"/>
                </a:solidFill>
                <a:latin typeface="Aptos" pitchFamily="34" charset="0"/>
                <a:ea typeface="Aptos" pitchFamily="34" charset="-122"/>
                <a:cs typeface="Aptos" pitchFamily="34" charset="-120"/>
              </a:rPr>
              <a:t>sur 4 bits</a:t>
            </a:r>
            <a:endParaRPr lang="en-US" sz="2700" dirty="0"/>
          </a:p>
        </p:txBody>
      </p:sp>
      <p:sp>
        <p:nvSpPr>
          <p:cNvPr id="9" name="Text 7"/>
          <p:cNvSpPr/>
          <p:nvPr/>
        </p:nvSpPr>
        <p:spPr>
          <a:xfrm>
            <a:off x="1508760" y="4480560"/>
            <a:ext cx="9144000" cy="502920"/>
          </a:xfrm>
          <a:prstGeom prst="rect">
            <a:avLst/>
          </a:prstGeom>
          <a:noFill/>
          <a:ln/>
        </p:spPr>
        <p:txBody>
          <a:bodyPr wrap="square" lIns="0" tIns="0" rIns="0" bIns="0" rtlCol="0" anchor="ctr"/>
          <a:lstStyle/>
          <a:p>
            <a:pPr algn="ctr" indent="0" marL="0">
              <a:buNone/>
            </a:pPr>
            <a:r>
              <a:rPr lang="en-US" sz="1900" dirty="0">
                <a:solidFill>
                  <a:srgbClr val="6B7178"/>
                </a:solidFill>
                <a:latin typeface="Aptos" pitchFamily="34" charset="0"/>
                <a:ea typeface="Aptos" pitchFamily="34" charset="-122"/>
                <a:cs typeface="Aptos" pitchFamily="34" charset="-120"/>
              </a:rPr>
              <a:t>Pour chaque : somme complète • résultat conservé • retenue finale</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E2B16C"/>
                </a:solidFill>
                <a:latin typeface="Aptos" pitchFamily="34" charset="0"/>
                <a:ea typeface="Aptos" pitchFamily="34" charset="-122"/>
                <a:cs typeface="Aptos" pitchFamily="34" charset="-120"/>
              </a:rPr>
              <a:t>PAUSE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5 minutes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29</a:t>
            </a:r>
            <a:endParaRPr lang="en-US" sz="820" dirty="0"/>
          </a:p>
        </p:txBody>
      </p:sp>
      <p:sp>
        <p:nvSpPr>
          <p:cNvPr id="7" name="Text 5"/>
          <p:cNvSpPr/>
          <p:nvPr/>
        </p:nvSpPr>
        <p:spPr>
          <a:xfrm>
            <a:off x="777240" y="1417320"/>
            <a:ext cx="1554480" cy="1508760"/>
          </a:xfrm>
          <a:prstGeom prst="rect">
            <a:avLst/>
          </a:prstGeom>
          <a:noFill/>
          <a:ln/>
        </p:spPr>
        <p:txBody>
          <a:bodyPr wrap="square" lIns="0" tIns="0" rIns="0" bIns="0" rtlCol="0" anchor="ctr"/>
          <a:lstStyle/>
          <a:p>
            <a:pPr algn="ctr" indent="0" marL="0">
              <a:buNone/>
            </a:pPr>
            <a:r>
              <a:rPr lang="en-US" sz="8800" b="1" dirty="0">
                <a:solidFill>
                  <a:srgbClr val="E2B16C"/>
                </a:solidFill>
                <a:latin typeface="Aptos Display" pitchFamily="34" charset="0"/>
                <a:ea typeface="Aptos Display" pitchFamily="34" charset="-122"/>
                <a:cs typeface="Aptos Display" pitchFamily="34" charset="-120"/>
              </a:rPr>
              <a:t>3</a:t>
            </a:r>
            <a:endParaRPr lang="en-US" sz="8800" dirty="0"/>
          </a:p>
        </p:txBody>
      </p:sp>
      <p:sp>
        <p:nvSpPr>
          <p:cNvPr id="8" name="Text 6"/>
          <p:cNvSpPr/>
          <p:nvPr/>
        </p:nvSpPr>
        <p:spPr>
          <a:xfrm>
            <a:off x="2606040" y="1627632"/>
            <a:ext cx="3840480" cy="320040"/>
          </a:xfrm>
          <a:prstGeom prst="rect">
            <a:avLst/>
          </a:prstGeom>
          <a:noFill/>
          <a:ln/>
        </p:spPr>
        <p:txBody>
          <a:bodyPr wrap="square" lIns="0" tIns="0" rIns="0" bIns="0" rtlCol="0" anchor="ctr"/>
          <a:lstStyle/>
          <a:p>
            <a:pPr indent="0" marL="0">
              <a:buNone/>
            </a:pPr>
            <a:r>
              <a:rPr lang="en-US" sz="1200" b="1" spc="100" kern="0" dirty="0">
                <a:solidFill>
                  <a:srgbClr val="D8E0E8"/>
                </a:solidFill>
                <a:latin typeface="Aptos" pitchFamily="34" charset="0"/>
                <a:ea typeface="Aptos" pitchFamily="34" charset="-122"/>
                <a:cs typeface="Aptos" pitchFamily="34" charset="-120"/>
              </a:rPr>
              <a:t>PÉRIODE SUIVANTE</a:t>
            </a:r>
            <a:endParaRPr lang="en-US" sz="1200" dirty="0"/>
          </a:p>
        </p:txBody>
      </p:sp>
      <p:sp>
        <p:nvSpPr>
          <p:cNvPr id="9" name="Text 7"/>
          <p:cNvSpPr/>
          <p:nvPr/>
        </p:nvSpPr>
        <p:spPr>
          <a:xfrm>
            <a:off x="2606040" y="2057400"/>
            <a:ext cx="8183880" cy="146304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Si les bits conservés sont corrects… le nombre représenté l’est-il forcément?</a:t>
            </a:r>
            <a:endParaRPr lang="en-US" sz="3000" dirty="0"/>
          </a:p>
        </p:txBody>
      </p:sp>
      <p:sp>
        <p:nvSpPr>
          <p:cNvPr id="10" name="Text 8"/>
          <p:cNvSpPr/>
          <p:nvPr/>
        </p:nvSpPr>
        <p:spPr>
          <a:xfrm>
            <a:off x="2606040" y="4069080"/>
            <a:ext cx="6949440" cy="347472"/>
          </a:xfrm>
          <a:prstGeom prst="rect">
            <a:avLst/>
          </a:prstGeom>
          <a:noFill/>
          <a:ln/>
        </p:spPr>
        <p:txBody>
          <a:bodyPr wrap="square" lIns="0" tIns="0" rIns="0" bIns="0" rtlCol="0" anchor="ctr"/>
          <a:lstStyle/>
          <a:p>
            <a:pPr indent="0" marL="0">
              <a:buNone/>
            </a:pPr>
            <a:r>
              <a:rPr lang="en-US" sz="1600" dirty="0">
                <a:solidFill>
                  <a:srgbClr val="D8E0E8"/>
                </a:solidFill>
                <a:latin typeface="Aptos" pitchFamily="34" charset="0"/>
                <a:ea typeface="Aptos" pitchFamily="34" charset="-122"/>
                <a:cs typeface="Aptos" pitchFamily="34" charset="-120"/>
              </a:rPr>
              <a:t>Laissez cette diapositive affichée pendant la pause.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RETOUR À L’ÉNIGME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255 + 1</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30</a:t>
            </a:r>
            <a:endParaRPr lang="en-US" sz="820" dirty="0"/>
          </a:p>
        </p:txBody>
      </p:sp>
      <p:sp>
        <p:nvSpPr>
          <p:cNvPr id="7" name="Text 5"/>
          <p:cNvSpPr/>
          <p:nvPr/>
        </p:nvSpPr>
        <p:spPr>
          <a:xfrm>
            <a:off x="868680" y="1645920"/>
            <a:ext cx="4754880" cy="384048"/>
          </a:xfrm>
          <a:prstGeom prst="rect">
            <a:avLst/>
          </a:prstGeom>
          <a:noFill/>
          <a:ln/>
        </p:spPr>
        <p:txBody>
          <a:bodyPr wrap="square" lIns="0" tIns="0" rIns="0" bIns="0" rtlCol="0" anchor="ctr"/>
          <a:lstStyle/>
          <a:p>
            <a:pPr algn="r" indent="0" marL="0">
              <a:buNone/>
            </a:pPr>
            <a:r>
              <a:rPr lang="en-US" sz="3100" b="1" dirty="0">
                <a:solidFill>
                  <a:srgbClr val="222831"/>
                </a:solidFill>
                <a:latin typeface="Aptos Mono" pitchFamily="34" charset="0"/>
                <a:ea typeface="Aptos Mono" pitchFamily="34" charset="-122"/>
                <a:cs typeface="Aptos Mono" pitchFamily="34" charset="-120"/>
              </a:rPr>
              <a:t>11111111</a:t>
            </a:r>
            <a:endParaRPr lang="en-US" sz="3100" dirty="0"/>
          </a:p>
        </p:txBody>
      </p:sp>
      <p:sp>
        <p:nvSpPr>
          <p:cNvPr id="8" name="Text 6"/>
          <p:cNvSpPr/>
          <p:nvPr/>
        </p:nvSpPr>
        <p:spPr>
          <a:xfrm>
            <a:off x="868680" y="2084832"/>
            <a:ext cx="4754880" cy="384048"/>
          </a:xfrm>
          <a:prstGeom prst="rect">
            <a:avLst/>
          </a:prstGeom>
          <a:noFill/>
          <a:ln/>
        </p:spPr>
        <p:txBody>
          <a:bodyPr wrap="square" lIns="0" tIns="0" rIns="0" bIns="0" rtlCol="0" anchor="ctr"/>
          <a:lstStyle/>
          <a:p>
            <a:pPr algn="r" indent="0" marL="0">
              <a:buNone/>
            </a:pPr>
            <a:r>
              <a:rPr lang="en-US" sz="3100" b="1" dirty="0">
                <a:solidFill>
                  <a:srgbClr val="222831"/>
                </a:solidFill>
                <a:latin typeface="Aptos Mono" pitchFamily="34" charset="0"/>
                <a:ea typeface="Aptos Mono" pitchFamily="34" charset="-122"/>
                <a:cs typeface="Aptos Mono" pitchFamily="34" charset="-120"/>
              </a:rPr>
              <a:t>+ 00000001</a:t>
            </a:r>
            <a:endParaRPr lang="en-US" sz="3100" dirty="0"/>
          </a:p>
        </p:txBody>
      </p:sp>
      <p:sp>
        <p:nvSpPr>
          <p:cNvPr id="9" name="Shape 7"/>
          <p:cNvSpPr/>
          <p:nvPr/>
        </p:nvSpPr>
        <p:spPr>
          <a:xfrm>
            <a:off x="1188720" y="2542032"/>
            <a:ext cx="4434840" cy="0"/>
          </a:xfrm>
          <a:prstGeom prst="line">
            <a:avLst/>
          </a:prstGeom>
          <a:noFill/>
          <a:ln w="20320">
            <a:solidFill>
              <a:srgbClr val="222831"/>
            </a:solidFill>
            <a:prstDash val="solid"/>
          </a:ln>
        </p:spPr>
      </p:sp>
      <p:sp>
        <p:nvSpPr>
          <p:cNvPr id="10" name="Text 8"/>
          <p:cNvSpPr/>
          <p:nvPr/>
        </p:nvSpPr>
        <p:spPr>
          <a:xfrm>
            <a:off x="868680" y="2624328"/>
            <a:ext cx="4754880" cy="384048"/>
          </a:xfrm>
          <a:prstGeom prst="rect">
            <a:avLst/>
          </a:prstGeom>
          <a:noFill/>
          <a:ln/>
        </p:spPr>
        <p:txBody>
          <a:bodyPr wrap="square" lIns="0" tIns="0" rIns="0" bIns="0" rtlCol="0" anchor="ctr"/>
          <a:lstStyle/>
          <a:p>
            <a:pPr algn="r" indent="0" marL="0">
              <a:buNone/>
            </a:pPr>
            <a:r>
              <a:rPr lang="en-US" sz="3100" b="1" dirty="0">
                <a:solidFill>
                  <a:srgbClr val="B5792A"/>
                </a:solidFill>
                <a:latin typeface="Aptos Mono" pitchFamily="34" charset="0"/>
                <a:ea typeface="Aptos Mono" pitchFamily="34" charset="-122"/>
                <a:cs typeface="Aptos Mono" pitchFamily="34" charset="-120"/>
              </a:rPr>
              <a:t>1 00000000</a:t>
            </a:r>
            <a:endParaRPr lang="en-US" sz="3100" dirty="0"/>
          </a:p>
        </p:txBody>
      </p:sp>
      <p:sp>
        <p:nvSpPr>
          <p:cNvPr id="11" name="Text 9"/>
          <p:cNvSpPr/>
          <p:nvPr/>
        </p:nvSpPr>
        <p:spPr>
          <a:xfrm>
            <a:off x="6080760" y="1673352"/>
            <a:ext cx="4754880" cy="132588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900" b="1" dirty="0">
                <a:solidFill>
                  <a:srgbClr val="2D6F6B"/>
                </a:solidFill>
                <a:latin typeface="Aptos" pitchFamily="34" charset="0"/>
                <a:ea typeface="Aptos" pitchFamily="34" charset="-122"/>
                <a:cs typeface="Aptos" pitchFamily="34" charset="-120"/>
              </a:rPr>
              <a:t>DESTINATION 8 BITS</a:t>
            </a:r>
            <a:endParaRPr lang="en-US" sz="2900" dirty="0"/>
          </a:p>
          <a:p>
            <a:pPr indent="0" marL="0">
              <a:buNone/>
            </a:pPr>
            <a:r>
              <a:rPr lang="en-US" sz="2900" dirty="0">
                <a:solidFill>
                  <a:srgbClr val="222831"/>
                </a:solidFill>
                <a:latin typeface="Aptos" pitchFamily="34" charset="0"/>
                <a:ea typeface="Aptos" pitchFamily="34" charset="-122"/>
                <a:cs typeface="Aptos" pitchFamily="34" charset="-120"/>
              </a:rPr>
              <a:t>00000000</a:t>
            </a:r>
            <a:endParaRPr lang="en-US" sz="2900" dirty="0"/>
          </a:p>
        </p:txBody>
      </p:sp>
      <p:sp>
        <p:nvSpPr>
          <p:cNvPr id="12" name="Text 10"/>
          <p:cNvSpPr/>
          <p:nvPr/>
        </p:nvSpPr>
        <p:spPr>
          <a:xfrm>
            <a:off x="6080760" y="3310128"/>
            <a:ext cx="4754880" cy="109728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900" b="1" dirty="0">
                <a:solidFill>
                  <a:srgbClr val="B5792A"/>
                </a:solidFill>
                <a:latin typeface="Aptos" pitchFamily="34" charset="0"/>
                <a:ea typeface="Aptos" pitchFamily="34" charset="-122"/>
                <a:cs typeface="Aptos" pitchFamily="34" charset="-120"/>
              </a:rPr>
              <a:t>RETENUE FINALE</a:t>
            </a:r>
            <a:endParaRPr lang="en-US" sz="2900" dirty="0"/>
          </a:p>
          <a:p>
            <a:pPr indent="0" marL="0">
              <a:buNone/>
            </a:pPr>
            <a:r>
              <a:rPr lang="en-US" sz="2900" dirty="0">
                <a:solidFill>
                  <a:srgbClr val="222831"/>
                </a:solidFill>
                <a:latin typeface="Aptos" pitchFamily="34" charset="0"/>
                <a:ea typeface="Aptos" pitchFamily="34" charset="-122"/>
                <a:cs typeface="Aptos" pitchFamily="34" charset="-120"/>
              </a:rPr>
              <a:t>1</a:t>
            </a:r>
            <a:endParaRPr lang="en-US" sz="2900" dirty="0"/>
          </a:p>
        </p:txBody>
      </p:sp>
      <p:sp>
        <p:nvSpPr>
          <p:cNvPr id="13" name="Text 11"/>
          <p:cNvSpPr/>
          <p:nvPr/>
        </p:nvSpPr>
        <p:spPr>
          <a:xfrm>
            <a:off x="1051560" y="4910328"/>
            <a:ext cx="9966960" cy="411480"/>
          </a:xfrm>
          <a:prstGeom prst="rect">
            <a:avLst/>
          </a:prstGeom>
          <a:noFill/>
          <a:ln/>
        </p:spPr>
        <p:txBody>
          <a:bodyPr wrap="square" lIns="0" tIns="0" rIns="0" bIns="0" rtlCol="0" anchor="ctr"/>
          <a:lstStyle/>
          <a:p>
            <a:pPr algn="ctr" indent="0" marL="0">
              <a:buNone/>
            </a:pPr>
            <a:r>
              <a:rPr lang="en-US" sz="1900" b="1" dirty="0">
                <a:solidFill>
                  <a:srgbClr val="17324D"/>
                </a:solidFill>
                <a:latin typeface="Aptos" pitchFamily="34" charset="0"/>
                <a:ea typeface="Aptos" pitchFamily="34" charset="-122"/>
                <a:cs typeface="Aptos" pitchFamily="34" charset="-120"/>
              </a:rPr>
              <a:t>Le registre n’a pas grandi. Il conserve les huit bits qui tiennent.</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ENTIERS NON SIGNÉS</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Avec 8 bits : 0 à 255</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31</a:t>
            </a:r>
            <a:endParaRPr lang="en-US" sz="820" dirty="0"/>
          </a:p>
        </p:txBody>
      </p:sp>
      <p:sp>
        <p:nvSpPr>
          <p:cNvPr id="7" name="Text 5"/>
          <p:cNvSpPr/>
          <p:nvPr/>
        </p:nvSpPr>
        <p:spPr>
          <a:xfrm>
            <a:off x="914400" y="1965960"/>
            <a:ext cx="914400" cy="640080"/>
          </a:xfrm>
          <a:prstGeom prst="rect">
            <a:avLst/>
          </a:prstGeom>
          <a:noFill/>
          <a:ln/>
        </p:spPr>
        <p:txBody>
          <a:bodyPr wrap="square" lIns="0" tIns="0" rIns="0" bIns="0" rtlCol="0" anchor="ctr"/>
          <a:lstStyle/>
          <a:p>
            <a:pPr algn="ctr" indent="0" marL="0">
              <a:buNone/>
            </a:pPr>
            <a:r>
              <a:rPr lang="en-US" sz="3600" b="1" dirty="0">
                <a:solidFill>
                  <a:srgbClr val="2D6F6B"/>
                </a:solidFill>
                <a:latin typeface="Aptos Display" pitchFamily="34" charset="0"/>
                <a:ea typeface="Aptos Display" pitchFamily="34" charset="-122"/>
                <a:cs typeface="Aptos Display" pitchFamily="34" charset="-120"/>
              </a:rPr>
              <a:t>0</a:t>
            </a:r>
            <a:endParaRPr lang="en-US" sz="3600" dirty="0"/>
          </a:p>
        </p:txBody>
      </p:sp>
      <p:sp>
        <p:nvSpPr>
          <p:cNvPr id="8" name="Shape 6"/>
          <p:cNvSpPr/>
          <p:nvPr/>
        </p:nvSpPr>
        <p:spPr>
          <a:xfrm>
            <a:off x="1828800" y="2304288"/>
            <a:ext cx="8183880" cy="0"/>
          </a:xfrm>
          <a:prstGeom prst="line">
            <a:avLst/>
          </a:prstGeom>
          <a:noFill/>
          <a:ln w="50800">
            <a:solidFill>
              <a:srgbClr val="17324D"/>
            </a:solidFill>
            <a:prstDash val="solid"/>
          </a:ln>
        </p:spPr>
      </p:sp>
      <p:sp>
        <p:nvSpPr>
          <p:cNvPr id="9" name="Text 7"/>
          <p:cNvSpPr/>
          <p:nvPr/>
        </p:nvSpPr>
        <p:spPr>
          <a:xfrm>
            <a:off x="10012680" y="1965960"/>
            <a:ext cx="1188720" cy="640080"/>
          </a:xfrm>
          <a:prstGeom prst="rect">
            <a:avLst/>
          </a:prstGeom>
          <a:noFill/>
          <a:ln/>
        </p:spPr>
        <p:txBody>
          <a:bodyPr wrap="square" lIns="0" tIns="0" rIns="0" bIns="0" rtlCol="0" anchor="ctr"/>
          <a:lstStyle/>
          <a:p>
            <a:pPr algn="ctr" indent="0" marL="0">
              <a:buNone/>
            </a:pPr>
            <a:r>
              <a:rPr lang="en-US" sz="3600" b="1" dirty="0">
                <a:solidFill>
                  <a:srgbClr val="B5792A"/>
                </a:solidFill>
                <a:latin typeface="Aptos Display" pitchFamily="34" charset="0"/>
                <a:ea typeface="Aptos Display" pitchFamily="34" charset="-122"/>
                <a:cs typeface="Aptos Display" pitchFamily="34" charset="-120"/>
              </a:rPr>
              <a:t>255</a:t>
            </a:r>
            <a:endParaRPr lang="en-US" sz="3600" dirty="0"/>
          </a:p>
        </p:txBody>
      </p:sp>
      <p:sp>
        <p:nvSpPr>
          <p:cNvPr id="10" name="Text 8"/>
          <p:cNvSpPr/>
          <p:nvPr/>
        </p:nvSpPr>
        <p:spPr>
          <a:xfrm>
            <a:off x="3840480" y="2880360"/>
            <a:ext cx="4389120" cy="475488"/>
          </a:xfrm>
          <a:prstGeom prst="rect">
            <a:avLst/>
          </a:prstGeom>
          <a:noFill/>
          <a:ln/>
        </p:spPr>
        <p:txBody>
          <a:bodyPr wrap="square" lIns="0" tIns="0" rIns="0" bIns="0" rtlCol="0" anchor="ctr"/>
          <a:lstStyle/>
          <a:p>
            <a:pPr algn="ctr" indent="0" marL="0">
              <a:buNone/>
            </a:pPr>
            <a:r>
              <a:rPr lang="en-US" sz="2200" b="1" dirty="0">
                <a:solidFill>
                  <a:srgbClr val="17324D"/>
                </a:solidFill>
                <a:latin typeface="Aptos" pitchFamily="34" charset="0"/>
                <a:ea typeface="Aptos" pitchFamily="34" charset="-122"/>
                <a:cs typeface="Aptos" pitchFamily="34" charset="-120"/>
              </a:rPr>
              <a:t>2⁸ = 256 configurations</a:t>
            </a:r>
            <a:endParaRPr lang="en-US" sz="2200" dirty="0"/>
          </a:p>
        </p:txBody>
      </p:sp>
      <p:sp>
        <p:nvSpPr>
          <p:cNvPr id="11" name="Text 9"/>
          <p:cNvSpPr/>
          <p:nvPr/>
        </p:nvSpPr>
        <p:spPr>
          <a:xfrm>
            <a:off x="2011680" y="4005072"/>
            <a:ext cx="8138160" cy="713232"/>
          </a:xfrm>
          <a:prstGeom prst="rect">
            <a:avLst/>
          </a:prstGeom>
          <a:solidFill>
            <a:srgbClr val="EEE9E1"/>
          </a:solidFill>
          <a:ln>
            <a:solidFill>
              <a:srgbClr val="CEC9BF"/>
            </a:solidFill>
          </a:ln>
        </p:spPr>
        <p:txBody>
          <a:bodyPr wrap="square" lIns="2032" tIns="2032" rIns="2032" bIns="2032" rtlCol="0" anchor="ctr"/>
          <a:lstStyle/>
          <a:p>
            <a:pPr algn="ctr" indent="0" marL="0">
              <a:buNone/>
            </a:pPr>
            <a:r>
              <a:rPr lang="en-US" sz="2500" b="1" dirty="0">
                <a:solidFill>
                  <a:srgbClr val="222831"/>
                </a:solidFill>
                <a:latin typeface="Aptos" pitchFamily="34" charset="0"/>
                <a:ea typeface="Aptos" pitchFamily="34" charset="-122"/>
                <a:cs typeface="Aptos" pitchFamily="34" charset="-120"/>
              </a:rPr>
              <a:t>Pour n bits non signés : 0 à 2ⁿ − 1</a:t>
            </a:r>
            <a:endParaRPr lang="en-US" sz="2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ENTIERS NON SIGNÉS</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Bouclage — revenir au début</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32</a:t>
            </a:r>
            <a:endParaRPr lang="en-US" sz="820" dirty="0"/>
          </a:p>
        </p:txBody>
      </p:sp>
      <p:sp>
        <p:nvSpPr>
          <p:cNvPr id="7" name="Text 5"/>
          <p:cNvSpPr/>
          <p:nvPr/>
        </p:nvSpPr>
        <p:spPr>
          <a:xfrm>
            <a:off x="868680" y="2057400"/>
            <a:ext cx="1417320" cy="100584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3600" b="1" dirty="0">
                <a:solidFill>
                  <a:srgbClr val="222831"/>
                </a:solidFill>
                <a:latin typeface="Aptos Display" pitchFamily="34" charset="0"/>
                <a:ea typeface="Aptos Display" pitchFamily="34" charset="-122"/>
                <a:cs typeface="Aptos Display" pitchFamily="34" charset="-120"/>
              </a:rPr>
              <a:t>254</a:t>
            </a:r>
            <a:endParaRPr lang="en-US" sz="3600" dirty="0"/>
          </a:p>
        </p:txBody>
      </p:sp>
      <p:sp>
        <p:nvSpPr>
          <p:cNvPr id="8" name="Shape 6"/>
          <p:cNvSpPr/>
          <p:nvPr/>
        </p:nvSpPr>
        <p:spPr>
          <a:xfrm>
            <a:off x="2350008" y="2560320"/>
            <a:ext cx="384048" cy="0"/>
          </a:xfrm>
          <a:prstGeom prst="line">
            <a:avLst/>
          </a:prstGeom>
          <a:noFill/>
          <a:ln w="30480">
            <a:solidFill>
              <a:srgbClr val="6B7178"/>
            </a:solidFill>
            <a:prstDash val="solid"/>
            <a:headEnd type="none"/>
            <a:tailEnd type="triangle"/>
          </a:ln>
        </p:spPr>
      </p:sp>
      <p:sp>
        <p:nvSpPr>
          <p:cNvPr id="9" name="Text 7"/>
          <p:cNvSpPr/>
          <p:nvPr/>
        </p:nvSpPr>
        <p:spPr>
          <a:xfrm>
            <a:off x="2834640" y="2057400"/>
            <a:ext cx="1417320" cy="1005840"/>
          </a:xfrm>
          <a:prstGeom prst="rect">
            <a:avLst/>
          </a:prstGeom>
          <a:solidFill>
            <a:srgbClr val="F2E4CE"/>
          </a:solidFill>
          <a:ln>
            <a:solidFill>
              <a:srgbClr val="B5792A"/>
            </a:solidFill>
          </a:ln>
        </p:spPr>
        <p:txBody>
          <a:bodyPr wrap="square" lIns="0" tIns="0" rIns="0" bIns="0" rtlCol="0" anchor="ctr"/>
          <a:lstStyle/>
          <a:p>
            <a:pPr algn="ctr" indent="0" marL="0">
              <a:buNone/>
            </a:pPr>
            <a:r>
              <a:rPr lang="en-US" sz="3600" b="1" dirty="0">
                <a:solidFill>
                  <a:srgbClr val="B5792A"/>
                </a:solidFill>
                <a:latin typeface="Aptos Display" pitchFamily="34" charset="0"/>
                <a:ea typeface="Aptos Display" pitchFamily="34" charset="-122"/>
                <a:cs typeface="Aptos Display" pitchFamily="34" charset="-120"/>
              </a:rPr>
              <a:t>255</a:t>
            </a:r>
            <a:endParaRPr lang="en-US" sz="3600" dirty="0"/>
          </a:p>
        </p:txBody>
      </p:sp>
      <p:sp>
        <p:nvSpPr>
          <p:cNvPr id="10" name="Shape 8"/>
          <p:cNvSpPr/>
          <p:nvPr/>
        </p:nvSpPr>
        <p:spPr>
          <a:xfrm>
            <a:off x="4315968" y="2560320"/>
            <a:ext cx="384048" cy="0"/>
          </a:xfrm>
          <a:prstGeom prst="line">
            <a:avLst/>
          </a:prstGeom>
          <a:noFill/>
          <a:ln w="30480">
            <a:solidFill>
              <a:srgbClr val="B5792A"/>
            </a:solidFill>
            <a:prstDash val="solid"/>
            <a:headEnd type="none"/>
            <a:tailEnd type="triangle"/>
          </a:ln>
        </p:spPr>
      </p:sp>
      <p:sp>
        <p:nvSpPr>
          <p:cNvPr id="11" name="Text 9"/>
          <p:cNvSpPr/>
          <p:nvPr/>
        </p:nvSpPr>
        <p:spPr>
          <a:xfrm>
            <a:off x="4800600" y="2057400"/>
            <a:ext cx="1417320" cy="1005840"/>
          </a:xfrm>
          <a:prstGeom prst="rect">
            <a:avLst/>
          </a:prstGeom>
          <a:solidFill>
            <a:srgbClr val="DCECE9"/>
          </a:solidFill>
          <a:ln>
            <a:solidFill>
              <a:srgbClr val="2D6F6B"/>
            </a:solidFill>
          </a:ln>
        </p:spPr>
        <p:txBody>
          <a:bodyPr wrap="square" lIns="0" tIns="0" rIns="0" bIns="0" rtlCol="0" anchor="ctr"/>
          <a:lstStyle/>
          <a:p>
            <a:pPr algn="ctr" indent="0" marL="0">
              <a:buNone/>
            </a:pPr>
            <a:r>
              <a:rPr lang="en-US" sz="3600" b="1" dirty="0">
                <a:solidFill>
                  <a:srgbClr val="2D6F6B"/>
                </a:solidFill>
                <a:latin typeface="Aptos Display" pitchFamily="34" charset="0"/>
                <a:ea typeface="Aptos Display" pitchFamily="34" charset="-122"/>
                <a:cs typeface="Aptos Display" pitchFamily="34" charset="-120"/>
              </a:rPr>
              <a:t>0</a:t>
            </a:r>
            <a:endParaRPr lang="en-US" sz="3600" dirty="0"/>
          </a:p>
        </p:txBody>
      </p:sp>
      <p:sp>
        <p:nvSpPr>
          <p:cNvPr id="12" name="Shape 10"/>
          <p:cNvSpPr/>
          <p:nvPr/>
        </p:nvSpPr>
        <p:spPr>
          <a:xfrm>
            <a:off x="6281928" y="2560320"/>
            <a:ext cx="384048" cy="0"/>
          </a:xfrm>
          <a:prstGeom prst="line">
            <a:avLst/>
          </a:prstGeom>
          <a:noFill/>
          <a:ln w="30480">
            <a:solidFill>
              <a:srgbClr val="6B7178"/>
            </a:solidFill>
            <a:prstDash val="solid"/>
            <a:headEnd type="none"/>
            <a:tailEnd type="triangle"/>
          </a:ln>
        </p:spPr>
      </p:sp>
      <p:sp>
        <p:nvSpPr>
          <p:cNvPr id="13" name="Text 11"/>
          <p:cNvSpPr/>
          <p:nvPr/>
        </p:nvSpPr>
        <p:spPr>
          <a:xfrm>
            <a:off x="6766560" y="2057400"/>
            <a:ext cx="1417320" cy="100584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3600" b="1" dirty="0">
                <a:solidFill>
                  <a:srgbClr val="222831"/>
                </a:solidFill>
                <a:latin typeface="Aptos Display" pitchFamily="34" charset="0"/>
                <a:ea typeface="Aptos Display" pitchFamily="34" charset="-122"/>
                <a:cs typeface="Aptos Display" pitchFamily="34" charset="-120"/>
              </a:rPr>
              <a:t>1</a:t>
            </a:r>
            <a:endParaRPr lang="en-US" sz="3600" dirty="0"/>
          </a:p>
        </p:txBody>
      </p:sp>
      <p:sp>
        <p:nvSpPr>
          <p:cNvPr id="14" name="Text 12"/>
          <p:cNvSpPr/>
          <p:nvPr/>
        </p:nvSpPr>
        <p:spPr>
          <a:xfrm>
            <a:off x="3968496" y="1691640"/>
            <a:ext cx="822960" cy="329184"/>
          </a:xfrm>
          <a:prstGeom prst="rect">
            <a:avLst/>
          </a:prstGeom>
          <a:noFill/>
          <a:ln/>
        </p:spPr>
        <p:txBody>
          <a:bodyPr wrap="square" lIns="0" tIns="0" rIns="0" bIns="0" rtlCol="0" anchor="ctr"/>
          <a:lstStyle/>
          <a:p>
            <a:pPr algn="ctr" indent="0" marL="0">
              <a:buNone/>
            </a:pPr>
            <a:r>
              <a:rPr lang="en-US" sz="1600" b="1" dirty="0">
                <a:solidFill>
                  <a:srgbClr val="B5792A"/>
                </a:solidFill>
                <a:latin typeface="Aptos" pitchFamily="34" charset="0"/>
                <a:ea typeface="Aptos" pitchFamily="34" charset="-122"/>
                <a:cs typeface="Aptos" pitchFamily="34" charset="-120"/>
              </a:rPr>
              <a:t>+1</a:t>
            </a:r>
            <a:endParaRPr lang="en-US" sz="1600" dirty="0"/>
          </a:p>
        </p:txBody>
      </p:sp>
      <p:sp>
        <p:nvSpPr>
          <p:cNvPr id="15" name="Text 13"/>
          <p:cNvSpPr/>
          <p:nvPr/>
        </p:nvSpPr>
        <p:spPr>
          <a:xfrm>
            <a:off x="8549640" y="1874520"/>
            <a:ext cx="2651760" cy="594360"/>
          </a:xfrm>
          <a:prstGeom prst="rect">
            <a:avLst/>
          </a:prstGeom>
          <a:noFill/>
          <a:ln/>
        </p:spPr>
        <p:txBody>
          <a:bodyPr wrap="square" lIns="0" tIns="0" rIns="0" bIns="0" rtlCol="0" anchor="ctr"/>
          <a:lstStyle/>
          <a:p>
            <a:pPr algn="ctr" indent="0" marL="0">
              <a:buNone/>
            </a:pPr>
            <a:r>
              <a:rPr lang="en-US" sz="2700" b="1" dirty="0">
                <a:solidFill>
                  <a:srgbClr val="222831"/>
                </a:solidFill>
                <a:latin typeface="Aptos Mono" pitchFamily="34" charset="0"/>
                <a:ea typeface="Aptos Mono" pitchFamily="34" charset="-122"/>
                <a:cs typeface="Aptos Mono" pitchFamily="34" charset="-120"/>
              </a:rPr>
              <a:t>255 + 1 → 0</a:t>
            </a:r>
            <a:endParaRPr lang="en-US" sz="2700" dirty="0"/>
          </a:p>
        </p:txBody>
      </p:sp>
      <p:sp>
        <p:nvSpPr>
          <p:cNvPr id="16" name="Text 14"/>
          <p:cNvSpPr/>
          <p:nvPr/>
        </p:nvSpPr>
        <p:spPr>
          <a:xfrm>
            <a:off x="8183880" y="2743200"/>
            <a:ext cx="3337560" cy="457200"/>
          </a:xfrm>
          <a:prstGeom prst="rect">
            <a:avLst/>
          </a:prstGeom>
          <a:noFill/>
          <a:ln/>
        </p:spPr>
        <p:txBody>
          <a:bodyPr wrap="square" lIns="0" tIns="0" rIns="0" bIns="0" rtlCol="0" anchor="ctr"/>
          <a:lstStyle/>
          <a:p>
            <a:pPr algn="ctr" indent="0" marL="0">
              <a:buNone/>
            </a:pPr>
            <a:r>
              <a:rPr lang="en-US" sz="2000" b="1" dirty="0">
                <a:solidFill>
                  <a:srgbClr val="2D6F6B"/>
                </a:solidFill>
                <a:latin typeface="Aptos" pitchFamily="34" charset="0"/>
                <a:ea typeface="Aptos" pitchFamily="34" charset="-122"/>
                <a:cs typeface="Aptos" pitchFamily="34" charset="-120"/>
              </a:rPr>
              <a:t>arithmétique modulo 2ⁿ</a:t>
            </a:r>
            <a:endParaRPr lang="en-US" sz="2000" dirty="0"/>
          </a:p>
        </p:txBody>
      </p:sp>
      <p:sp>
        <p:nvSpPr>
          <p:cNvPr id="17" name="Text 15"/>
          <p:cNvSpPr/>
          <p:nvPr/>
        </p:nvSpPr>
        <p:spPr>
          <a:xfrm>
            <a:off x="8412480" y="3383280"/>
            <a:ext cx="2880360" cy="411480"/>
          </a:xfrm>
          <a:prstGeom prst="rect">
            <a:avLst/>
          </a:prstGeom>
          <a:noFill/>
          <a:ln/>
        </p:spPr>
        <p:txBody>
          <a:bodyPr wrap="square" lIns="0" tIns="0" rIns="0" bIns="0" rtlCol="0" anchor="ctr"/>
          <a:lstStyle/>
          <a:p>
            <a:pPr algn="ctr" indent="0" marL="0">
              <a:buNone/>
            </a:pPr>
            <a:r>
              <a:rPr lang="en-US" sz="1800" dirty="0">
                <a:solidFill>
                  <a:srgbClr val="6B7178"/>
                </a:solidFill>
                <a:latin typeface="Aptos" pitchFamily="34" charset="0"/>
                <a:ea typeface="Aptos" pitchFamily="34" charset="-122"/>
                <a:cs typeface="Aptos" pitchFamily="34" charset="-120"/>
              </a:rPr>
              <a:t>Sur 8 bits : modulo 256.</a:t>
            </a:r>
            <a:endParaRPr lang="en-US" sz="1800" dirty="0"/>
          </a:p>
        </p:txBody>
      </p:sp>
      <p:sp>
        <p:nvSpPr>
          <p:cNvPr id="18" name="Text 16"/>
          <p:cNvSpPr/>
          <p:nvPr/>
        </p:nvSpPr>
        <p:spPr>
          <a:xfrm>
            <a:off x="1920240" y="4315968"/>
            <a:ext cx="8366760" cy="658368"/>
          </a:xfrm>
          <a:prstGeom prst="rect">
            <a:avLst/>
          </a:prstGeom>
          <a:noFill/>
          <a:ln/>
        </p:spPr>
        <p:txBody>
          <a:bodyPr wrap="square" lIns="0" tIns="0" rIns="0" bIns="0" rtlCol="0" anchor="ctr"/>
          <a:lstStyle/>
          <a:p>
            <a:pPr algn="ctr" indent="0" marL="0">
              <a:buNone/>
            </a:pPr>
            <a:r>
              <a:rPr lang="en-US" sz="2100" b="1" dirty="0">
                <a:solidFill>
                  <a:srgbClr val="B5792A"/>
                </a:solidFill>
                <a:latin typeface="Aptos" pitchFamily="34" charset="0"/>
                <a:ea typeface="Aptos" pitchFamily="34" charset="-122"/>
                <a:cs typeface="Aptos" pitchFamily="34" charset="-120"/>
              </a:rPr>
              <a:t>Le bouclage peut être voulu… ou devenir un bug.</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EXEMPLE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250 + 10 = 4?</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33</a:t>
            </a:r>
            <a:endParaRPr lang="en-US" sz="820" dirty="0"/>
          </a:p>
        </p:txBody>
      </p:sp>
      <p:sp>
        <p:nvSpPr>
          <p:cNvPr id="7" name="Text 5"/>
          <p:cNvSpPr/>
          <p:nvPr/>
        </p:nvSpPr>
        <p:spPr>
          <a:xfrm>
            <a:off x="841248" y="1600200"/>
            <a:ext cx="4983480" cy="384048"/>
          </a:xfrm>
          <a:prstGeom prst="rect">
            <a:avLst/>
          </a:prstGeom>
          <a:noFill/>
          <a:ln/>
        </p:spPr>
        <p:txBody>
          <a:bodyPr wrap="square" lIns="0" tIns="0" rIns="0" bIns="0" rtlCol="0" anchor="ctr"/>
          <a:lstStyle/>
          <a:p>
            <a:pPr algn="r" indent="0" marL="0">
              <a:buNone/>
            </a:pPr>
            <a:r>
              <a:rPr lang="en-US" sz="3000" b="1" dirty="0">
                <a:solidFill>
                  <a:srgbClr val="222831"/>
                </a:solidFill>
                <a:latin typeface="Aptos Mono" pitchFamily="34" charset="0"/>
                <a:ea typeface="Aptos Mono" pitchFamily="34" charset="-122"/>
                <a:cs typeface="Aptos Mono" pitchFamily="34" charset="-120"/>
              </a:rPr>
              <a:t>11111010</a:t>
            </a:r>
            <a:endParaRPr lang="en-US" sz="3000" dirty="0"/>
          </a:p>
        </p:txBody>
      </p:sp>
      <p:sp>
        <p:nvSpPr>
          <p:cNvPr id="8" name="Text 6"/>
          <p:cNvSpPr/>
          <p:nvPr/>
        </p:nvSpPr>
        <p:spPr>
          <a:xfrm>
            <a:off x="841248" y="2039112"/>
            <a:ext cx="4983480" cy="384048"/>
          </a:xfrm>
          <a:prstGeom prst="rect">
            <a:avLst/>
          </a:prstGeom>
          <a:noFill/>
          <a:ln/>
        </p:spPr>
        <p:txBody>
          <a:bodyPr wrap="square" lIns="0" tIns="0" rIns="0" bIns="0" rtlCol="0" anchor="ctr"/>
          <a:lstStyle/>
          <a:p>
            <a:pPr algn="r" indent="0" marL="0">
              <a:buNone/>
            </a:pPr>
            <a:r>
              <a:rPr lang="en-US" sz="3000" b="1" dirty="0">
                <a:solidFill>
                  <a:srgbClr val="222831"/>
                </a:solidFill>
                <a:latin typeface="Aptos Mono" pitchFamily="34" charset="0"/>
                <a:ea typeface="Aptos Mono" pitchFamily="34" charset="-122"/>
                <a:cs typeface="Aptos Mono" pitchFamily="34" charset="-120"/>
              </a:rPr>
              <a:t>+ 00001010</a:t>
            </a:r>
            <a:endParaRPr lang="en-US" sz="3000" dirty="0"/>
          </a:p>
        </p:txBody>
      </p:sp>
      <p:sp>
        <p:nvSpPr>
          <p:cNvPr id="9" name="Shape 7"/>
          <p:cNvSpPr/>
          <p:nvPr/>
        </p:nvSpPr>
        <p:spPr>
          <a:xfrm>
            <a:off x="1161288" y="2496312"/>
            <a:ext cx="4663440" cy="0"/>
          </a:xfrm>
          <a:prstGeom prst="line">
            <a:avLst/>
          </a:prstGeom>
          <a:noFill/>
          <a:ln w="20320">
            <a:solidFill>
              <a:srgbClr val="222831"/>
            </a:solidFill>
            <a:prstDash val="solid"/>
          </a:ln>
        </p:spPr>
      </p:sp>
      <p:sp>
        <p:nvSpPr>
          <p:cNvPr id="10" name="Text 8"/>
          <p:cNvSpPr/>
          <p:nvPr/>
        </p:nvSpPr>
        <p:spPr>
          <a:xfrm>
            <a:off x="841248" y="2578608"/>
            <a:ext cx="4983480" cy="384048"/>
          </a:xfrm>
          <a:prstGeom prst="rect">
            <a:avLst/>
          </a:prstGeom>
          <a:noFill/>
          <a:ln/>
        </p:spPr>
        <p:txBody>
          <a:bodyPr wrap="square" lIns="0" tIns="0" rIns="0" bIns="0" rtlCol="0" anchor="ctr"/>
          <a:lstStyle/>
          <a:p>
            <a:pPr algn="r" indent="0" marL="0">
              <a:buNone/>
            </a:pPr>
            <a:r>
              <a:rPr lang="en-US" sz="3000" b="1" dirty="0">
                <a:solidFill>
                  <a:srgbClr val="B5792A"/>
                </a:solidFill>
                <a:latin typeface="Aptos Mono" pitchFamily="34" charset="0"/>
                <a:ea typeface="Aptos Mono" pitchFamily="34" charset="-122"/>
                <a:cs typeface="Aptos Mono" pitchFamily="34" charset="-120"/>
              </a:rPr>
              <a:t>1 00000100</a:t>
            </a:r>
            <a:endParaRPr lang="en-US" sz="3000" dirty="0"/>
          </a:p>
        </p:txBody>
      </p:sp>
      <p:sp>
        <p:nvSpPr>
          <p:cNvPr id="11" name="Text 9"/>
          <p:cNvSpPr/>
          <p:nvPr/>
        </p:nvSpPr>
        <p:spPr>
          <a:xfrm>
            <a:off x="6400800" y="1737360"/>
            <a:ext cx="3749040" cy="548640"/>
          </a:xfrm>
          <a:prstGeom prst="rect">
            <a:avLst/>
          </a:prstGeom>
          <a:noFill/>
          <a:ln/>
        </p:spPr>
        <p:txBody>
          <a:bodyPr wrap="square" lIns="0" tIns="0" rIns="0" bIns="0" rtlCol="0" anchor="ctr"/>
          <a:lstStyle/>
          <a:p>
            <a:pPr algn="ctr" indent="0" marL="0">
              <a:buNone/>
            </a:pPr>
            <a:r>
              <a:rPr lang="en-US" sz="2600" b="1" dirty="0">
                <a:solidFill>
                  <a:srgbClr val="222831"/>
                </a:solidFill>
                <a:latin typeface="Aptos" pitchFamily="34" charset="0"/>
                <a:ea typeface="Aptos" pitchFamily="34" charset="-122"/>
                <a:cs typeface="Aptos" pitchFamily="34" charset="-120"/>
              </a:rPr>
              <a:t>250 + 10 = 260</a:t>
            </a:r>
            <a:endParaRPr lang="en-US" sz="2600" dirty="0"/>
          </a:p>
        </p:txBody>
      </p:sp>
      <p:sp>
        <p:nvSpPr>
          <p:cNvPr id="12" name="Text 10"/>
          <p:cNvSpPr/>
          <p:nvPr/>
        </p:nvSpPr>
        <p:spPr>
          <a:xfrm>
            <a:off x="6400800" y="2514600"/>
            <a:ext cx="3749040" cy="548640"/>
          </a:xfrm>
          <a:prstGeom prst="rect">
            <a:avLst/>
          </a:prstGeom>
          <a:noFill/>
          <a:ln/>
        </p:spPr>
        <p:txBody>
          <a:bodyPr wrap="square" lIns="0" tIns="0" rIns="0" bIns="0" rtlCol="0" anchor="ctr"/>
          <a:lstStyle/>
          <a:p>
            <a:pPr algn="ctr" indent="0" marL="0">
              <a:buNone/>
            </a:pPr>
            <a:r>
              <a:rPr lang="en-US" sz="2600" b="1" dirty="0">
                <a:solidFill>
                  <a:srgbClr val="2D6F6B"/>
                </a:solidFill>
                <a:latin typeface="Aptos" pitchFamily="34" charset="0"/>
                <a:ea typeface="Aptos" pitchFamily="34" charset="-122"/>
                <a:cs typeface="Aptos" pitchFamily="34" charset="-120"/>
              </a:rPr>
              <a:t>260 modulo 256 = 4</a:t>
            </a:r>
            <a:endParaRPr lang="en-US" sz="2600" dirty="0"/>
          </a:p>
        </p:txBody>
      </p:sp>
      <p:sp>
        <p:nvSpPr>
          <p:cNvPr id="13" name="Text 11"/>
          <p:cNvSpPr/>
          <p:nvPr/>
        </p:nvSpPr>
        <p:spPr>
          <a:xfrm>
            <a:off x="6108192" y="3456432"/>
            <a:ext cx="4343400" cy="118872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400" b="1" dirty="0">
                <a:solidFill>
                  <a:srgbClr val="2D6F6B"/>
                </a:solidFill>
                <a:latin typeface="Aptos" pitchFamily="34" charset="0"/>
                <a:ea typeface="Aptos" pitchFamily="34" charset="-122"/>
                <a:cs typeface="Aptos" pitchFamily="34" charset="-120"/>
              </a:rPr>
              <a:t>8 BITS CONSERVÉS</a:t>
            </a:r>
            <a:endParaRPr lang="en-US" sz="2400" dirty="0"/>
          </a:p>
          <a:p>
            <a:pPr indent="0" marL="0">
              <a:buNone/>
            </a:pPr>
            <a:r>
              <a:rPr lang="en-US" sz="2400" dirty="0">
                <a:solidFill>
                  <a:srgbClr val="222831"/>
                </a:solidFill>
                <a:latin typeface="Aptos" pitchFamily="34" charset="0"/>
                <a:ea typeface="Aptos" pitchFamily="34" charset="-122"/>
                <a:cs typeface="Aptos" pitchFamily="34" charset="-120"/>
              </a:rPr>
              <a:t>00000100₂ = 4₁₀</a:t>
            </a:r>
            <a:endParaRPr lang="en-US" sz="2400" dirty="0"/>
          </a:p>
        </p:txBody>
      </p:sp>
      <p:sp>
        <p:nvSpPr>
          <p:cNvPr id="14" name="Text 12"/>
          <p:cNvSpPr/>
          <p:nvPr/>
        </p:nvSpPr>
        <p:spPr>
          <a:xfrm>
            <a:off x="6199632" y="4892040"/>
            <a:ext cx="4160520" cy="365760"/>
          </a:xfrm>
          <a:prstGeom prst="rect">
            <a:avLst/>
          </a:prstGeom>
          <a:noFill/>
          <a:ln/>
        </p:spPr>
        <p:txBody>
          <a:bodyPr wrap="square" lIns="0" tIns="0" rIns="0" bIns="0" rtlCol="0" anchor="ctr"/>
          <a:lstStyle/>
          <a:p>
            <a:pPr algn="ctr" indent="0" marL="0">
              <a:buNone/>
            </a:pPr>
            <a:r>
              <a:rPr lang="en-US" sz="1800" b="1" dirty="0">
                <a:solidFill>
                  <a:srgbClr val="B5792A"/>
                </a:solidFill>
                <a:latin typeface="Aptos" pitchFamily="34" charset="0"/>
                <a:ea typeface="Aptos" pitchFamily="34" charset="-122"/>
                <a:cs typeface="Aptos" pitchFamily="34" charset="-120"/>
              </a:rPr>
              <a:t>retenue finale = 1</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LABORATOIRE 5</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Résultat conservé et bouclage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34</a:t>
            </a:r>
            <a:endParaRPr lang="en-US" sz="820" dirty="0"/>
          </a:p>
        </p:txBody>
      </p:sp>
      <p:sp>
        <p:nvSpPr>
          <p:cNvPr id="7" name="Text 5"/>
          <p:cNvSpPr/>
          <p:nvPr/>
        </p:nvSpPr>
        <p:spPr>
          <a:xfrm>
            <a:off x="1005840" y="1645920"/>
            <a:ext cx="4892040" cy="914400"/>
          </a:xfrm>
          <a:prstGeom prst="rect">
            <a:avLst/>
          </a:prstGeom>
          <a:solidFill>
            <a:srgbClr val="EEE9E1"/>
          </a:solidFill>
          <a:ln w="10160">
            <a:solidFill>
              <a:srgbClr val="CEC9BF"/>
            </a:solidFill>
          </a:ln>
        </p:spPr>
        <p:txBody>
          <a:bodyPr wrap="square" lIns="2286" tIns="2286" rIns="2286" bIns="2286" rtlCol="0" anchor="ctr"/>
          <a:lstStyle/>
          <a:p>
            <a:pPr indent="0" marL="0">
              <a:buNone/>
            </a:pPr>
            <a:r>
              <a:rPr lang="en-US" sz="2800" dirty="0">
                <a:solidFill>
                  <a:srgbClr val="222831"/>
                </a:solidFill>
                <a:latin typeface="Aptos Mono" pitchFamily="34" charset="0"/>
                <a:ea typeface="Aptos Mono" pitchFamily="34" charset="-122"/>
                <a:cs typeface="Aptos Mono" pitchFamily="34" charset="-120"/>
              </a:rPr>
              <a:t>11111010 + 00001010</a:t>
            </a:r>
            <a:endParaRPr lang="en-US" sz="2800" dirty="0"/>
          </a:p>
        </p:txBody>
      </p:sp>
      <p:sp>
        <p:nvSpPr>
          <p:cNvPr id="8" name="Text 6"/>
          <p:cNvSpPr/>
          <p:nvPr/>
        </p:nvSpPr>
        <p:spPr>
          <a:xfrm>
            <a:off x="6400800" y="1627632"/>
            <a:ext cx="4297680" cy="2331720"/>
          </a:xfrm>
          <a:prstGeom prst="rect">
            <a:avLst/>
          </a:prstGeom>
          <a:noFill/>
          <a:ln/>
        </p:spPr>
        <p:txBody>
          <a:bodyPr wrap="square" lIns="254" tIns="254" rIns="254" bIns="254" rtlCol="0" anchor="t"/>
          <a:lstStyle/>
          <a:p>
            <a:pPr marL="203200" indent="-203200">
              <a:buSzPct val="100000"/>
              <a:buChar char="•"/>
            </a:pPr>
            <a:r>
              <a:rPr lang="en-US" sz="2000" dirty="0">
                <a:solidFill>
                  <a:srgbClr val="222831"/>
                </a:solidFill>
                <a:latin typeface="Aptos" pitchFamily="34" charset="0"/>
                <a:ea typeface="Aptos" pitchFamily="34" charset="-122"/>
                <a:cs typeface="Aptos" pitchFamily="34" charset="-120"/>
              </a:rPr>
              <a:t>somme complète en binaire</a:t>
            </a:r>
            <a:endParaRPr lang="en-US" sz="2000" dirty="0"/>
          </a:p>
          <a:p>
            <a:pPr marL="203200" indent="-203200">
              <a:buSzPct val="100000"/>
              <a:buChar char="•"/>
            </a:pPr>
            <a:r>
              <a:rPr lang="en-US" sz="2000" dirty="0">
                <a:solidFill>
                  <a:srgbClr val="222831"/>
                </a:solidFill>
                <a:latin typeface="Aptos" pitchFamily="34" charset="0"/>
                <a:ea typeface="Aptos" pitchFamily="34" charset="-122"/>
                <a:cs typeface="Aptos" pitchFamily="34" charset="-120"/>
              </a:rPr>
              <a:t>résultat conservé sur 8 bits</a:t>
            </a:r>
            <a:endParaRPr lang="en-US" sz="2000" dirty="0"/>
          </a:p>
          <a:p>
            <a:pPr marL="203200" indent="-203200">
              <a:buSzPct val="100000"/>
              <a:buChar char="•"/>
            </a:pPr>
            <a:r>
              <a:rPr lang="en-US" sz="2000" dirty="0">
                <a:solidFill>
                  <a:srgbClr val="222831"/>
                </a:solidFill>
                <a:latin typeface="Aptos" pitchFamily="34" charset="0"/>
                <a:ea typeface="Aptos" pitchFamily="34" charset="-122"/>
                <a:cs typeface="Aptos" pitchFamily="34" charset="-120"/>
              </a:rPr>
              <a:t>retenue finale</a:t>
            </a:r>
            <a:endParaRPr lang="en-US" sz="2000" dirty="0"/>
          </a:p>
          <a:p>
            <a:pPr marL="203200" indent="-203200">
              <a:buSzPct val="100000"/>
              <a:buChar char="•"/>
            </a:pPr>
            <a:r>
              <a:rPr lang="en-US" sz="2000" dirty="0">
                <a:solidFill>
                  <a:srgbClr val="222831"/>
                </a:solidFill>
                <a:latin typeface="Aptos" pitchFamily="34" charset="0"/>
                <a:ea typeface="Aptos" pitchFamily="34" charset="-122"/>
                <a:cs typeface="Aptos" pitchFamily="34" charset="-120"/>
              </a:rPr>
              <a:t>valeur non signée conservée</a:t>
            </a:r>
            <a:endParaRPr lang="en-US" sz="2000" dirty="0"/>
          </a:p>
          <a:p>
            <a:pPr marL="203200" indent="-203200">
              <a:buSzPct val="100000"/>
              <a:buChar char="•"/>
            </a:pPr>
            <a:r>
              <a:rPr lang="en-US" sz="2000" dirty="0">
                <a:solidFill>
                  <a:srgbClr val="222831"/>
                </a:solidFill>
                <a:latin typeface="Aptos" pitchFamily="34" charset="0"/>
                <a:ea typeface="Aptos" pitchFamily="34" charset="-122"/>
                <a:cs typeface="Aptos" pitchFamily="34" charset="-120"/>
              </a:rPr>
              <a:t>bouclage : oui ou non?</a:t>
            </a:r>
            <a:endParaRPr lang="en-US" sz="2000" dirty="0"/>
          </a:p>
        </p:txBody>
      </p:sp>
      <p:sp>
        <p:nvSpPr>
          <p:cNvPr id="9" name="Text 7"/>
          <p:cNvSpPr/>
          <p:nvPr/>
        </p:nvSpPr>
        <p:spPr>
          <a:xfrm>
            <a:off x="1828800" y="4370832"/>
            <a:ext cx="8321040" cy="530352"/>
          </a:xfrm>
          <a:prstGeom prst="rect">
            <a:avLst/>
          </a:prstGeom>
          <a:noFill/>
          <a:ln/>
        </p:spPr>
        <p:txBody>
          <a:bodyPr wrap="square" lIns="0" tIns="0" rIns="0" bIns="0" rtlCol="0" anchor="ctr"/>
          <a:lstStyle/>
          <a:p>
            <a:pPr algn="ctr" indent="0" marL="0">
              <a:buNone/>
            </a:pPr>
            <a:r>
              <a:rPr lang="en-US" sz="2200" b="1" dirty="0">
                <a:solidFill>
                  <a:srgbClr val="B5792A"/>
                </a:solidFill>
                <a:latin typeface="Aptos" pitchFamily="34" charset="0"/>
                <a:ea typeface="Aptos" pitchFamily="34" charset="-122"/>
                <a:cs typeface="Aptos" pitchFamily="34" charset="-120"/>
              </a:rPr>
              <a:t>Laboratoire 5 → étape 6</a:t>
            </a:r>
            <a:endParaRPr lang="en-US" sz="2200" dirty="0"/>
          </a:p>
        </p:txBody>
      </p:sp>
      <p:sp>
        <p:nvSpPr>
          <p:cNvPr id="10" name="Text 8"/>
          <p:cNvSpPr/>
          <p:nvPr/>
        </p:nvSpPr>
        <p:spPr>
          <a:xfrm>
            <a:off x="1371600" y="4956048"/>
            <a:ext cx="9326880" cy="420624"/>
          </a:xfrm>
          <a:prstGeom prst="rect">
            <a:avLst/>
          </a:prstGeom>
          <a:noFill/>
          <a:ln/>
        </p:spPr>
        <p:txBody>
          <a:bodyPr wrap="square" lIns="0" tIns="0" rIns="0" bIns="0" rtlCol="0" anchor="ctr"/>
          <a:lstStyle/>
          <a:p>
            <a:pPr algn="ctr" indent="0" marL="0">
              <a:buNone/>
            </a:pPr>
            <a:r>
              <a:rPr lang="en-US" sz="1700" dirty="0">
                <a:solidFill>
                  <a:srgbClr val="6B7178"/>
                </a:solidFill>
                <a:latin typeface="Aptos" pitchFamily="34" charset="0"/>
                <a:ea typeface="Aptos" pitchFamily="34" charset="-122"/>
                <a:cs typeface="Aptos" pitchFamily="34" charset="-120"/>
              </a:rPr>
              <a:t>Conservez la distinction « somme complète » / « bits conservés » dans vos notes.</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INTERPRÉTATION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Les mêmes bits peuvent raconter deux histoires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35</a:t>
            </a:r>
            <a:endParaRPr lang="en-US" sz="820" dirty="0"/>
          </a:p>
        </p:txBody>
      </p:sp>
      <p:sp>
        <p:nvSpPr>
          <p:cNvPr id="7" name="Text 5"/>
          <p:cNvSpPr/>
          <p:nvPr/>
        </p:nvSpPr>
        <p:spPr>
          <a:xfrm>
            <a:off x="2971800" y="1600200"/>
            <a:ext cx="6217920" cy="960120"/>
          </a:xfrm>
          <a:prstGeom prst="rect">
            <a:avLst/>
          </a:prstGeom>
          <a:noFill/>
          <a:ln/>
        </p:spPr>
        <p:txBody>
          <a:bodyPr wrap="square" lIns="0" tIns="0" rIns="0" bIns="0" rtlCol="0" anchor="ctr"/>
          <a:lstStyle/>
          <a:p>
            <a:pPr algn="ctr" indent="0" marL="0">
              <a:buNone/>
            </a:pPr>
            <a:r>
              <a:rPr lang="en-US" sz="5000" b="1" dirty="0">
                <a:solidFill>
                  <a:srgbClr val="222831"/>
                </a:solidFill>
                <a:latin typeface="Aptos Mono" pitchFamily="34" charset="0"/>
                <a:ea typeface="Aptos Mono" pitchFamily="34" charset="-122"/>
                <a:cs typeface="Aptos Mono" pitchFamily="34" charset="-120"/>
              </a:rPr>
              <a:t>10000000</a:t>
            </a:r>
            <a:endParaRPr lang="en-US" sz="5000" dirty="0"/>
          </a:p>
        </p:txBody>
      </p:sp>
      <p:sp>
        <p:nvSpPr>
          <p:cNvPr id="8" name="Text 6"/>
          <p:cNvSpPr/>
          <p:nvPr/>
        </p:nvSpPr>
        <p:spPr>
          <a:xfrm>
            <a:off x="1234440" y="2999232"/>
            <a:ext cx="4160520" cy="146304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3200" b="1" dirty="0">
                <a:solidFill>
                  <a:srgbClr val="2D6F6B"/>
                </a:solidFill>
                <a:latin typeface="Aptos" pitchFamily="34" charset="0"/>
                <a:ea typeface="Aptos" pitchFamily="34" charset="-122"/>
                <a:cs typeface="Aptos" pitchFamily="34" charset="-120"/>
              </a:rPr>
              <a:t>NON SIGNÉ</a:t>
            </a:r>
            <a:endParaRPr lang="en-US" sz="3200" dirty="0"/>
          </a:p>
          <a:p>
            <a:pPr indent="0" marL="0">
              <a:buNone/>
            </a:pPr>
            <a:r>
              <a:rPr lang="en-US" sz="3200" dirty="0">
                <a:solidFill>
                  <a:srgbClr val="222831"/>
                </a:solidFill>
                <a:latin typeface="Aptos" pitchFamily="34" charset="0"/>
                <a:ea typeface="Aptos" pitchFamily="34" charset="-122"/>
                <a:cs typeface="Aptos" pitchFamily="34" charset="-120"/>
              </a:rPr>
              <a:t>128</a:t>
            </a:r>
            <a:endParaRPr lang="en-US" sz="3200" dirty="0"/>
          </a:p>
        </p:txBody>
      </p:sp>
      <p:sp>
        <p:nvSpPr>
          <p:cNvPr id="9" name="Text 7"/>
          <p:cNvSpPr/>
          <p:nvPr/>
        </p:nvSpPr>
        <p:spPr>
          <a:xfrm>
            <a:off x="6812280" y="2999232"/>
            <a:ext cx="4160520" cy="146304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3200" b="1" dirty="0">
                <a:solidFill>
                  <a:srgbClr val="B5792A"/>
                </a:solidFill>
                <a:latin typeface="Aptos" pitchFamily="34" charset="0"/>
                <a:ea typeface="Aptos" pitchFamily="34" charset="-122"/>
                <a:cs typeface="Aptos" pitchFamily="34" charset="-120"/>
              </a:rPr>
              <a:t>SIGNÉ — COMPLÉMENT À DEUX</a:t>
            </a:r>
            <a:endParaRPr lang="en-US" sz="3200" dirty="0"/>
          </a:p>
          <a:p>
            <a:pPr indent="0" marL="0">
              <a:buNone/>
            </a:pPr>
            <a:r>
              <a:rPr lang="en-US" sz="3200" dirty="0">
                <a:solidFill>
                  <a:srgbClr val="222831"/>
                </a:solidFill>
                <a:latin typeface="Aptos" pitchFamily="34" charset="0"/>
                <a:ea typeface="Aptos" pitchFamily="34" charset="-122"/>
                <a:cs typeface="Aptos" pitchFamily="34" charset="-120"/>
              </a:rPr>
              <a:t>−128</a:t>
            </a:r>
            <a:endParaRPr lang="en-US" sz="3200" dirty="0"/>
          </a:p>
        </p:txBody>
      </p:sp>
      <p:sp>
        <p:nvSpPr>
          <p:cNvPr id="10" name="Text 8"/>
          <p:cNvSpPr/>
          <p:nvPr/>
        </p:nvSpPr>
        <p:spPr>
          <a:xfrm>
            <a:off x="2011680" y="4919472"/>
            <a:ext cx="8138160" cy="502920"/>
          </a:xfrm>
          <a:prstGeom prst="rect">
            <a:avLst/>
          </a:prstGeom>
          <a:noFill/>
          <a:ln/>
        </p:spPr>
        <p:txBody>
          <a:bodyPr wrap="square" lIns="0" tIns="0" rIns="0" bIns="0" rtlCol="0" anchor="ctr"/>
          <a:lstStyle/>
          <a:p>
            <a:pPr algn="ctr" indent="0" marL="0">
              <a:buNone/>
            </a:pPr>
            <a:r>
              <a:rPr lang="en-US" sz="2100" b="1" dirty="0">
                <a:solidFill>
                  <a:srgbClr val="17324D"/>
                </a:solidFill>
                <a:latin typeface="Aptos" pitchFamily="34" charset="0"/>
                <a:ea typeface="Aptos" pitchFamily="34" charset="-122"/>
                <a:cs typeface="Aptos" pitchFamily="34" charset="-120"/>
              </a:rPr>
              <a:t>Les bits ne portent pas eux-mêmes leur type.</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RAPPEL — COMPLÉMENT À DEUX</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Sur 8 bits : −128 à +127</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36</a:t>
            </a:r>
            <a:endParaRPr lang="en-US" sz="820" dirty="0"/>
          </a:p>
        </p:txBody>
      </p:sp>
      <p:sp>
        <p:nvSpPr>
          <p:cNvPr id="7" name="Text 5"/>
          <p:cNvSpPr/>
          <p:nvPr/>
        </p:nvSpPr>
        <p:spPr>
          <a:xfrm>
            <a:off x="868680" y="1920240"/>
            <a:ext cx="1325880" cy="548640"/>
          </a:xfrm>
          <a:prstGeom prst="rect">
            <a:avLst/>
          </a:prstGeom>
          <a:noFill/>
          <a:ln/>
        </p:spPr>
        <p:txBody>
          <a:bodyPr wrap="square" lIns="0" tIns="0" rIns="0" bIns="0" rtlCol="0" anchor="ctr"/>
          <a:lstStyle/>
          <a:p>
            <a:pPr algn="ctr" indent="0" marL="0">
              <a:buNone/>
            </a:pPr>
            <a:r>
              <a:rPr lang="en-US" sz="2800" b="1" dirty="0">
                <a:solidFill>
                  <a:srgbClr val="B5792A"/>
                </a:solidFill>
                <a:latin typeface="Aptos Display" pitchFamily="34" charset="0"/>
                <a:ea typeface="Aptos Display" pitchFamily="34" charset="-122"/>
                <a:cs typeface="Aptos Display" pitchFamily="34" charset="-120"/>
              </a:rPr>
              <a:t>−128</a:t>
            </a:r>
            <a:endParaRPr lang="en-US" sz="2800" dirty="0"/>
          </a:p>
        </p:txBody>
      </p:sp>
      <p:sp>
        <p:nvSpPr>
          <p:cNvPr id="8" name="Shape 6"/>
          <p:cNvSpPr/>
          <p:nvPr/>
        </p:nvSpPr>
        <p:spPr>
          <a:xfrm>
            <a:off x="2148840" y="2221992"/>
            <a:ext cx="7772400" cy="0"/>
          </a:xfrm>
          <a:prstGeom prst="line">
            <a:avLst/>
          </a:prstGeom>
          <a:noFill/>
          <a:ln w="50800">
            <a:solidFill>
              <a:srgbClr val="17324D"/>
            </a:solidFill>
            <a:prstDash val="solid"/>
          </a:ln>
        </p:spPr>
      </p:sp>
      <p:sp>
        <p:nvSpPr>
          <p:cNvPr id="9" name="Text 7"/>
          <p:cNvSpPr/>
          <p:nvPr/>
        </p:nvSpPr>
        <p:spPr>
          <a:xfrm>
            <a:off x="5715000" y="2487168"/>
            <a:ext cx="640080" cy="457200"/>
          </a:xfrm>
          <a:prstGeom prst="rect">
            <a:avLst/>
          </a:prstGeom>
          <a:noFill/>
          <a:ln/>
        </p:spPr>
        <p:txBody>
          <a:bodyPr wrap="square" lIns="0" tIns="0" rIns="0" bIns="0" rtlCol="0" anchor="ctr"/>
          <a:lstStyle/>
          <a:p>
            <a:pPr algn="ctr" indent="0" marL="0">
              <a:buNone/>
            </a:pPr>
            <a:r>
              <a:rPr lang="en-US" sz="2500" b="1" dirty="0">
                <a:solidFill>
                  <a:srgbClr val="2D6F6B"/>
                </a:solidFill>
                <a:latin typeface="Aptos Display" pitchFamily="34" charset="0"/>
                <a:ea typeface="Aptos Display" pitchFamily="34" charset="-122"/>
                <a:cs typeface="Aptos Display" pitchFamily="34" charset="-120"/>
              </a:rPr>
              <a:t>0</a:t>
            </a:r>
            <a:endParaRPr lang="en-US" sz="2500" dirty="0"/>
          </a:p>
        </p:txBody>
      </p:sp>
      <p:sp>
        <p:nvSpPr>
          <p:cNvPr id="10" name="Text 8"/>
          <p:cNvSpPr/>
          <p:nvPr/>
        </p:nvSpPr>
        <p:spPr>
          <a:xfrm>
            <a:off x="9875520" y="1920240"/>
            <a:ext cx="1371600" cy="548640"/>
          </a:xfrm>
          <a:prstGeom prst="rect">
            <a:avLst/>
          </a:prstGeom>
          <a:noFill/>
          <a:ln/>
        </p:spPr>
        <p:txBody>
          <a:bodyPr wrap="square" lIns="0" tIns="0" rIns="0" bIns="0" rtlCol="0" anchor="ctr"/>
          <a:lstStyle/>
          <a:p>
            <a:pPr algn="ctr" indent="0" marL="0">
              <a:buNone/>
            </a:pPr>
            <a:r>
              <a:rPr lang="en-US" sz="2800" b="1" dirty="0">
                <a:solidFill>
                  <a:srgbClr val="B5792A"/>
                </a:solidFill>
                <a:latin typeface="Aptos Display" pitchFamily="34" charset="0"/>
                <a:ea typeface="Aptos Display" pitchFamily="34" charset="-122"/>
                <a:cs typeface="Aptos Display" pitchFamily="34" charset="-120"/>
              </a:rPr>
              <a:t>+127</a:t>
            </a:r>
            <a:endParaRPr lang="en-US" sz="2800" dirty="0"/>
          </a:p>
        </p:txBody>
      </p:sp>
      <p:sp>
        <p:nvSpPr>
          <p:cNvPr id="11" name="Text 9"/>
          <p:cNvSpPr/>
          <p:nvPr/>
        </p:nvSpPr>
        <p:spPr>
          <a:xfrm>
            <a:off x="1188720" y="3364992"/>
            <a:ext cx="4206240" cy="114300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100" b="1" dirty="0">
                <a:solidFill>
                  <a:srgbClr val="2D6F6B"/>
                </a:solidFill>
                <a:latin typeface="Aptos" pitchFamily="34" charset="0"/>
                <a:ea typeface="Aptos" pitchFamily="34" charset="-122"/>
                <a:cs typeface="Aptos" pitchFamily="34" charset="-120"/>
              </a:rPr>
              <a:t>BIT DE SIGNE 0</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valeur non négative</a:t>
            </a:r>
            <a:endParaRPr lang="en-US" sz="2100" dirty="0"/>
          </a:p>
        </p:txBody>
      </p:sp>
      <p:sp>
        <p:nvSpPr>
          <p:cNvPr id="12" name="Text 10"/>
          <p:cNvSpPr/>
          <p:nvPr/>
        </p:nvSpPr>
        <p:spPr>
          <a:xfrm>
            <a:off x="6812280" y="3364992"/>
            <a:ext cx="4206240" cy="114300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100" b="1" dirty="0">
                <a:solidFill>
                  <a:srgbClr val="B5792A"/>
                </a:solidFill>
                <a:latin typeface="Aptos" pitchFamily="34" charset="0"/>
                <a:ea typeface="Aptos" pitchFamily="34" charset="-122"/>
                <a:cs typeface="Aptos" pitchFamily="34" charset="-120"/>
              </a:rPr>
              <a:t>BIT DE SIGNE 1</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valeur négative</a:t>
            </a:r>
            <a:endParaRPr lang="en-US" sz="2100" dirty="0"/>
          </a:p>
        </p:txBody>
      </p:sp>
      <p:sp>
        <p:nvSpPr>
          <p:cNvPr id="13" name="Text 11"/>
          <p:cNvSpPr/>
          <p:nvPr/>
        </p:nvSpPr>
        <p:spPr>
          <a:xfrm>
            <a:off x="2148840" y="4983480"/>
            <a:ext cx="7863840" cy="411480"/>
          </a:xfrm>
          <a:prstGeom prst="rect">
            <a:avLst/>
          </a:prstGeom>
          <a:noFill/>
          <a:ln/>
        </p:spPr>
        <p:txBody>
          <a:bodyPr wrap="square" lIns="0" tIns="0" rIns="0" bIns="0" rtlCol="0" anchor="ctr"/>
          <a:lstStyle/>
          <a:p>
            <a:pPr algn="ctr" indent="0" marL="0">
              <a:buNone/>
            </a:pPr>
            <a:r>
              <a:rPr lang="en-US" sz="1900" b="1" dirty="0">
                <a:solidFill>
                  <a:srgbClr val="17324D"/>
                </a:solidFill>
                <a:latin typeface="Aptos" pitchFamily="34" charset="0"/>
                <a:ea typeface="Aptos" pitchFamily="34" charset="-122"/>
                <a:cs typeface="Aptos" pitchFamily="34" charset="-120"/>
              </a:rPr>
              <a:t>Intervalle sur n bits : −2ⁿ⁻¹ à 2ⁿ⁻¹ − 1</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DÉBORDEMENT SIGNÉ</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127 + 1 : aucune retenue finale… mais problème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37</a:t>
            </a:r>
            <a:endParaRPr lang="en-US" sz="820" dirty="0"/>
          </a:p>
        </p:txBody>
      </p:sp>
      <p:sp>
        <p:nvSpPr>
          <p:cNvPr id="7" name="Text 5"/>
          <p:cNvSpPr/>
          <p:nvPr/>
        </p:nvSpPr>
        <p:spPr>
          <a:xfrm>
            <a:off x="868680" y="1664208"/>
            <a:ext cx="4892040" cy="384048"/>
          </a:xfrm>
          <a:prstGeom prst="rect">
            <a:avLst/>
          </a:prstGeom>
          <a:noFill/>
          <a:ln/>
        </p:spPr>
        <p:txBody>
          <a:bodyPr wrap="square" lIns="0" tIns="0" rIns="0" bIns="0" rtlCol="0" anchor="ctr"/>
          <a:lstStyle/>
          <a:p>
            <a:pPr algn="r" indent="0" marL="0">
              <a:buNone/>
            </a:pPr>
            <a:r>
              <a:rPr lang="en-US" sz="3000" b="1" dirty="0">
                <a:solidFill>
                  <a:srgbClr val="222831"/>
                </a:solidFill>
                <a:latin typeface="Aptos Mono" pitchFamily="34" charset="0"/>
                <a:ea typeface="Aptos Mono" pitchFamily="34" charset="-122"/>
                <a:cs typeface="Aptos Mono" pitchFamily="34" charset="-120"/>
              </a:rPr>
              <a:t>01111111</a:t>
            </a:r>
            <a:endParaRPr lang="en-US" sz="3000" dirty="0"/>
          </a:p>
        </p:txBody>
      </p:sp>
      <p:sp>
        <p:nvSpPr>
          <p:cNvPr id="8" name="Text 6"/>
          <p:cNvSpPr/>
          <p:nvPr/>
        </p:nvSpPr>
        <p:spPr>
          <a:xfrm>
            <a:off x="868680" y="2103120"/>
            <a:ext cx="4892040" cy="384048"/>
          </a:xfrm>
          <a:prstGeom prst="rect">
            <a:avLst/>
          </a:prstGeom>
          <a:noFill/>
          <a:ln/>
        </p:spPr>
        <p:txBody>
          <a:bodyPr wrap="square" lIns="0" tIns="0" rIns="0" bIns="0" rtlCol="0" anchor="ctr"/>
          <a:lstStyle/>
          <a:p>
            <a:pPr algn="r" indent="0" marL="0">
              <a:buNone/>
            </a:pPr>
            <a:r>
              <a:rPr lang="en-US" sz="3000" b="1" dirty="0">
                <a:solidFill>
                  <a:srgbClr val="222831"/>
                </a:solidFill>
                <a:latin typeface="Aptos Mono" pitchFamily="34" charset="0"/>
                <a:ea typeface="Aptos Mono" pitchFamily="34" charset="-122"/>
                <a:cs typeface="Aptos Mono" pitchFamily="34" charset="-120"/>
              </a:rPr>
              <a:t>+ 00000001</a:t>
            </a:r>
            <a:endParaRPr lang="en-US" sz="3000" dirty="0"/>
          </a:p>
        </p:txBody>
      </p:sp>
      <p:sp>
        <p:nvSpPr>
          <p:cNvPr id="9" name="Shape 7"/>
          <p:cNvSpPr/>
          <p:nvPr/>
        </p:nvSpPr>
        <p:spPr>
          <a:xfrm>
            <a:off x="1188720" y="2560320"/>
            <a:ext cx="4572000" cy="0"/>
          </a:xfrm>
          <a:prstGeom prst="line">
            <a:avLst/>
          </a:prstGeom>
          <a:noFill/>
          <a:ln w="20320">
            <a:solidFill>
              <a:srgbClr val="222831"/>
            </a:solidFill>
            <a:prstDash val="solid"/>
          </a:ln>
        </p:spPr>
      </p:sp>
      <p:sp>
        <p:nvSpPr>
          <p:cNvPr id="10" name="Text 8"/>
          <p:cNvSpPr/>
          <p:nvPr/>
        </p:nvSpPr>
        <p:spPr>
          <a:xfrm>
            <a:off x="868680" y="2642616"/>
            <a:ext cx="4892040" cy="384048"/>
          </a:xfrm>
          <a:prstGeom prst="rect">
            <a:avLst/>
          </a:prstGeom>
          <a:noFill/>
          <a:ln/>
        </p:spPr>
        <p:txBody>
          <a:bodyPr wrap="square" lIns="0" tIns="0" rIns="0" bIns="0" rtlCol="0" anchor="ctr"/>
          <a:lstStyle/>
          <a:p>
            <a:pPr algn="r" indent="0" marL="0">
              <a:buNone/>
            </a:pPr>
            <a:r>
              <a:rPr lang="en-US" sz="3000" b="1" dirty="0">
                <a:solidFill>
                  <a:srgbClr val="B5792A"/>
                </a:solidFill>
                <a:latin typeface="Aptos Mono" pitchFamily="34" charset="0"/>
                <a:ea typeface="Aptos Mono" pitchFamily="34" charset="-122"/>
                <a:cs typeface="Aptos Mono" pitchFamily="34" charset="-120"/>
              </a:rPr>
              <a:t>10000000</a:t>
            </a:r>
            <a:endParaRPr lang="en-US" sz="3000" dirty="0"/>
          </a:p>
        </p:txBody>
      </p:sp>
      <p:sp>
        <p:nvSpPr>
          <p:cNvPr id="11" name="Text 9"/>
          <p:cNvSpPr/>
          <p:nvPr/>
        </p:nvSpPr>
        <p:spPr>
          <a:xfrm>
            <a:off x="6153912" y="1600200"/>
            <a:ext cx="4572000" cy="137160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100" b="1" dirty="0">
                <a:solidFill>
                  <a:srgbClr val="2D6F6B"/>
                </a:solidFill>
                <a:latin typeface="Aptos" pitchFamily="34" charset="0"/>
                <a:ea typeface="Aptos" pitchFamily="34" charset="-122"/>
                <a:cs typeface="Aptos" pitchFamily="34" charset="-120"/>
              </a:rPr>
              <a:t>NON SIGNÉ</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127 + 1 = 128</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aucun problème</a:t>
            </a:r>
            <a:endParaRPr lang="en-US" sz="2100" dirty="0"/>
          </a:p>
        </p:txBody>
      </p:sp>
      <p:sp>
        <p:nvSpPr>
          <p:cNvPr id="12" name="Text 10"/>
          <p:cNvSpPr/>
          <p:nvPr/>
        </p:nvSpPr>
        <p:spPr>
          <a:xfrm>
            <a:off x="6153912" y="3246120"/>
            <a:ext cx="4572000" cy="1572768"/>
          </a:xfrm>
          <a:prstGeom prst="rect">
            <a:avLst/>
          </a:prstGeom>
          <a:solidFill>
            <a:srgbClr val="F4E1DE"/>
          </a:solidFill>
          <a:ln w="10160">
            <a:solidFill>
              <a:srgbClr val="CEC9BF"/>
            </a:solidFill>
          </a:ln>
        </p:spPr>
        <p:txBody>
          <a:bodyPr wrap="square" lIns="2032" tIns="2032" rIns="2032" bIns="2032" rtlCol="0" anchor="ctr"/>
          <a:lstStyle/>
          <a:p>
            <a:pPr indent="0" marL="0">
              <a:buNone/>
            </a:pPr>
            <a:r>
              <a:rPr lang="en-US" sz="1900" b="1" dirty="0">
                <a:solidFill>
                  <a:srgbClr val="A54B3E"/>
                </a:solidFill>
                <a:latin typeface="Aptos" pitchFamily="34" charset="0"/>
                <a:ea typeface="Aptos" pitchFamily="34" charset="-122"/>
                <a:cs typeface="Aptos" pitchFamily="34" charset="-120"/>
              </a:rPr>
              <a:t>SIGNÉ</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127 + 1 devrait donner 128</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mais 8 bits signés s’arrêtent à 127</a:t>
            </a:r>
            <a:endParaRPr lang="en-US" sz="1900" dirty="0"/>
          </a:p>
        </p:txBody>
      </p:sp>
      <p:sp>
        <p:nvSpPr>
          <p:cNvPr id="13" name="Text 11"/>
          <p:cNvSpPr/>
          <p:nvPr/>
        </p:nvSpPr>
        <p:spPr>
          <a:xfrm>
            <a:off x="1097280" y="4983480"/>
            <a:ext cx="9966960" cy="411480"/>
          </a:xfrm>
          <a:prstGeom prst="rect">
            <a:avLst/>
          </a:prstGeom>
          <a:noFill/>
          <a:ln/>
        </p:spPr>
        <p:txBody>
          <a:bodyPr wrap="square" lIns="0" tIns="0" rIns="0" bIns="0" rtlCol="0" anchor="ctr"/>
          <a:lstStyle/>
          <a:p>
            <a:pPr algn="ctr" indent="0" marL="0">
              <a:buNone/>
            </a:pPr>
            <a:r>
              <a:rPr lang="en-US" sz="2000" b="1" dirty="0">
                <a:solidFill>
                  <a:srgbClr val="A54B3E"/>
                </a:solidFill>
                <a:latin typeface="Aptos" pitchFamily="34" charset="0"/>
                <a:ea typeface="Aptos" pitchFamily="34" charset="-122"/>
                <a:cs typeface="Aptos" pitchFamily="34" charset="-120"/>
              </a:rPr>
              <a:t>retenue finale = 0  •  débordement signé = OUI</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DÉBORDEMENT SIGNÉ</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−128 + −1 : retenue ET débordement</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38</a:t>
            </a:r>
            <a:endParaRPr lang="en-US" sz="820" dirty="0"/>
          </a:p>
        </p:txBody>
      </p:sp>
      <p:sp>
        <p:nvSpPr>
          <p:cNvPr id="7" name="Text 5"/>
          <p:cNvSpPr/>
          <p:nvPr/>
        </p:nvSpPr>
        <p:spPr>
          <a:xfrm>
            <a:off x="868680" y="1664208"/>
            <a:ext cx="4892040" cy="384048"/>
          </a:xfrm>
          <a:prstGeom prst="rect">
            <a:avLst/>
          </a:prstGeom>
          <a:noFill/>
          <a:ln/>
        </p:spPr>
        <p:txBody>
          <a:bodyPr wrap="square" lIns="0" tIns="0" rIns="0" bIns="0" rtlCol="0" anchor="ctr"/>
          <a:lstStyle/>
          <a:p>
            <a:pPr algn="r" indent="0" marL="0">
              <a:buNone/>
            </a:pPr>
            <a:r>
              <a:rPr lang="en-US" sz="3000" b="1" dirty="0">
                <a:solidFill>
                  <a:srgbClr val="222831"/>
                </a:solidFill>
                <a:latin typeface="Aptos Mono" pitchFamily="34" charset="0"/>
                <a:ea typeface="Aptos Mono" pitchFamily="34" charset="-122"/>
                <a:cs typeface="Aptos Mono" pitchFamily="34" charset="-120"/>
              </a:rPr>
              <a:t>10000000</a:t>
            </a:r>
            <a:endParaRPr lang="en-US" sz="3000" dirty="0"/>
          </a:p>
        </p:txBody>
      </p:sp>
      <p:sp>
        <p:nvSpPr>
          <p:cNvPr id="8" name="Text 6"/>
          <p:cNvSpPr/>
          <p:nvPr/>
        </p:nvSpPr>
        <p:spPr>
          <a:xfrm>
            <a:off x="868680" y="2103120"/>
            <a:ext cx="4892040" cy="384048"/>
          </a:xfrm>
          <a:prstGeom prst="rect">
            <a:avLst/>
          </a:prstGeom>
          <a:noFill/>
          <a:ln/>
        </p:spPr>
        <p:txBody>
          <a:bodyPr wrap="square" lIns="0" tIns="0" rIns="0" bIns="0" rtlCol="0" anchor="ctr"/>
          <a:lstStyle/>
          <a:p>
            <a:pPr algn="r" indent="0" marL="0">
              <a:buNone/>
            </a:pPr>
            <a:r>
              <a:rPr lang="en-US" sz="3000" b="1" dirty="0">
                <a:solidFill>
                  <a:srgbClr val="222831"/>
                </a:solidFill>
                <a:latin typeface="Aptos Mono" pitchFamily="34" charset="0"/>
                <a:ea typeface="Aptos Mono" pitchFamily="34" charset="-122"/>
                <a:cs typeface="Aptos Mono" pitchFamily="34" charset="-120"/>
              </a:rPr>
              <a:t>+ 11111111</a:t>
            </a:r>
            <a:endParaRPr lang="en-US" sz="3000" dirty="0"/>
          </a:p>
        </p:txBody>
      </p:sp>
      <p:sp>
        <p:nvSpPr>
          <p:cNvPr id="9" name="Shape 7"/>
          <p:cNvSpPr/>
          <p:nvPr/>
        </p:nvSpPr>
        <p:spPr>
          <a:xfrm>
            <a:off x="1188720" y="2560320"/>
            <a:ext cx="4572000" cy="0"/>
          </a:xfrm>
          <a:prstGeom prst="line">
            <a:avLst/>
          </a:prstGeom>
          <a:noFill/>
          <a:ln w="20320">
            <a:solidFill>
              <a:srgbClr val="222831"/>
            </a:solidFill>
            <a:prstDash val="solid"/>
          </a:ln>
        </p:spPr>
      </p:sp>
      <p:sp>
        <p:nvSpPr>
          <p:cNvPr id="10" name="Text 8"/>
          <p:cNvSpPr/>
          <p:nvPr/>
        </p:nvSpPr>
        <p:spPr>
          <a:xfrm>
            <a:off x="868680" y="2642616"/>
            <a:ext cx="4892040" cy="384048"/>
          </a:xfrm>
          <a:prstGeom prst="rect">
            <a:avLst/>
          </a:prstGeom>
          <a:noFill/>
          <a:ln/>
        </p:spPr>
        <p:txBody>
          <a:bodyPr wrap="square" lIns="0" tIns="0" rIns="0" bIns="0" rtlCol="0" anchor="ctr"/>
          <a:lstStyle/>
          <a:p>
            <a:pPr algn="r" indent="0" marL="0">
              <a:buNone/>
            </a:pPr>
            <a:r>
              <a:rPr lang="en-US" sz="3000" b="1" dirty="0">
                <a:solidFill>
                  <a:srgbClr val="B5792A"/>
                </a:solidFill>
                <a:latin typeface="Aptos Mono" pitchFamily="34" charset="0"/>
                <a:ea typeface="Aptos Mono" pitchFamily="34" charset="-122"/>
                <a:cs typeface="Aptos Mono" pitchFamily="34" charset="-120"/>
              </a:rPr>
              <a:t>1 01111111</a:t>
            </a:r>
            <a:endParaRPr lang="en-US" sz="3000" dirty="0"/>
          </a:p>
        </p:txBody>
      </p:sp>
      <p:sp>
        <p:nvSpPr>
          <p:cNvPr id="11" name="Text 9"/>
          <p:cNvSpPr/>
          <p:nvPr/>
        </p:nvSpPr>
        <p:spPr>
          <a:xfrm>
            <a:off x="6172200" y="1691640"/>
            <a:ext cx="4572000" cy="1143000"/>
          </a:xfrm>
          <a:prstGeom prst="rect">
            <a:avLst/>
          </a:prstGeom>
          <a:solidFill>
            <a:srgbClr val="F4E1DE"/>
          </a:solidFill>
          <a:ln w="10160">
            <a:solidFill>
              <a:srgbClr val="CEC9BF"/>
            </a:solidFill>
          </a:ln>
        </p:spPr>
        <p:txBody>
          <a:bodyPr wrap="square" lIns="2032" tIns="2032" rIns="2032" bIns="2032" rtlCol="0" anchor="ctr"/>
          <a:lstStyle/>
          <a:p>
            <a:pPr indent="0" marL="0">
              <a:buNone/>
            </a:pPr>
            <a:r>
              <a:rPr lang="en-US" sz="2800" b="1" dirty="0">
                <a:solidFill>
                  <a:srgbClr val="A54B3E"/>
                </a:solidFill>
                <a:latin typeface="Aptos" pitchFamily="34" charset="0"/>
                <a:ea typeface="Aptos" pitchFamily="34" charset="-122"/>
                <a:cs typeface="Aptos" pitchFamily="34" charset="-120"/>
              </a:rPr>
              <a:t>RÉSULTAT SIGNÉ ATTENDU</a:t>
            </a:r>
            <a:endParaRPr lang="en-US" sz="2800" dirty="0"/>
          </a:p>
          <a:p>
            <a:pPr indent="0" marL="0">
              <a:buNone/>
            </a:pPr>
            <a:r>
              <a:rPr lang="en-US" sz="2800" dirty="0">
                <a:solidFill>
                  <a:srgbClr val="222831"/>
                </a:solidFill>
                <a:latin typeface="Aptos" pitchFamily="34" charset="0"/>
                <a:ea typeface="Aptos" pitchFamily="34" charset="-122"/>
                <a:cs typeface="Aptos" pitchFamily="34" charset="-120"/>
              </a:rPr>
              <a:t>−129</a:t>
            </a:r>
            <a:endParaRPr lang="en-US" sz="2800" dirty="0"/>
          </a:p>
        </p:txBody>
      </p:sp>
      <p:sp>
        <p:nvSpPr>
          <p:cNvPr id="12" name="Text 10"/>
          <p:cNvSpPr/>
          <p:nvPr/>
        </p:nvSpPr>
        <p:spPr>
          <a:xfrm>
            <a:off x="6172200" y="3154680"/>
            <a:ext cx="4572000" cy="114300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600" b="1" dirty="0">
                <a:solidFill>
                  <a:srgbClr val="B5792A"/>
                </a:solidFill>
                <a:latin typeface="Aptos" pitchFamily="34" charset="0"/>
                <a:ea typeface="Aptos" pitchFamily="34" charset="-122"/>
                <a:cs typeface="Aptos" pitchFamily="34" charset="-120"/>
              </a:rPr>
              <a:t>8 BITS CONSERVÉS</a:t>
            </a:r>
            <a:endParaRPr lang="en-US" sz="2600" dirty="0"/>
          </a:p>
          <a:p>
            <a:pPr indent="0" marL="0">
              <a:buNone/>
            </a:pPr>
            <a:r>
              <a:rPr lang="en-US" sz="2600" dirty="0">
                <a:solidFill>
                  <a:srgbClr val="222831"/>
                </a:solidFill>
                <a:latin typeface="Aptos" pitchFamily="34" charset="0"/>
                <a:ea typeface="Aptos" pitchFamily="34" charset="-122"/>
                <a:cs typeface="Aptos" pitchFamily="34" charset="-120"/>
              </a:rPr>
              <a:t>01111111 = +127</a:t>
            </a:r>
            <a:endParaRPr lang="en-US" sz="2600" dirty="0"/>
          </a:p>
        </p:txBody>
      </p:sp>
      <p:sp>
        <p:nvSpPr>
          <p:cNvPr id="13" name="Text 11"/>
          <p:cNvSpPr/>
          <p:nvPr/>
        </p:nvSpPr>
        <p:spPr>
          <a:xfrm>
            <a:off x="1051560" y="4919472"/>
            <a:ext cx="10058400" cy="411480"/>
          </a:xfrm>
          <a:prstGeom prst="rect">
            <a:avLst/>
          </a:prstGeom>
          <a:noFill/>
          <a:ln/>
        </p:spPr>
        <p:txBody>
          <a:bodyPr wrap="square" lIns="0" tIns="0" rIns="0" bIns="0" rtlCol="0" anchor="ctr"/>
          <a:lstStyle/>
          <a:p>
            <a:pPr algn="ctr" indent="0" marL="0">
              <a:buNone/>
            </a:pPr>
            <a:r>
              <a:rPr lang="en-US" sz="2000" b="1" dirty="0">
                <a:solidFill>
                  <a:srgbClr val="A54B3E"/>
                </a:solidFill>
                <a:latin typeface="Aptos" pitchFamily="34" charset="0"/>
                <a:ea typeface="Aptos" pitchFamily="34" charset="-122"/>
                <a:cs typeface="Aptos" pitchFamily="34" charset="-120"/>
              </a:rPr>
              <a:t>retenue finale = 1  •  débordement signé = OUI</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RÈGLE PRATIQUE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Comment reconnaître un débordement signé?</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39</a:t>
            </a:r>
            <a:endParaRPr lang="en-US" sz="820" dirty="0"/>
          </a:p>
        </p:txBody>
      </p:sp>
      <p:sp>
        <p:nvSpPr>
          <p:cNvPr id="7" name="Text 5"/>
          <p:cNvSpPr/>
          <p:nvPr/>
        </p:nvSpPr>
        <p:spPr>
          <a:xfrm>
            <a:off x="960120" y="2084832"/>
            <a:ext cx="2606040" cy="9601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même signe</a:t>
            </a:r>
            <a:endParaRPr lang="en-US" sz="3000" dirty="0"/>
          </a:p>
        </p:txBody>
      </p:sp>
      <p:sp>
        <p:nvSpPr>
          <p:cNvPr id="8" name="Shape 6"/>
          <p:cNvSpPr/>
          <p:nvPr/>
        </p:nvSpPr>
        <p:spPr>
          <a:xfrm>
            <a:off x="3794760" y="2560320"/>
            <a:ext cx="1051560" cy="0"/>
          </a:xfrm>
          <a:prstGeom prst="line">
            <a:avLst/>
          </a:prstGeom>
          <a:noFill/>
          <a:ln w="38100">
            <a:solidFill>
              <a:srgbClr val="B5792A"/>
            </a:solidFill>
            <a:prstDash val="solid"/>
            <a:headEnd type="none"/>
            <a:tailEnd type="triangle"/>
          </a:ln>
        </p:spPr>
      </p:sp>
      <p:sp>
        <p:nvSpPr>
          <p:cNvPr id="9" name="Text 7"/>
          <p:cNvSpPr/>
          <p:nvPr/>
        </p:nvSpPr>
        <p:spPr>
          <a:xfrm>
            <a:off x="5074920" y="2084832"/>
            <a:ext cx="1965960" cy="960120"/>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addition</a:t>
            </a:r>
            <a:endParaRPr lang="en-US" sz="3000" dirty="0"/>
          </a:p>
        </p:txBody>
      </p:sp>
      <p:sp>
        <p:nvSpPr>
          <p:cNvPr id="10" name="Shape 8"/>
          <p:cNvSpPr/>
          <p:nvPr/>
        </p:nvSpPr>
        <p:spPr>
          <a:xfrm>
            <a:off x="7269480" y="2560320"/>
            <a:ext cx="1051560" cy="0"/>
          </a:xfrm>
          <a:prstGeom prst="line">
            <a:avLst/>
          </a:prstGeom>
          <a:noFill/>
          <a:ln w="38100">
            <a:solidFill>
              <a:srgbClr val="B5792A"/>
            </a:solidFill>
            <a:prstDash val="solid"/>
            <a:headEnd type="none"/>
            <a:tailEnd type="triangle"/>
          </a:ln>
        </p:spPr>
      </p:sp>
      <p:sp>
        <p:nvSpPr>
          <p:cNvPr id="11" name="Text 9"/>
          <p:cNvSpPr/>
          <p:nvPr/>
        </p:nvSpPr>
        <p:spPr>
          <a:xfrm>
            <a:off x="8549640" y="2084832"/>
            <a:ext cx="2606040" cy="960120"/>
          </a:xfrm>
          <a:prstGeom prst="rect">
            <a:avLst/>
          </a:prstGeom>
          <a:solidFill>
            <a:srgbClr val="A54B3E"/>
          </a:solidFill>
          <a:ln>
            <a:solidFill>
              <a:srgbClr val="A54B3E"/>
            </a:solidFill>
          </a:ln>
        </p:spPr>
        <p:txBody>
          <a:bodyPr wrap="square" lIns="0" tIns="0" rIns="0" bIns="0" rtlCol="0" anchor="ctr"/>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signe opposé</a:t>
            </a:r>
            <a:endParaRPr lang="en-US" sz="3000" dirty="0"/>
          </a:p>
        </p:txBody>
      </p:sp>
      <p:sp>
        <p:nvSpPr>
          <p:cNvPr id="12" name="Text 10"/>
          <p:cNvSpPr/>
          <p:nvPr/>
        </p:nvSpPr>
        <p:spPr>
          <a:xfrm>
            <a:off x="1051560" y="3977640"/>
            <a:ext cx="10058400" cy="822960"/>
          </a:xfrm>
          <a:prstGeom prst="rect">
            <a:avLst/>
          </a:prstGeom>
          <a:solidFill>
            <a:srgbClr val="EEE9E1"/>
          </a:solidFill>
          <a:ln>
            <a:solidFill>
              <a:srgbClr val="CEC9BF"/>
            </a:solidFill>
          </a:ln>
        </p:spPr>
        <p:txBody>
          <a:bodyPr wrap="square" lIns="2032" tIns="2032" rIns="2032" bIns="2032" rtlCol="0" anchor="ctr"/>
          <a:lstStyle/>
          <a:p>
            <a:pPr algn="ctr" indent="0" marL="0">
              <a:buNone/>
            </a:pPr>
            <a:r>
              <a:rPr lang="en-US" sz="2300" b="1" dirty="0">
                <a:solidFill>
                  <a:srgbClr val="222831"/>
                </a:solidFill>
                <a:latin typeface="Aptos" pitchFamily="34" charset="0"/>
                <a:ea typeface="Aptos" pitchFamily="34" charset="-122"/>
                <a:cs typeface="Aptos" pitchFamily="34" charset="-120"/>
              </a:rPr>
              <a:t>Deux opérandes de même signe qui produisent un résultat de signe opposé → débordement signé.</a:t>
            </a:r>
            <a:endParaRPr lang="en-US" sz="2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DEUX QUESTIONS</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Retenue finale et débordement signé</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40</a:t>
            </a:r>
            <a:endParaRPr lang="en-US" sz="820" dirty="0"/>
          </a:p>
        </p:txBody>
      </p:sp>
      <p:sp>
        <p:nvSpPr>
          <p:cNvPr id="7" name="Text 5"/>
          <p:cNvSpPr/>
          <p:nvPr/>
        </p:nvSpPr>
        <p:spPr>
          <a:xfrm>
            <a:off x="822960" y="1645920"/>
            <a:ext cx="5074920" cy="214884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200" b="1" dirty="0">
                <a:solidFill>
                  <a:srgbClr val="B5792A"/>
                </a:solidFill>
                <a:latin typeface="Aptos" pitchFamily="34" charset="0"/>
                <a:ea typeface="Aptos" pitchFamily="34" charset="-122"/>
                <a:cs typeface="Aptos" pitchFamily="34" charset="-120"/>
              </a:rPr>
              <a:t>RETENUE FINALE</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La somme non signée complète exige-t-elle un bit supplémentaire?</a:t>
            </a:r>
            <a:endParaRPr lang="en-US" sz="2200" dirty="0"/>
          </a:p>
        </p:txBody>
      </p:sp>
      <p:sp>
        <p:nvSpPr>
          <p:cNvPr id="8" name="Text 6"/>
          <p:cNvSpPr/>
          <p:nvPr/>
        </p:nvSpPr>
        <p:spPr>
          <a:xfrm>
            <a:off x="6281928" y="1645920"/>
            <a:ext cx="5074920" cy="2148840"/>
          </a:xfrm>
          <a:prstGeom prst="rect">
            <a:avLst/>
          </a:prstGeom>
          <a:solidFill>
            <a:srgbClr val="F4E1DE"/>
          </a:solidFill>
          <a:ln w="10160">
            <a:solidFill>
              <a:srgbClr val="CEC9BF"/>
            </a:solidFill>
          </a:ln>
        </p:spPr>
        <p:txBody>
          <a:bodyPr wrap="square" lIns="2032" tIns="2032" rIns="2032" bIns="2032" rtlCol="0" anchor="ctr"/>
          <a:lstStyle/>
          <a:p>
            <a:pPr indent="0" marL="0">
              <a:buNone/>
            </a:pPr>
            <a:r>
              <a:rPr lang="en-US" sz="2200" b="1" dirty="0">
                <a:solidFill>
                  <a:srgbClr val="A54B3E"/>
                </a:solidFill>
                <a:latin typeface="Aptos" pitchFamily="34" charset="0"/>
                <a:ea typeface="Aptos" pitchFamily="34" charset="-122"/>
                <a:cs typeface="Aptos" pitchFamily="34" charset="-120"/>
              </a:rPr>
              <a:t>DÉBORDEMENT SIGNÉ</a:t>
            </a:r>
            <a:endParaRPr lang="en-US" sz="2200" dirty="0"/>
          </a:p>
          <a:p>
            <a:pPr indent="0" marL="0">
              <a:buNone/>
            </a:pPr>
            <a:r>
              <a:rPr lang="en-US" sz="2200" dirty="0">
                <a:solidFill>
                  <a:srgbClr val="222831"/>
                </a:solidFill>
                <a:latin typeface="Aptos" pitchFamily="34" charset="0"/>
                <a:ea typeface="Aptos" pitchFamily="34" charset="-122"/>
                <a:cs typeface="Aptos" pitchFamily="34" charset="-120"/>
              </a:rPr>
              <a:t>Le résultat mathématique signé est-il hors de l’intervalle représentable?</a:t>
            </a:r>
            <a:endParaRPr lang="en-US" sz="2200" dirty="0"/>
          </a:p>
        </p:txBody>
      </p:sp>
      <p:sp>
        <p:nvSpPr>
          <p:cNvPr id="9" name="Text 7"/>
          <p:cNvSpPr/>
          <p:nvPr/>
        </p:nvSpPr>
        <p:spPr>
          <a:xfrm>
            <a:off x="2011680" y="4343400"/>
            <a:ext cx="8183880" cy="640080"/>
          </a:xfrm>
          <a:prstGeom prst="rect">
            <a:avLst/>
          </a:prstGeom>
          <a:noFill/>
          <a:ln/>
        </p:spPr>
        <p:txBody>
          <a:bodyPr wrap="square" lIns="0" tIns="0" rIns="0" bIns="0" rtlCol="0" anchor="ctr"/>
          <a:lstStyle/>
          <a:p>
            <a:pPr algn="ctr" indent="0" marL="0">
              <a:buNone/>
            </a:pPr>
            <a:r>
              <a:rPr lang="en-US" sz="2800" b="1" dirty="0">
                <a:solidFill>
                  <a:srgbClr val="17324D"/>
                </a:solidFill>
                <a:latin typeface="Aptos Display" pitchFamily="34" charset="0"/>
                <a:ea typeface="Aptos Display" pitchFamily="34" charset="-122"/>
                <a:cs typeface="Aptos Display" pitchFamily="34" charset="-120"/>
              </a:rPr>
              <a:t>Ces deux conditions sont indépendantes.</a:t>
            </a: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QUESTION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Quatre possibilités existent</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41</a:t>
            </a:r>
            <a:endParaRPr lang="en-US" sz="820" dirty="0"/>
          </a:p>
        </p:txBody>
      </p:sp>
      <p:sp>
        <p:nvSpPr>
          <p:cNvPr id="7" name="Text 5"/>
          <p:cNvSpPr/>
          <p:nvPr/>
        </p:nvSpPr>
        <p:spPr>
          <a:xfrm>
            <a:off x="3886200" y="1572768"/>
            <a:ext cx="4526280" cy="329184"/>
          </a:xfrm>
          <a:prstGeom prst="rect">
            <a:avLst/>
          </a:prstGeom>
          <a:noFill/>
          <a:ln/>
        </p:spPr>
        <p:txBody>
          <a:bodyPr wrap="square" lIns="0" tIns="0" rIns="0" bIns="0" rtlCol="0" anchor="ctr"/>
          <a:lstStyle/>
          <a:p>
            <a:pPr algn="ctr" indent="0" marL="0">
              <a:buNone/>
            </a:pPr>
            <a:r>
              <a:rPr lang="en-US" sz="1400" b="1" dirty="0">
                <a:solidFill>
                  <a:srgbClr val="B5792A"/>
                </a:solidFill>
                <a:latin typeface="Aptos" pitchFamily="34" charset="0"/>
                <a:ea typeface="Aptos" pitchFamily="34" charset="-122"/>
                <a:cs typeface="Aptos" pitchFamily="34" charset="-120"/>
              </a:rPr>
              <a:t>RETENUE FINALE</a:t>
            </a:r>
            <a:endParaRPr lang="en-US" sz="1400" dirty="0"/>
          </a:p>
        </p:txBody>
      </p:sp>
      <p:sp>
        <p:nvSpPr>
          <p:cNvPr id="8" name="Text 6"/>
          <p:cNvSpPr/>
          <p:nvPr/>
        </p:nvSpPr>
        <p:spPr>
          <a:xfrm>
            <a:off x="2926080" y="1920240"/>
            <a:ext cx="2651760" cy="310896"/>
          </a:xfrm>
          <a:prstGeom prst="rect">
            <a:avLst/>
          </a:prstGeom>
          <a:noFill/>
          <a:ln/>
        </p:spPr>
        <p:txBody>
          <a:bodyPr wrap="square" lIns="0" tIns="0" rIns="0" bIns="0" rtlCol="0" anchor="ctr"/>
          <a:lstStyle/>
          <a:p>
            <a:pPr algn="ctr" indent="0" marL="0">
              <a:buNone/>
            </a:pPr>
            <a:r>
              <a:rPr lang="en-US" sz="1500" dirty="0">
                <a:solidFill>
                  <a:srgbClr val="6B7178"/>
                </a:solidFill>
                <a:latin typeface="Aptos" pitchFamily="34" charset="0"/>
                <a:ea typeface="Aptos" pitchFamily="34" charset="-122"/>
                <a:cs typeface="Aptos" pitchFamily="34" charset="-120"/>
              </a:rPr>
              <a:t>retenue : NON</a:t>
            </a:r>
            <a:endParaRPr lang="en-US" sz="1500" dirty="0"/>
          </a:p>
        </p:txBody>
      </p:sp>
      <p:sp>
        <p:nvSpPr>
          <p:cNvPr id="9" name="Text 7"/>
          <p:cNvSpPr/>
          <p:nvPr/>
        </p:nvSpPr>
        <p:spPr>
          <a:xfrm>
            <a:off x="5687568" y="1920240"/>
            <a:ext cx="2651760" cy="310896"/>
          </a:xfrm>
          <a:prstGeom prst="rect">
            <a:avLst/>
          </a:prstGeom>
          <a:noFill/>
          <a:ln/>
        </p:spPr>
        <p:txBody>
          <a:bodyPr wrap="square" lIns="0" tIns="0" rIns="0" bIns="0" rtlCol="0" anchor="ctr"/>
          <a:lstStyle/>
          <a:p>
            <a:pPr algn="ctr" indent="0" marL="0">
              <a:buNone/>
            </a:pPr>
            <a:r>
              <a:rPr lang="en-US" sz="1500" dirty="0">
                <a:solidFill>
                  <a:srgbClr val="6B7178"/>
                </a:solidFill>
                <a:latin typeface="Aptos" pitchFamily="34" charset="0"/>
                <a:ea typeface="Aptos" pitchFamily="34" charset="-122"/>
                <a:cs typeface="Aptos" pitchFamily="34" charset="-120"/>
              </a:rPr>
              <a:t>retenue : OUI</a:t>
            </a:r>
            <a:endParaRPr lang="en-US" sz="1500" dirty="0"/>
          </a:p>
        </p:txBody>
      </p:sp>
      <p:sp>
        <p:nvSpPr>
          <p:cNvPr id="10" name="Text 8"/>
          <p:cNvSpPr/>
          <p:nvPr/>
        </p:nvSpPr>
        <p:spPr>
          <a:xfrm>
            <a:off x="749808" y="2560320"/>
            <a:ext cx="1874520" cy="493776"/>
          </a:xfrm>
          <a:prstGeom prst="rect">
            <a:avLst/>
          </a:prstGeom>
          <a:noFill/>
          <a:ln/>
        </p:spPr>
        <p:txBody>
          <a:bodyPr wrap="square" lIns="0" tIns="0" rIns="0" bIns="0" rtlCol="0" anchor="ctr"/>
          <a:lstStyle/>
          <a:p>
            <a:pPr algn="r" indent="0" marL="0">
              <a:buNone/>
            </a:pPr>
            <a:r>
              <a:rPr lang="en-US" sz="1500" b="1" dirty="0">
                <a:solidFill>
                  <a:srgbClr val="A54B3E"/>
                </a:solidFill>
                <a:latin typeface="Aptos" pitchFamily="34" charset="0"/>
                <a:ea typeface="Aptos" pitchFamily="34" charset="-122"/>
                <a:cs typeface="Aptos" pitchFamily="34" charset="-120"/>
              </a:rPr>
              <a:t>débordement : NON</a:t>
            </a:r>
            <a:endParaRPr lang="en-US" sz="1500" dirty="0"/>
          </a:p>
        </p:txBody>
      </p:sp>
      <p:sp>
        <p:nvSpPr>
          <p:cNvPr id="11" name="Text 9"/>
          <p:cNvSpPr/>
          <p:nvPr/>
        </p:nvSpPr>
        <p:spPr>
          <a:xfrm>
            <a:off x="749808" y="3813048"/>
            <a:ext cx="1874520" cy="493776"/>
          </a:xfrm>
          <a:prstGeom prst="rect">
            <a:avLst/>
          </a:prstGeom>
          <a:noFill/>
          <a:ln/>
        </p:spPr>
        <p:txBody>
          <a:bodyPr wrap="square" lIns="0" tIns="0" rIns="0" bIns="0" rtlCol="0" anchor="ctr"/>
          <a:lstStyle/>
          <a:p>
            <a:pPr algn="r" indent="0" marL="0">
              <a:buNone/>
            </a:pPr>
            <a:r>
              <a:rPr lang="en-US" sz="1500" b="1" dirty="0">
                <a:solidFill>
                  <a:srgbClr val="A54B3E"/>
                </a:solidFill>
                <a:latin typeface="Aptos" pitchFamily="34" charset="0"/>
                <a:ea typeface="Aptos" pitchFamily="34" charset="-122"/>
                <a:cs typeface="Aptos" pitchFamily="34" charset="-120"/>
              </a:rPr>
              <a:t>débordement : OUI</a:t>
            </a:r>
            <a:endParaRPr lang="en-US" sz="1500" dirty="0"/>
          </a:p>
        </p:txBody>
      </p:sp>
      <p:sp>
        <p:nvSpPr>
          <p:cNvPr id="12" name="Text 10"/>
          <p:cNvSpPr/>
          <p:nvPr/>
        </p:nvSpPr>
        <p:spPr>
          <a:xfrm>
            <a:off x="2926080" y="2359152"/>
            <a:ext cx="2688336" cy="1133856"/>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4000" b="1" dirty="0">
                <a:solidFill>
                  <a:srgbClr val="6B7178"/>
                </a:solidFill>
                <a:latin typeface="Aptos Display" pitchFamily="34" charset="0"/>
                <a:ea typeface="Aptos Display" pitchFamily="34" charset="-122"/>
                <a:cs typeface="Aptos Display" pitchFamily="34" charset="-120"/>
              </a:rPr>
              <a:t>?</a:t>
            </a:r>
            <a:endParaRPr lang="en-US" sz="4000" dirty="0"/>
          </a:p>
        </p:txBody>
      </p:sp>
      <p:sp>
        <p:nvSpPr>
          <p:cNvPr id="13" name="Text 11"/>
          <p:cNvSpPr/>
          <p:nvPr/>
        </p:nvSpPr>
        <p:spPr>
          <a:xfrm>
            <a:off x="5687568" y="2359152"/>
            <a:ext cx="2688336" cy="1133856"/>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4000" b="1" dirty="0">
                <a:solidFill>
                  <a:srgbClr val="6B7178"/>
                </a:solidFill>
                <a:latin typeface="Aptos Display" pitchFamily="34" charset="0"/>
                <a:ea typeface="Aptos Display" pitchFamily="34" charset="-122"/>
                <a:cs typeface="Aptos Display" pitchFamily="34" charset="-120"/>
              </a:rPr>
              <a:t>?</a:t>
            </a:r>
            <a:endParaRPr lang="en-US" sz="4000" dirty="0"/>
          </a:p>
        </p:txBody>
      </p:sp>
      <p:sp>
        <p:nvSpPr>
          <p:cNvPr id="14" name="Text 12"/>
          <p:cNvSpPr/>
          <p:nvPr/>
        </p:nvSpPr>
        <p:spPr>
          <a:xfrm>
            <a:off x="2926080" y="3566160"/>
            <a:ext cx="2688336" cy="1133856"/>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4000" b="1" dirty="0">
                <a:solidFill>
                  <a:srgbClr val="6B7178"/>
                </a:solidFill>
                <a:latin typeface="Aptos Display" pitchFamily="34" charset="0"/>
                <a:ea typeface="Aptos Display" pitchFamily="34" charset="-122"/>
                <a:cs typeface="Aptos Display" pitchFamily="34" charset="-120"/>
              </a:rPr>
              <a:t>?</a:t>
            </a:r>
            <a:endParaRPr lang="en-US" sz="4000" dirty="0"/>
          </a:p>
        </p:txBody>
      </p:sp>
      <p:sp>
        <p:nvSpPr>
          <p:cNvPr id="15" name="Text 13"/>
          <p:cNvSpPr/>
          <p:nvPr/>
        </p:nvSpPr>
        <p:spPr>
          <a:xfrm>
            <a:off x="5687568" y="3566160"/>
            <a:ext cx="2688336" cy="1133856"/>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4000" b="1" dirty="0">
                <a:solidFill>
                  <a:srgbClr val="6B7178"/>
                </a:solidFill>
                <a:latin typeface="Aptos Display" pitchFamily="34" charset="0"/>
                <a:ea typeface="Aptos Display" pitchFamily="34" charset="-122"/>
                <a:cs typeface="Aptos Display" pitchFamily="34" charset="-120"/>
              </a:rPr>
              <a:t>?</a:t>
            </a:r>
            <a:endParaRPr lang="en-US" sz="4000" dirty="0"/>
          </a:p>
        </p:txBody>
      </p:sp>
      <p:sp>
        <p:nvSpPr>
          <p:cNvPr id="16" name="Text 14"/>
          <p:cNvSpPr/>
          <p:nvPr/>
        </p:nvSpPr>
        <p:spPr>
          <a:xfrm>
            <a:off x="8823960" y="2423160"/>
            <a:ext cx="2286000" cy="1920240"/>
          </a:xfrm>
          <a:prstGeom prst="rect">
            <a:avLst/>
          </a:prstGeom>
          <a:noFill/>
          <a:ln/>
        </p:spPr>
        <p:txBody>
          <a:bodyPr wrap="square" lIns="0" tIns="0" rIns="0" bIns="0" rtlCol="0" anchor="ctr"/>
          <a:lstStyle/>
          <a:p>
            <a:pPr algn="ctr" indent="0" marL="0">
              <a:buNone/>
            </a:pPr>
            <a:r>
              <a:rPr lang="en-US" sz="2400" b="1" dirty="0">
                <a:solidFill>
                  <a:srgbClr val="17324D"/>
                </a:solidFill>
                <a:latin typeface="Aptos Display" pitchFamily="34" charset="0"/>
                <a:ea typeface="Aptos Display" pitchFamily="34" charset="-122"/>
                <a:cs typeface="Aptos Display" pitchFamily="34" charset="-120"/>
              </a:rPr>
              <a:t>Les quatre cellules</a:t>
            </a:r>
            <a:endParaRPr lang="en-US" sz="2400" dirty="0"/>
          </a:p>
          <a:p>
            <a:pPr algn="ctr" indent="0" marL="0">
              <a:buNone/>
            </a:pPr>
            <a:r>
              <a:rPr lang="en-US" sz="2400" b="1" dirty="0">
                <a:solidFill>
                  <a:srgbClr val="17324D"/>
                </a:solidFill>
                <a:latin typeface="Aptos Display" pitchFamily="34" charset="0"/>
                <a:ea typeface="Aptos Display" pitchFamily="34" charset="-122"/>
                <a:cs typeface="Aptos Display" pitchFamily="34" charset="-120"/>
              </a:rPr>
              <a:t>peuvent-elles</a:t>
            </a:r>
            <a:endParaRPr lang="en-US" sz="2400" dirty="0"/>
          </a:p>
          <a:p>
            <a:pPr algn="ctr" indent="0" marL="0">
              <a:buNone/>
            </a:pPr>
            <a:r>
              <a:rPr lang="en-US" sz="2400" b="1" dirty="0">
                <a:solidFill>
                  <a:srgbClr val="17324D"/>
                </a:solidFill>
                <a:latin typeface="Aptos Display" pitchFamily="34" charset="0"/>
                <a:ea typeface="Aptos Display" pitchFamily="34" charset="-122"/>
                <a:cs typeface="Aptos Display" pitchFamily="34" charset="-120"/>
              </a:rPr>
              <a:t>réellement arriver?</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LABORATOIRE 5</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Débordement signé + classification</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42</a:t>
            </a:r>
            <a:endParaRPr lang="en-US" sz="820" dirty="0"/>
          </a:p>
        </p:txBody>
      </p:sp>
      <p:sp>
        <p:nvSpPr>
          <p:cNvPr id="7" name="Text 5"/>
          <p:cNvSpPr/>
          <p:nvPr/>
        </p:nvSpPr>
        <p:spPr>
          <a:xfrm>
            <a:off x="822960" y="1673352"/>
            <a:ext cx="5029200" cy="1965960"/>
          </a:xfrm>
          <a:prstGeom prst="rect">
            <a:avLst/>
          </a:prstGeom>
          <a:solidFill>
            <a:srgbClr val="F4E1DE"/>
          </a:solidFill>
          <a:ln w="10160">
            <a:solidFill>
              <a:srgbClr val="CEC9BF"/>
            </a:solidFill>
          </a:ln>
        </p:spPr>
        <p:txBody>
          <a:bodyPr wrap="square" lIns="2032" tIns="2032" rIns="2032" bIns="2032" rtlCol="0" anchor="ctr"/>
          <a:lstStyle/>
          <a:p>
            <a:pPr indent="0" marL="0">
              <a:buNone/>
            </a:pPr>
            <a:r>
              <a:rPr lang="en-US" sz="2100" b="1" dirty="0">
                <a:solidFill>
                  <a:srgbClr val="A54B3E"/>
                </a:solidFill>
                <a:latin typeface="Aptos" pitchFamily="34" charset="0"/>
                <a:ea typeface="Aptos" pitchFamily="34" charset="-122"/>
                <a:cs typeface="Aptos" pitchFamily="34" charset="-120"/>
              </a:rPr>
              <a:t>ÉTAPE 7</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Analysez 127 + 1 et −128 + −1 en séparant retenue et débordement.</a:t>
            </a:r>
            <a:endParaRPr lang="en-US" sz="2100" dirty="0"/>
          </a:p>
        </p:txBody>
      </p:sp>
      <p:sp>
        <p:nvSpPr>
          <p:cNvPr id="8" name="Text 6"/>
          <p:cNvSpPr/>
          <p:nvPr/>
        </p:nvSpPr>
        <p:spPr>
          <a:xfrm>
            <a:off x="6309360" y="1673352"/>
            <a:ext cx="5029200" cy="196596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100" b="1" dirty="0">
                <a:solidFill>
                  <a:srgbClr val="B5792A"/>
                </a:solidFill>
                <a:latin typeface="Aptos" pitchFamily="34" charset="0"/>
                <a:ea typeface="Aptos" pitchFamily="34" charset="-122"/>
                <a:cs typeface="Aptos" pitchFamily="34" charset="-120"/>
              </a:rPr>
              <a:t>ÉTAPE 8</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Classez quatre additions : retenue oui/non ET débordement oui/non.</a:t>
            </a:r>
            <a:endParaRPr lang="en-US" sz="2100" dirty="0"/>
          </a:p>
        </p:txBody>
      </p:sp>
      <p:sp>
        <p:nvSpPr>
          <p:cNvPr id="9" name="Text 7"/>
          <p:cNvSpPr/>
          <p:nvPr/>
        </p:nvSpPr>
        <p:spPr>
          <a:xfrm>
            <a:off x="1325880" y="4315968"/>
            <a:ext cx="9555480" cy="566928"/>
          </a:xfrm>
          <a:prstGeom prst="rect">
            <a:avLst/>
          </a:prstGeom>
          <a:noFill/>
          <a:ln/>
        </p:spPr>
        <p:txBody>
          <a:bodyPr wrap="square" lIns="0" tIns="0" rIns="0" bIns="0" rtlCol="0" anchor="ctr"/>
          <a:lstStyle/>
          <a:p>
            <a:pPr algn="ctr" indent="0" marL="0">
              <a:buNone/>
            </a:pPr>
            <a:r>
              <a:rPr lang="en-US" sz="2100" b="1" dirty="0">
                <a:solidFill>
                  <a:srgbClr val="17324D"/>
                </a:solidFill>
                <a:latin typeface="Aptos" pitchFamily="34" charset="0"/>
                <a:ea typeface="Aptos" pitchFamily="34" charset="-122"/>
                <a:cs typeface="Aptos" pitchFamily="34" charset="-120"/>
              </a:rPr>
              <a:t>Ne déduisez jamais le débordement signé à partir de la retenue seule.</a:t>
            </a:r>
            <a:endParaRPr lang="en-US" sz="2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SYNTHÈSE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Les quatre cas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43</a:t>
            </a:r>
            <a:endParaRPr lang="en-US" sz="82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914400" y="1572768"/>
          <a:ext cx="10241280" cy="3337560"/>
        </p:xfrm>
        <a:graphic>
          <a:graphicData uri="http://schemas.openxmlformats.org/drawingml/2006/table">
            <a:tbl>
              <a:tblPr/>
              <a:tblGrid>
                <a:gridCol w="5120640"/>
                <a:gridCol w="2331720"/>
                <a:gridCol w="2788920"/>
              </a:tblGrid>
              <a:tr h="612648">
                <a:tc>
                  <a:txBody>
                    <a:bodyPr/>
                    <a:lstStyle/>
                    <a:p>
                      <a:pPr indent="0" marL="0">
                        <a:buNone/>
                      </a:pPr>
                      <a:r>
                        <a:rPr lang="en-US" sz="1700" b="1" dirty="0">
                          <a:solidFill>
                            <a:srgbClr val="222831"/>
                          </a:solidFill>
                          <a:latin typeface="Aptos" pitchFamily="34" charset="0"/>
                          <a:ea typeface="Aptos" pitchFamily="34" charset="-122"/>
                          <a:cs typeface="Aptos" pitchFamily="34" charset="-120"/>
                        </a:rPr>
                        <a:t>Addition sur 8 bits</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b="1" dirty="0">
                          <a:solidFill>
                            <a:srgbClr val="222831"/>
                          </a:solidFill>
                          <a:latin typeface="Aptos" pitchFamily="34" charset="0"/>
                          <a:ea typeface="Aptos" pitchFamily="34" charset="-122"/>
                          <a:cs typeface="Aptos" pitchFamily="34" charset="-120"/>
                        </a:rPr>
                        <a:t>Retenue finale</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b="1" dirty="0">
                          <a:solidFill>
                            <a:srgbClr val="222831"/>
                          </a:solidFill>
                          <a:latin typeface="Aptos" pitchFamily="34" charset="0"/>
                          <a:ea typeface="Aptos" pitchFamily="34" charset="-122"/>
                          <a:cs typeface="Aptos" pitchFamily="34" charset="-120"/>
                        </a:rPr>
                        <a:t>Débordement signé</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612648">
                <a:tc>
                  <a:txBody>
                    <a:bodyPr/>
                    <a:lstStyle/>
                    <a:p>
                      <a:pPr indent="0" marL="0">
                        <a:buNone/>
                      </a:pPr>
                      <a:r>
                        <a:rPr lang="en-US" sz="1700" dirty="0">
                          <a:solidFill>
                            <a:srgbClr val="222831"/>
                          </a:solidFill>
                          <a:latin typeface="Aptos" pitchFamily="34" charset="0"/>
                          <a:ea typeface="Aptos" pitchFamily="34" charset="-122"/>
                          <a:cs typeface="Aptos" pitchFamily="34" charset="-120"/>
                        </a:rPr>
                        <a:t>11111111 + 00000001</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OUI</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NON</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612648">
                <a:tc>
                  <a:txBody>
                    <a:bodyPr/>
                    <a:lstStyle/>
                    <a:p>
                      <a:pPr indent="0" marL="0">
                        <a:buNone/>
                      </a:pPr>
                      <a:r>
                        <a:rPr lang="en-US" sz="1700" dirty="0">
                          <a:solidFill>
                            <a:srgbClr val="222831"/>
                          </a:solidFill>
                          <a:latin typeface="Aptos" pitchFamily="34" charset="0"/>
                          <a:ea typeface="Aptos" pitchFamily="34" charset="-122"/>
                          <a:cs typeface="Aptos" pitchFamily="34" charset="-120"/>
                        </a:rPr>
                        <a:t>01111111 + 00000001</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NON</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OUI</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612648">
                <a:tc>
                  <a:txBody>
                    <a:bodyPr/>
                    <a:lstStyle/>
                    <a:p>
                      <a:pPr indent="0" marL="0">
                        <a:buNone/>
                      </a:pPr>
                      <a:r>
                        <a:rPr lang="en-US" sz="1700" dirty="0">
                          <a:solidFill>
                            <a:srgbClr val="222831"/>
                          </a:solidFill>
                          <a:latin typeface="Aptos" pitchFamily="34" charset="0"/>
                          <a:ea typeface="Aptos" pitchFamily="34" charset="-122"/>
                          <a:cs typeface="Aptos" pitchFamily="34" charset="-120"/>
                        </a:rPr>
                        <a:t>10000000 + 11111111</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OUI</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OUI</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612648">
                <a:tc>
                  <a:txBody>
                    <a:bodyPr/>
                    <a:lstStyle/>
                    <a:p>
                      <a:pPr indent="0" marL="0">
                        <a:buNone/>
                      </a:pPr>
                      <a:r>
                        <a:rPr lang="en-US" sz="1700" dirty="0">
                          <a:solidFill>
                            <a:srgbClr val="222831"/>
                          </a:solidFill>
                          <a:latin typeface="Aptos" pitchFamily="34" charset="0"/>
                          <a:ea typeface="Aptos" pitchFamily="34" charset="-122"/>
                          <a:cs typeface="Aptos" pitchFamily="34" charset="-120"/>
                        </a:rPr>
                        <a:t>11111110 + 00000001</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NON</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NON</a:t>
                      </a:r>
                      <a:endParaRPr lang="en-US" sz="1700" dirty="0">
                        <a:latin typeface="Aptos" charset="0"/>
                        <a:ea typeface="Aptos" charset="0"/>
                        <a:cs typeface="Aptos" charset="0"/>
                      </a:endParaRPr>
                    </a:p>
                  </a:txBody>
                  <a:tcPr marL="91440" marR="91440" marT="91440" marB="91440"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bl>
          </a:graphicData>
        </a:graphic>
      </p:graphicFrame>
      <p:sp>
        <p:nvSpPr>
          <p:cNvPr id="8" name="Text 5"/>
          <p:cNvSpPr/>
          <p:nvPr/>
        </p:nvSpPr>
        <p:spPr>
          <a:xfrm>
            <a:off x="1097280" y="5138928"/>
            <a:ext cx="9875520" cy="411480"/>
          </a:xfrm>
          <a:prstGeom prst="rect">
            <a:avLst/>
          </a:prstGeom>
          <a:noFill/>
          <a:ln/>
        </p:spPr>
        <p:txBody>
          <a:bodyPr wrap="square" lIns="0" tIns="0" rIns="0" bIns="0" rtlCol="0" anchor="ctr"/>
          <a:lstStyle/>
          <a:p>
            <a:pPr algn="ctr" indent="0" marL="0">
              <a:buNone/>
            </a:pPr>
            <a:r>
              <a:rPr lang="en-US" sz="1800" i="1" dirty="0">
                <a:solidFill>
                  <a:srgbClr val="6B7178"/>
                </a:solidFill>
                <a:latin typeface="Aptos" pitchFamily="34" charset="0"/>
                <a:ea typeface="Aptos" pitchFamily="34" charset="-122"/>
                <a:cs typeface="Aptos" pitchFamily="34" charset="-120"/>
              </a:rPr>
              <a:t>Pour une même addition binaire, les bits du résultat ne changent pas selon l’interprétation signée ou non signée; la retenue et le débordement répondent à des conditions différentes.</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INDICATEURS D’ÉTAT</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Le processeur peut signaler des conditions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44</a:t>
            </a:r>
            <a:endParaRPr lang="en-US" sz="820" dirty="0"/>
          </a:p>
        </p:txBody>
      </p:sp>
      <p:sp>
        <p:nvSpPr>
          <p:cNvPr id="7" name="Text 5"/>
          <p:cNvSpPr/>
          <p:nvPr/>
        </p:nvSpPr>
        <p:spPr>
          <a:xfrm>
            <a:off x="694944" y="1737360"/>
            <a:ext cx="2514600" cy="658368"/>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1900" b="1" dirty="0">
                <a:solidFill>
                  <a:srgbClr val="FFFFFF"/>
                </a:solidFill>
                <a:latin typeface="Aptos" pitchFamily="34" charset="0"/>
                <a:ea typeface="Aptos" pitchFamily="34" charset="-122"/>
                <a:cs typeface="Aptos" pitchFamily="34" charset="-120"/>
              </a:rPr>
              <a:t>ZÉRO</a:t>
            </a:r>
            <a:endParaRPr lang="en-US" sz="1900" dirty="0"/>
          </a:p>
        </p:txBody>
      </p:sp>
      <p:sp>
        <p:nvSpPr>
          <p:cNvPr id="8" name="Text 6"/>
          <p:cNvSpPr/>
          <p:nvPr/>
        </p:nvSpPr>
        <p:spPr>
          <a:xfrm>
            <a:off x="694944" y="2560320"/>
            <a:ext cx="2514600" cy="1097280"/>
          </a:xfrm>
          <a:prstGeom prst="rect">
            <a:avLst/>
          </a:prstGeom>
          <a:solidFill>
            <a:srgbClr val="F5F1EA"/>
          </a:solidFill>
          <a:ln>
            <a:solidFill>
              <a:srgbClr val="CEC9BF"/>
            </a:solidFill>
          </a:ln>
        </p:spPr>
        <p:txBody>
          <a:bodyPr wrap="square" lIns="1524" tIns="1524" rIns="1524" bIns="1524" rtlCol="0" anchor="ctr"/>
          <a:lstStyle/>
          <a:p>
            <a:pPr algn="ctr" indent="0" marL="0">
              <a:buNone/>
            </a:pPr>
            <a:r>
              <a:rPr lang="en-US" sz="1700" dirty="0">
                <a:solidFill>
                  <a:srgbClr val="222831"/>
                </a:solidFill>
                <a:latin typeface="Aptos" pitchFamily="34" charset="0"/>
                <a:ea typeface="Aptos" pitchFamily="34" charset="-122"/>
                <a:cs typeface="Aptos" pitchFamily="34" charset="-120"/>
              </a:rPr>
              <a:t>résultat conservé = 0</a:t>
            </a:r>
            <a:endParaRPr lang="en-US" sz="1700" dirty="0"/>
          </a:p>
        </p:txBody>
      </p:sp>
      <p:sp>
        <p:nvSpPr>
          <p:cNvPr id="9" name="Text 7"/>
          <p:cNvSpPr/>
          <p:nvPr/>
        </p:nvSpPr>
        <p:spPr>
          <a:xfrm>
            <a:off x="3557016" y="1737360"/>
            <a:ext cx="2514600" cy="658368"/>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1900" b="1" dirty="0">
                <a:solidFill>
                  <a:srgbClr val="FFFFFF"/>
                </a:solidFill>
                <a:latin typeface="Aptos" pitchFamily="34" charset="0"/>
                <a:ea typeface="Aptos" pitchFamily="34" charset="-122"/>
                <a:cs typeface="Aptos" pitchFamily="34" charset="-120"/>
              </a:rPr>
              <a:t>SIGNE</a:t>
            </a:r>
            <a:endParaRPr lang="en-US" sz="1900" dirty="0"/>
          </a:p>
        </p:txBody>
      </p:sp>
      <p:sp>
        <p:nvSpPr>
          <p:cNvPr id="10" name="Text 8"/>
          <p:cNvSpPr/>
          <p:nvPr/>
        </p:nvSpPr>
        <p:spPr>
          <a:xfrm>
            <a:off x="3557016" y="2560320"/>
            <a:ext cx="2514600" cy="1097280"/>
          </a:xfrm>
          <a:prstGeom prst="rect">
            <a:avLst/>
          </a:prstGeom>
          <a:solidFill>
            <a:srgbClr val="F5F1EA"/>
          </a:solidFill>
          <a:ln>
            <a:solidFill>
              <a:srgbClr val="CEC9BF"/>
            </a:solidFill>
          </a:ln>
        </p:spPr>
        <p:txBody>
          <a:bodyPr wrap="square" lIns="1524" tIns="1524" rIns="1524" bIns="1524" rtlCol="0" anchor="ctr"/>
          <a:lstStyle/>
          <a:p>
            <a:pPr algn="ctr" indent="0" marL="0">
              <a:buNone/>
            </a:pPr>
            <a:r>
              <a:rPr lang="en-US" sz="1700" dirty="0">
                <a:solidFill>
                  <a:srgbClr val="222831"/>
                </a:solidFill>
                <a:latin typeface="Aptos" pitchFamily="34" charset="0"/>
                <a:ea typeface="Aptos" pitchFamily="34" charset="-122"/>
                <a:cs typeface="Aptos" pitchFamily="34" charset="-120"/>
              </a:rPr>
              <a:t>bit de signe = 1</a:t>
            </a:r>
            <a:endParaRPr lang="en-US" sz="1700" dirty="0"/>
          </a:p>
        </p:txBody>
      </p:sp>
      <p:sp>
        <p:nvSpPr>
          <p:cNvPr id="11" name="Text 9"/>
          <p:cNvSpPr/>
          <p:nvPr/>
        </p:nvSpPr>
        <p:spPr>
          <a:xfrm>
            <a:off x="6419088" y="1737360"/>
            <a:ext cx="2514600" cy="658368"/>
          </a:xfrm>
          <a:prstGeom prst="rect">
            <a:avLst/>
          </a:prstGeom>
          <a:solidFill>
            <a:srgbClr val="B5792A"/>
          </a:solidFill>
          <a:ln>
            <a:solidFill>
              <a:srgbClr val="B5792A"/>
            </a:solidFill>
          </a:ln>
        </p:spPr>
        <p:txBody>
          <a:bodyPr wrap="square" lIns="0" tIns="0" rIns="0" bIns="0" rtlCol="0" anchor="ctr"/>
          <a:lstStyle/>
          <a:p>
            <a:pPr algn="ctr" indent="0" marL="0">
              <a:buNone/>
            </a:pPr>
            <a:r>
              <a:rPr lang="en-US" sz="1900" b="1" dirty="0">
                <a:solidFill>
                  <a:srgbClr val="FFFFFF"/>
                </a:solidFill>
                <a:latin typeface="Aptos" pitchFamily="34" charset="0"/>
                <a:ea typeface="Aptos" pitchFamily="34" charset="-122"/>
                <a:cs typeface="Aptos" pitchFamily="34" charset="-120"/>
              </a:rPr>
              <a:t>RETENUE</a:t>
            </a:r>
            <a:endParaRPr lang="en-US" sz="1900" dirty="0"/>
          </a:p>
        </p:txBody>
      </p:sp>
      <p:sp>
        <p:nvSpPr>
          <p:cNvPr id="12" name="Text 10"/>
          <p:cNvSpPr/>
          <p:nvPr/>
        </p:nvSpPr>
        <p:spPr>
          <a:xfrm>
            <a:off x="6419088" y="2560320"/>
            <a:ext cx="2514600" cy="1097280"/>
          </a:xfrm>
          <a:prstGeom prst="rect">
            <a:avLst/>
          </a:prstGeom>
          <a:solidFill>
            <a:srgbClr val="F5F1EA"/>
          </a:solidFill>
          <a:ln>
            <a:solidFill>
              <a:srgbClr val="CEC9BF"/>
            </a:solidFill>
          </a:ln>
        </p:spPr>
        <p:txBody>
          <a:bodyPr wrap="square" lIns="1524" tIns="1524" rIns="1524" bIns="1524" rtlCol="0" anchor="ctr"/>
          <a:lstStyle/>
          <a:p>
            <a:pPr algn="ctr" indent="0" marL="0">
              <a:buNone/>
            </a:pPr>
            <a:r>
              <a:rPr lang="en-US" sz="1700" dirty="0">
                <a:solidFill>
                  <a:srgbClr val="222831"/>
                </a:solidFill>
                <a:latin typeface="Aptos" pitchFamily="34" charset="0"/>
                <a:ea typeface="Aptos" pitchFamily="34" charset="-122"/>
                <a:cs typeface="Aptos" pitchFamily="34" charset="-120"/>
              </a:rPr>
              <a:t>bit sortant du MSB</a:t>
            </a:r>
            <a:endParaRPr lang="en-US" sz="1700" dirty="0"/>
          </a:p>
        </p:txBody>
      </p:sp>
      <p:sp>
        <p:nvSpPr>
          <p:cNvPr id="13" name="Text 11"/>
          <p:cNvSpPr/>
          <p:nvPr/>
        </p:nvSpPr>
        <p:spPr>
          <a:xfrm>
            <a:off x="9281160" y="1737360"/>
            <a:ext cx="2514600" cy="658368"/>
          </a:xfrm>
          <a:prstGeom prst="rect">
            <a:avLst/>
          </a:prstGeom>
          <a:solidFill>
            <a:srgbClr val="A54B3E"/>
          </a:solidFill>
          <a:ln>
            <a:solidFill>
              <a:srgbClr val="A54B3E"/>
            </a:solidFill>
          </a:ln>
        </p:spPr>
        <p:txBody>
          <a:bodyPr wrap="square" lIns="0" tIns="0" rIns="0" bIns="0" rtlCol="0" anchor="ctr"/>
          <a:lstStyle/>
          <a:p>
            <a:pPr algn="ctr" indent="0" marL="0">
              <a:buNone/>
            </a:pPr>
            <a:r>
              <a:rPr lang="en-US" sz="1900" b="1" dirty="0">
                <a:solidFill>
                  <a:srgbClr val="FFFFFF"/>
                </a:solidFill>
                <a:latin typeface="Aptos" pitchFamily="34" charset="0"/>
                <a:ea typeface="Aptos" pitchFamily="34" charset="-122"/>
                <a:cs typeface="Aptos" pitchFamily="34" charset="-120"/>
              </a:rPr>
              <a:t>DÉBORDEMENT</a:t>
            </a:r>
            <a:endParaRPr lang="en-US" sz="1900" dirty="0"/>
          </a:p>
        </p:txBody>
      </p:sp>
      <p:sp>
        <p:nvSpPr>
          <p:cNvPr id="14" name="Text 12"/>
          <p:cNvSpPr/>
          <p:nvPr/>
        </p:nvSpPr>
        <p:spPr>
          <a:xfrm>
            <a:off x="9281160" y="2560320"/>
            <a:ext cx="2514600" cy="1097280"/>
          </a:xfrm>
          <a:prstGeom prst="rect">
            <a:avLst/>
          </a:prstGeom>
          <a:solidFill>
            <a:srgbClr val="F5F1EA"/>
          </a:solidFill>
          <a:ln>
            <a:solidFill>
              <a:srgbClr val="CEC9BF"/>
            </a:solidFill>
          </a:ln>
        </p:spPr>
        <p:txBody>
          <a:bodyPr wrap="square" lIns="1524" tIns="1524" rIns="1524" bIns="1524" rtlCol="0" anchor="ctr"/>
          <a:lstStyle/>
          <a:p>
            <a:pPr algn="ctr" indent="0" marL="0">
              <a:buNone/>
            </a:pPr>
            <a:r>
              <a:rPr lang="en-US" sz="1700" dirty="0">
                <a:solidFill>
                  <a:srgbClr val="222831"/>
                </a:solidFill>
                <a:latin typeface="Aptos" pitchFamily="34" charset="0"/>
                <a:ea typeface="Aptos" pitchFamily="34" charset="-122"/>
                <a:cs typeface="Aptos" pitchFamily="34" charset="-120"/>
              </a:rPr>
              <a:t>résultat signé non représentable</a:t>
            </a:r>
            <a:endParaRPr lang="en-US" sz="1700" dirty="0"/>
          </a:p>
        </p:txBody>
      </p:sp>
      <p:sp>
        <p:nvSpPr>
          <p:cNvPr id="15" name="Text 13"/>
          <p:cNvSpPr/>
          <p:nvPr/>
        </p:nvSpPr>
        <p:spPr>
          <a:xfrm>
            <a:off x="960120" y="4315968"/>
            <a:ext cx="10195560" cy="841248"/>
          </a:xfrm>
          <a:prstGeom prst="rect">
            <a:avLst/>
          </a:prstGeom>
          <a:solidFill>
            <a:srgbClr val="EEE9E1"/>
          </a:solidFill>
          <a:ln>
            <a:solidFill>
              <a:srgbClr val="CEC9BF"/>
            </a:solidFill>
          </a:ln>
        </p:spPr>
        <p:txBody>
          <a:bodyPr wrap="square" lIns="2032" tIns="2032" rIns="2032" bIns="2032" rtlCol="0" anchor="ctr"/>
          <a:lstStyle/>
          <a:p>
            <a:pPr algn="ctr" indent="0" marL="0">
              <a:buNone/>
            </a:pPr>
            <a:r>
              <a:rPr lang="en-US" sz="2100" b="1" dirty="0">
                <a:solidFill>
                  <a:srgbClr val="17324D"/>
                </a:solidFill>
                <a:latin typeface="Aptos" pitchFamily="34" charset="0"/>
                <a:ea typeface="Aptos" pitchFamily="34" charset="-122"/>
                <a:cs typeface="Aptos" pitchFamily="34" charset="-120"/>
              </a:rPr>
              <a:t>Un indicateur signale une condition. Il ne « comprend » pas si cette condition est normale ou problématique pour le programme.</a:t>
            </a:r>
            <a:endParaRPr lang="en-US" sz="2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E2B16C"/>
                </a:solidFill>
                <a:latin typeface="Aptos" pitchFamily="34" charset="0"/>
                <a:ea typeface="Aptos" pitchFamily="34" charset="-122"/>
                <a:cs typeface="Aptos" pitchFamily="34" charset="-120"/>
              </a:rPr>
              <a:t>PAUSE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5 minutes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45</a:t>
            </a:r>
            <a:endParaRPr lang="en-US" sz="820" dirty="0"/>
          </a:p>
        </p:txBody>
      </p:sp>
      <p:sp>
        <p:nvSpPr>
          <p:cNvPr id="7" name="Text 5"/>
          <p:cNvSpPr/>
          <p:nvPr/>
        </p:nvSpPr>
        <p:spPr>
          <a:xfrm>
            <a:off x="777240" y="1417320"/>
            <a:ext cx="1554480" cy="1508760"/>
          </a:xfrm>
          <a:prstGeom prst="rect">
            <a:avLst/>
          </a:prstGeom>
          <a:noFill/>
          <a:ln/>
        </p:spPr>
        <p:txBody>
          <a:bodyPr wrap="square" lIns="0" tIns="0" rIns="0" bIns="0" rtlCol="0" anchor="ctr"/>
          <a:lstStyle/>
          <a:p>
            <a:pPr algn="ctr" indent="0" marL="0">
              <a:buNone/>
            </a:pPr>
            <a:r>
              <a:rPr lang="en-US" sz="8800" b="1" dirty="0">
                <a:solidFill>
                  <a:srgbClr val="E2B16C"/>
                </a:solidFill>
                <a:latin typeface="Aptos Display" pitchFamily="34" charset="0"/>
                <a:ea typeface="Aptos Display" pitchFamily="34" charset="-122"/>
                <a:cs typeface="Aptos Display" pitchFamily="34" charset="-120"/>
              </a:rPr>
              <a:t>4</a:t>
            </a:r>
            <a:endParaRPr lang="en-US" sz="8800" dirty="0"/>
          </a:p>
        </p:txBody>
      </p:sp>
      <p:sp>
        <p:nvSpPr>
          <p:cNvPr id="8" name="Text 6"/>
          <p:cNvSpPr/>
          <p:nvPr/>
        </p:nvSpPr>
        <p:spPr>
          <a:xfrm>
            <a:off x="2606040" y="1627632"/>
            <a:ext cx="3840480" cy="320040"/>
          </a:xfrm>
          <a:prstGeom prst="rect">
            <a:avLst/>
          </a:prstGeom>
          <a:noFill/>
          <a:ln/>
        </p:spPr>
        <p:txBody>
          <a:bodyPr wrap="square" lIns="0" tIns="0" rIns="0" bIns="0" rtlCol="0" anchor="ctr"/>
          <a:lstStyle/>
          <a:p>
            <a:pPr indent="0" marL="0">
              <a:buNone/>
            </a:pPr>
            <a:r>
              <a:rPr lang="en-US" sz="1200" b="1" spc="100" kern="0" dirty="0">
                <a:solidFill>
                  <a:srgbClr val="D8E0E8"/>
                </a:solidFill>
                <a:latin typeface="Aptos" pitchFamily="34" charset="0"/>
                <a:ea typeface="Aptos" pitchFamily="34" charset="-122"/>
                <a:cs typeface="Aptos" pitchFamily="34" charset="-120"/>
              </a:rPr>
              <a:t>PÉRIODE SUIVANTE</a:t>
            </a:r>
            <a:endParaRPr lang="en-US" sz="1200" dirty="0"/>
          </a:p>
        </p:txBody>
      </p:sp>
      <p:sp>
        <p:nvSpPr>
          <p:cNvPr id="9" name="Text 7"/>
          <p:cNvSpPr/>
          <p:nvPr/>
        </p:nvSpPr>
        <p:spPr>
          <a:xfrm>
            <a:off x="2606040" y="2057400"/>
            <a:ext cx="8183880" cy="146304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Au retour : on ouvre de vrais ordinateurs.</a:t>
            </a:r>
            <a:endParaRPr lang="en-US" sz="3000" dirty="0"/>
          </a:p>
        </p:txBody>
      </p:sp>
      <p:sp>
        <p:nvSpPr>
          <p:cNvPr id="10" name="Text 8"/>
          <p:cNvSpPr/>
          <p:nvPr/>
        </p:nvSpPr>
        <p:spPr>
          <a:xfrm>
            <a:off x="2606040" y="4069080"/>
            <a:ext cx="6949440" cy="347472"/>
          </a:xfrm>
          <a:prstGeom prst="rect">
            <a:avLst/>
          </a:prstGeom>
          <a:noFill/>
          <a:ln/>
        </p:spPr>
        <p:txBody>
          <a:bodyPr wrap="square" lIns="0" tIns="0" rIns="0" bIns="0" rtlCol="0" anchor="ctr"/>
          <a:lstStyle/>
          <a:p>
            <a:pPr indent="0" marL="0">
              <a:buNone/>
            </a:pPr>
            <a:r>
              <a:rPr lang="en-US" sz="1600" dirty="0">
                <a:solidFill>
                  <a:srgbClr val="D8E0E8"/>
                </a:solidFill>
                <a:latin typeface="Aptos" pitchFamily="34" charset="0"/>
                <a:ea typeface="Aptos" pitchFamily="34" charset="-122"/>
                <a:cs typeface="Aptos" pitchFamily="34" charset="-120"/>
              </a:rPr>
              <a:t>Laissez cette diapositive affichée pendant la pause.</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MATÉRIEL</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Du schéma à la machine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46</a:t>
            </a:r>
            <a:endParaRPr lang="en-US" sz="820" dirty="0"/>
          </a:p>
        </p:txBody>
      </p:sp>
      <p:sp>
        <p:nvSpPr>
          <p:cNvPr id="7" name="Shape 5"/>
          <p:cNvSpPr/>
          <p:nvPr/>
        </p:nvSpPr>
        <p:spPr>
          <a:xfrm>
            <a:off x="630936" y="1325880"/>
            <a:ext cx="7004304" cy="448970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2_open_case_connected.jpg">    </p:cNvPr>
          <p:cNvPicPr>
            <a:picLocks noChangeAspect="1"/>
          </p:cNvPicPr>
          <p:nvPr/>
        </p:nvPicPr>
        <p:blipFill>
          <a:blip r:embed="rId1"/>
          <a:srcRect l="0" r="0" t="7503" b="7503"/>
          <a:stretch/>
        </p:blipFill>
        <p:spPr>
          <a:xfrm>
            <a:off x="658368" y="1353312"/>
            <a:ext cx="6949440" cy="4434840"/>
          </a:xfrm>
          <a:prstGeom prst="rect">
            <a:avLst/>
          </a:prstGeom>
        </p:spPr>
      </p:pic>
      <p:sp>
        <p:nvSpPr>
          <p:cNvPr id="9" name="Text 6"/>
          <p:cNvSpPr/>
          <p:nvPr/>
        </p:nvSpPr>
        <p:spPr>
          <a:xfrm>
            <a:off x="7973568" y="1572768"/>
            <a:ext cx="1828800" cy="292608"/>
          </a:xfrm>
          <a:prstGeom prst="rect">
            <a:avLst/>
          </a:prstGeom>
          <a:noFill/>
          <a:ln/>
        </p:spPr>
        <p:txBody>
          <a:bodyPr wrap="square" lIns="0" tIns="0" rIns="0" bIns="0" rtlCol="0" anchor="ctr"/>
          <a:lstStyle/>
          <a:p>
            <a:pPr indent="0" marL="0">
              <a:buNone/>
            </a:pPr>
            <a:r>
              <a:rPr lang="en-US" sz="1200" b="1" spc="100" kern="0" dirty="0">
                <a:solidFill>
                  <a:srgbClr val="B5792A"/>
                </a:solidFill>
                <a:latin typeface="Aptos" pitchFamily="34" charset="0"/>
                <a:ea typeface="Aptos" pitchFamily="34" charset="-122"/>
                <a:cs typeface="Aptos" pitchFamily="34" charset="-120"/>
              </a:rPr>
              <a:t>OBJECTIF</a:t>
            </a:r>
            <a:endParaRPr lang="en-US" sz="1200" dirty="0"/>
          </a:p>
        </p:txBody>
      </p:sp>
      <p:sp>
        <p:nvSpPr>
          <p:cNvPr id="10" name="Text 7"/>
          <p:cNvSpPr/>
          <p:nvPr/>
        </p:nvSpPr>
        <p:spPr>
          <a:xfrm>
            <a:off x="7973568" y="1938528"/>
            <a:ext cx="2880360" cy="2487168"/>
          </a:xfrm>
          <a:prstGeom prst="rect">
            <a:avLst/>
          </a:prstGeom>
          <a:noFill/>
          <a:ln/>
        </p:spPr>
        <p:txBody>
          <a:bodyPr wrap="square" lIns="0" tIns="0" rIns="0" bIns="0" rtlCol="0" anchor="ct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ouvrir</a:t>
            </a:r>
            <a:endParaRPr lang="en-US" sz="3000" dirty="0"/>
          </a:p>
          <a:p>
            <a:pPr indent="0" marL="0">
              <a:buNone/>
            </a:pPr>
            <a:r>
              <a:rPr lang="en-US" sz="3000" b="1" dirty="0">
                <a:solidFill>
                  <a:srgbClr val="17324D"/>
                </a:solidFill>
                <a:latin typeface="Aptos Display" pitchFamily="34" charset="0"/>
                <a:ea typeface="Aptos Display" pitchFamily="34" charset="-122"/>
                <a:cs typeface="Aptos Display" pitchFamily="34" charset="-120"/>
              </a:rPr>
              <a:t>observer</a:t>
            </a:r>
            <a:endParaRPr lang="en-US" sz="3000" dirty="0"/>
          </a:p>
          <a:p>
            <a:pPr indent="0" marL="0">
              <a:buNone/>
            </a:pPr>
            <a:r>
              <a:rPr lang="en-US" sz="3000" b="1" dirty="0">
                <a:solidFill>
                  <a:srgbClr val="17324D"/>
                </a:solidFill>
                <a:latin typeface="Aptos Display" pitchFamily="34" charset="0"/>
                <a:ea typeface="Aptos Display" pitchFamily="34" charset="-122"/>
                <a:cs typeface="Aptos Display" pitchFamily="34" charset="-120"/>
              </a:rPr>
              <a:t>manipuler</a:t>
            </a:r>
            <a:endParaRPr lang="en-US" sz="3000" dirty="0"/>
          </a:p>
          <a:p>
            <a:pPr indent="0" marL="0">
              <a:buNone/>
            </a:pPr>
            <a:r>
              <a:rPr lang="en-US" sz="3000" b="1" dirty="0">
                <a:solidFill>
                  <a:srgbClr val="17324D"/>
                </a:solidFill>
                <a:latin typeface="Aptos Display" pitchFamily="34" charset="0"/>
                <a:ea typeface="Aptos Display" pitchFamily="34" charset="-122"/>
                <a:cs typeface="Aptos Display" pitchFamily="34" charset="-120"/>
              </a:rPr>
              <a:t>restaurer</a:t>
            </a:r>
            <a:endParaRPr lang="en-US" sz="3000" dirty="0"/>
          </a:p>
          <a:p>
            <a:pPr indent="0" marL="0">
              <a:buNone/>
            </a:pPr>
            <a:r>
              <a:rPr lang="en-US" sz="3000" b="1" dirty="0">
                <a:solidFill>
                  <a:srgbClr val="17324D"/>
                </a:solidFill>
                <a:latin typeface="Aptos Display" pitchFamily="34" charset="0"/>
                <a:ea typeface="Aptos Display" pitchFamily="34" charset="-122"/>
                <a:cs typeface="Aptos Display" pitchFamily="34" charset="-120"/>
              </a:rPr>
              <a:t>vérifier</a:t>
            </a:r>
            <a:endParaRPr lang="en-US" sz="3000" dirty="0"/>
          </a:p>
        </p:txBody>
      </p:sp>
      <p:sp>
        <p:nvSpPr>
          <p:cNvPr id="11" name="Text 8"/>
          <p:cNvSpPr/>
          <p:nvPr/>
        </p:nvSpPr>
        <p:spPr>
          <a:xfrm>
            <a:off x="7973568" y="4919472"/>
            <a:ext cx="3108960" cy="411480"/>
          </a:xfrm>
          <a:prstGeom prst="rect">
            <a:avLst/>
          </a:prstGeom>
          <a:noFill/>
          <a:ln/>
        </p:spPr>
        <p:txBody>
          <a:bodyPr wrap="square" lIns="0" tIns="0" rIns="0" bIns="0" rtlCol="0" anchor="ctr"/>
          <a:lstStyle/>
          <a:p>
            <a:pPr indent="0" marL="0">
              <a:buNone/>
            </a:pPr>
            <a:r>
              <a:rPr lang="en-US" sz="1800" dirty="0">
                <a:solidFill>
                  <a:srgbClr val="6B7178"/>
                </a:solidFill>
                <a:latin typeface="Aptos" pitchFamily="34" charset="0"/>
                <a:ea typeface="Aptos" pitchFamily="34" charset="-122"/>
                <a:cs typeface="Aptos" pitchFamily="34" charset="-120"/>
              </a:rPr>
              <a:t>Travail en équipe de deux ou trois.</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ORGANISATION DE L’ÉQUIPE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Un outil → un technicien à la fois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47</a:t>
            </a:r>
            <a:endParaRPr lang="en-US" sz="820" dirty="0"/>
          </a:p>
        </p:txBody>
      </p:sp>
      <p:sp>
        <p:nvSpPr>
          <p:cNvPr id="7" name="Text 5"/>
          <p:cNvSpPr/>
          <p:nvPr/>
        </p:nvSpPr>
        <p:spPr>
          <a:xfrm>
            <a:off x="749808" y="1700784"/>
            <a:ext cx="3383280" cy="224028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000" b="1" dirty="0">
                <a:solidFill>
                  <a:srgbClr val="2D6F6B"/>
                </a:solidFill>
                <a:latin typeface="Aptos" pitchFamily="34" charset="0"/>
                <a:ea typeface="Aptos" pitchFamily="34" charset="-122"/>
                <a:cs typeface="Aptos" pitchFamily="34" charset="-120"/>
              </a:rPr>
              <a:t>TECHNICIEN·NE</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porte le bracelet</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utilise le tournevis</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manipule le matériel</a:t>
            </a:r>
            <a:endParaRPr lang="en-US" sz="2000" dirty="0"/>
          </a:p>
        </p:txBody>
      </p:sp>
      <p:sp>
        <p:nvSpPr>
          <p:cNvPr id="8" name="Text 6"/>
          <p:cNvSpPr/>
          <p:nvPr/>
        </p:nvSpPr>
        <p:spPr>
          <a:xfrm>
            <a:off x="4407408" y="1700784"/>
            <a:ext cx="3383280" cy="224028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1900" b="1" dirty="0">
                <a:solidFill>
                  <a:srgbClr val="17324D"/>
                </a:solidFill>
                <a:latin typeface="Aptos" pitchFamily="34" charset="0"/>
                <a:ea typeface="Aptos" pitchFamily="34" charset="-122"/>
                <a:cs typeface="Aptos" pitchFamily="34" charset="-120"/>
              </a:rPr>
              <a:t>VÉRIFICATEUR·RICE</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lit la prochaine étape</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observe la sécurité</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arrête si quelque chose résiste</a:t>
            </a:r>
            <a:endParaRPr lang="en-US" sz="1900" dirty="0"/>
          </a:p>
        </p:txBody>
      </p:sp>
      <p:sp>
        <p:nvSpPr>
          <p:cNvPr id="9" name="Text 7"/>
          <p:cNvSpPr/>
          <p:nvPr/>
        </p:nvSpPr>
        <p:spPr>
          <a:xfrm>
            <a:off x="8065008" y="1700784"/>
            <a:ext cx="3383280" cy="224028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000" b="1" dirty="0">
                <a:solidFill>
                  <a:srgbClr val="B5792A"/>
                </a:solidFill>
                <a:latin typeface="Aptos" pitchFamily="34" charset="0"/>
                <a:ea typeface="Aptos" pitchFamily="34" charset="-122"/>
                <a:cs typeface="Aptos" pitchFamily="34" charset="-120"/>
              </a:rPr>
              <a:t>DOCUMENTALISTE</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prend les photos</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note les connexions</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conserve la trace</a:t>
            </a:r>
            <a:endParaRPr lang="en-US" sz="2000" dirty="0"/>
          </a:p>
        </p:txBody>
      </p:sp>
      <p:sp>
        <p:nvSpPr>
          <p:cNvPr id="10" name="Text 8"/>
          <p:cNvSpPr/>
          <p:nvPr/>
        </p:nvSpPr>
        <p:spPr>
          <a:xfrm>
            <a:off x="1143000" y="4526280"/>
            <a:ext cx="9875520" cy="640080"/>
          </a:xfrm>
          <a:prstGeom prst="rect">
            <a:avLst/>
          </a:prstGeom>
          <a:noFill/>
          <a:ln/>
        </p:spPr>
        <p:txBody>
          <a:bodyPr wrap="square" lIns="0" tIns="0" rIns="0" bIns="0" rtlCol="0" anchor="ctr"/>
          <a:lstStyle/>
          <a:p>
            <a:pPr algn="ctr" indent="0" marL="0">
              <a:buNone/>
            </a:pPr>
            <a:r>
              <a:rPr lang="en-US" sz="2300" b="1" dirty="0">
                <a:solidFill>
                  <a:srgbClr val="B5792A"/>
                </a:solidFill>
                <a:latin typeface="Aptos" pitchFamily="34" charset="0"/>
                <a:ea typeface="Aptos" pitchFamily="34" charset="-122"/>
                <a:cs typeface="Aptos" pitchFamily="34" charset="-120"/>
              </a:rPr>
              <a:t>On change de technicien·ne AVANT chaque nouvelle intervention physique.</a:t>
            </a:r>
            <a:endParaRPr lang="en-US" sz="2300" dirty="0"/>
          </a:p>
        </p:txBody>
      </p:sp>
      <p:sp>
        <p:nvSpPr>
          <p:cNvPr id="11" name="Text 9"/>
          <p:cNvSpPr/>
          <p:nvPr/>
        </p:nvSpPr>
        <p:spPr>
          <a:xfrm>
            <a:off x="1325880" y="5257800"/>
            <a:ext cx="9509760" cy="347472"/>
          </a:xfrm>
          <a:prstGeom prst="rect">
            <a:avLst/>
          </a:prstGeom>
          <a:noFill/>
          <a:ln/>
        </p:spPr>
        <p:txBody>
          <a:bodyPr wrap="square" lIns="0" tIns="0" rIns="0" bIns="0" rtlCol="0" anchor="ctr"/>
          <a:lstStyle/>
          <a:p>
            <a:pPr algn="ctr" indent="0" marL="0">
              <a:buNone/>
            </a:pPr>
            <a:r>
              <a:rPr lang="en-US" sz="1600" dirty="0">
                <a:solidFill>
                  <a:srgbClr val="6B7178"/>
                </a:solidFill>
                <a:latin typeface="Aptos" pitchFamily="34" charset="0"/>
                <a:ea typeface="Aptos" pitchFamily="34" charset="-122"/>
                <a:cs typeface="Aptos" pitchFamily="34" charset="-120"/>
              </a:rPr>
              <a:t>En binôme, la deuxième personne combine vérification + documentation.</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PRÉPARATION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Préparer le poste de travail</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48</a:t>
            </a:r>
            <a:endParaRPr lang="en-US" sz="820" dirty="0"/>
          </a:p>
        </p:txBody>
      </p:sp>
      <p:sp>
        <p:nvSpPr>
          <p:cNvPr id="7" name="Text 5"/>
          <p:cNvSpPr/>
          <p:nvPr/>
        </p:nvSpPr>
        <p:spPr>
          <a:xfrm>
            <a:off x="822960" y="2057400"/>
            <a:ext cx="2468880" cy="137160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100" b="1" dirty="0">
                <a:solidFill>
                  <a:srgbClr val="FFFFFF"/>
                </a:solidFill>
                <a:latin typeface="Aptos Display" pitchFamily="34" charset="0"/>
                <a:ea typeface="Aptos Display" pitchFamily="34" charset="-122"/>
                <a:cs typeface="Aptos Display" pitchFamily="34" charset="-120"/>
              </a:rPr>
              <a:t>PC / CHÂSSIS</a:t>
            </a:r>
            <a:endParaRPr lang="en-US" sz="3100" dirty="0"/>
          </a:p>
        </p:txBody>
      </p:sp>
      <p:sp>
        <p:nvSpPr>
          <p:cNvPr id="8" name="Text 6"/>
          <p:cNvSpPr/>
          <p:nvPr/>
        </p:nvSpPr>
        <p:spPr>
          <a:xfrm>
            <a:off x="3703320" y="1600200"/>
            <a:ext cx="2743200" cy="3429000"/>
          </a:xfrm>
          <a:prstGeom prst="rect">
            <a:avLst/>
          </a:prstGeom>
          <a:solidFill>
            <a:srgbClr val="E6F0EE"/>
          </a:solidFill>
          <a:ln w="19050">
            <a:solidFill>
              <a:srgbClr val="2D6F6B"/>
            </a:solidFill>
          </a:ln>
        </p:spPr>
        <p:txBody>
          <a:bodyPr wrap="square" lIns="1524" tIns="1524" rIns="1524" bIns="1524" rtlCol="0" anchor="b"/>
          <a:lstStyle/>
          <a:p>
            <a:pPr algn="ctr" indent="0" marL="0">
              <a:buNone/>
            </a:pPr>
            <a:r>
              <a:rPr lang="en-US" sz="2200" b="1" dirty="0">
                <a:solidFill>
                  <a:srgbClr val="2D6F6B"/>
                </a:solidFill>
                <a:latin typeface="Aptos Display" pitchFamily="34" charset="0"/>
                <a:ea typeface="Aptos Display" pitchFamily="34" charset="-122"/>
                <a:cs typeface="Aptos Display" pitchFamily="34" charset="-120"/>
              </a:rPr>
              <a:t>TAPIS ESD</a:t>
            </a:r>
            <a:endParaRPr lang="en-US" sz="2200" dirty="0"/>
          </a:p>
        </p:txBody>
      </p:sp>
      <p:sp>
        <p:nvSpPr>
          <p:cNvPr id="9" name="Text 7"/>
          <p:cNvSpPr/>
          <p:nvPr/>
        </p:nvSpPr>
        <p:spPr>
          <a:xfrm>
            <a:off x="4133088" y="1993392"/>
            <a:ext cx="1874520" cy="914400"/>
          </a:xfrm>
          <a:prstGeom prst="rect">
            <a:avLst/>
          </a:prstGeom>
          <a:solidFill>
            <a:srgbClr val="FFFFFF"/>
          </a:solidFill>
          <a:ln>
            <a:solidFill>
              <a:srgbClr val="2D6F6B"/>
            </a:solidFill>
          </a:ln>
        </p:spPr>
        <p:txBody>
          <a:bodyPr wrap="square" lIns="635" tIns="635" rIns="635" bIns="635" rtlCol="0" anchor="ctr"/>
          <a:lstStyle/>
          <a:p>
            <a:pPr algn="ctr" indent="0" marL="0">
              <a:buNone/>
            </a:pPr>
            <a:r>
              <a:rPr lang="en-US" sz="1900" b="1" dirty="0">
                <a:solidFill>
                  <a:srgbClr val="222831"/>
                </a:solidFill>
                <a:latin typeface="Aptos" pitchFamily="34" charset="0"/>
                <a:ea typeface="Aptos" pitchFamily="34" charset="-122"/>
                <a:cs typeface="Aptos" pitchFamily="34" charset="-120"/>
              </a:rPr>
              <a:t>composants</a:t>
            </a:r>
            <a:endParaRPr lang="en-US" sz="1900" dirty="0"/>
          </a:p>
          <a:p>
            <a:pPr algn="ctr" indent="0" marL="0">
              <a:buNone/>
            </a:pPr>
            <a:r>
              <a:rPr lang="en-US" sz="1900" b="1" dirty="0">
                <a:solidFill>
                  <a:srgbClr val="222831"/>
                </a:solidFill>
                <a:latin typeface="Aptos" pitchFamily="34" charset="0"/>
                <a:ea typeface="Aptos" pitchFamily="34" charset="-122"/>
                <a:cs typeface="Aptos" pitchFamily="34" charset="-120"/>
              </a:rPr>
              <a:t>retirés</a:t>
            </a:r>
            <a:endParaRPr lang="en-US" sz="1900" dirty="0"/>
          </a:p>
        </p:txBody>
      </p:sp>
      <p:sp>
        <p:nvSpPr>
          <p:cNvPr id="10" name="Text 8"/>
          <p:cNvSpPr/>
          <p:nvPr/>
        </p:nvSpPr>
        <p:spPr>
          <a:xfrm>
            <a:off x="4096512" y="3218688"/>
            <a:ext cx="868680" cy="658368"/>
          </a:xfrm>
          <a:prstGeom prst="rect">
            <a:avLst/>
          </a:prstGeom>
          <a:solidFill>
            <a:srgbClr val="F2E4CE"/>
          </a:solidFill>
          <a:ln>
            <a:solidFill>
              <a:srgbClr val="B5792A"/>
            </a:solidFill>
          </a:ln>
        </p:spPr>
        <p:txBody>
          <a:bodyPr wrap="square" lIns="0" tIns="0" rIns="0" bIns="0" rtlCol="0" anchor="ctr"/>
          <a:lstStyle/>
          <a:p>
            <a:pPr algn="ctr" indent="0" marL="0">
              <a:buNone/>
            </a:pPr>
            <a:r>
              <a:rPr lang="en-US" sz="1800" b="1" dirty="0">
                <a:solidFill>
                  <a:srgbClr val="222831"/>
                </a:solidFill>
                <a:latin typeface="Aptos" pitchFamily="34" charset="0"/>
                <a:ea typeface="Aptos" pitchFamily="34" charset="-122"/>
                <a:cs typeface="Aptos" pitchFamily="34" charset="-120"/>
              </a:rPr>
              <a:t>vis</a:t>
            </a:r>
            <a:endParaRPr lang="en-US" sz="1800" dirty="0"/>
          </a:p>
        </p:txBody>
      </p:sp>
      <p:sp>
        <p:nvSpPr>
          <p:cNvPr id="11" name="Text 9"/>
          <p:cNvSpPr/>
          <p:nvPr/>
        </p:nvSpPr>
        <p:spPr>
          <a:xfrm>
            <a:off x="5138928" y="3255264"/>
            <a:ext cx="960120" cy="566928"/>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1500" b="1" dirty="0">
                <a:solidFill>
                  <a:srgbClr val="222831"/>
                </a:solidFill>
                <a:latin typeface="Aptos" pitchFamily="34" charset="0"/>
                <a:ea typeface="Aptos" pitchFamily="34" charset="-122"/>
                <a:cs typeface="Aptos" pitchFamily="34" charset="-120"/>
              </a:rPr>
              <a:t>tournevis</a:t>
            </a:r>
            <a:endParaRPr lang="en-US" sz="1500" dirty="0"/>
          </a:p>
        </p:txBody>
      </p:sp>
      <p:sp>
        <p:nvSpPr>
          <p:cNvPr id="12" name="Text 10"/>
          <p:cNvSpPr/>
          <p:nvPr/>
        </p:nvSpPr>
        <p:spPr>
          <a:xfrm>
            <a:off x="3822192" y="4096512"/>
            <a:ext cx="2487168" cy="402336"/>
          </a:xfrm>
          <a:prstGeom prst="rect">
            <a:avLst/>
          </a:prstGeom>
          <a:noFill/>
          <a:ln/>
        </p:spPr>
        <p:txBody>
          <a:bodyPr wrap="square" lIns="0" tIns="0" rIns="0" bIns="0" rtlCol="0" anchor="ctr"/>
          <a:lstStyle/>
          <a:p>
            <a:pPr algn="ctr" indent="0" marL="0">
              <a:buNone/>
            </a:pPr>
            <a:r>
              <a:rPr lang="en-US" sz="1350" dirty="0">
                <a:solidFill>
                  <a:srgbClr val="6B7178"/>
                </a:solidFill>
                <a:latin typeface="Aptos" pitchFamily="34" charset="0"/>
                <a:ea typeface="Aptos" pitchFamily="34" charset="-122"/>
                <a:cs typeface="Aptos" pitchFamily="34" charset="-120"/>
              </a:rPr>
              <a:t>zone protégée pour le technicien et les pièces sensibles</a:t>
            </a:r>
            <a:endParaRPr lang="en-US" sz="1350" dirty="0"/>
          </a:p>
        </p:txBody>
      </p:sp>
      <p:sp>
        <p:nvSpPr>
          <p:cNvPr id="13" name="Text 11"/>
          <p:cNvSpPr/>
          <p:nvPr/>
        </p:nvSpPr>
        <p:spPr>
          <a:xfrm>
            <a:off x="7178040" y="1673352"/>
            <a:ext cx="3474720" cy="658368"/>
          </a:xfrm>
          <a:prstGeom prst="rect">
            <a:avLst/>
          </a:prstGeom>
          <a:solidFill>
            <a:srgbClr val="F4E1DE"/>
          </a:solidFill>
          <a:ln>
            <a:solidFill>
              <a:srgbClr val="A54B3E"/>
            </a:solidFill>
          </a:ln>
        </p:spPr>
        <p:txBody>
          <a:bodyPr wrap="square" lIns="1270" tIns="1270" rIns="1270" bIns="1270" rtlCol="0" anchor="ctr"/>
          <a:lstStyle/>
          <a:p>
            <a:pPr algn="ctr" indent="0" marL="0">
              <a:buNone/>
            </a:pPr>
            <a:r>
              <a:rPr lang="en-US" sz="2200" b="1" dirty="0">
                <a:solidFill>
                  <a:srgbClr val="A54B3E"/>
                </a:solidFill>
                <a:latin typeface="Aptos" pitchFamily="34" charset="0"/>
                <a:ea typeface="Aptos" pitchFamily="34" charset="-122"/>
                <a:cs typeface="Aptos" pitchFamily="34" charset="-120"/>
              </a:rPr>
              <a:t>PAS DE BOISSON</a:t>
            </a:r>
            <a:endParaRPr lang="en-US" sz="2200" dirty="0"/>
          </a:p>
        </p:txBody>
      </p:sp>
      <p:sp>
        <p:nvSpPr>
          <p:cNvPr id="14" name="Text 12"/>
          <p:cNvSpPr/>
          <p:nvPr/>
        </p:nvSpPr>
        <p:spPr>
          <a:xfrm>
            <a:off x="7150608" y="2615184"/>
            <a:ext cx="3794760" cy="2487168"/>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surface propre, sèche et dégagée;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petit récipient pour les vis;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matériel ESD installé selon ses instructions;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montres / bijoux lâches retirés;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outils gardés au même endroit.</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SÉCURITÉ</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Avant d’ouvrir : mettre hors tension</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49</a:t>
            </a:r>
            <a:endParaRPr lang="en-US" sz="820" dirty="0"/>
          </a:p>
        </p:txBody>
      </p:sp>
      <p:sp>
        <p:nvSpPr>
          <p:cNvPr id="7" name="Text 5"/>
          <p:cNvSpPr/>
          <p:nvPr/>
        </p:nvSpPr>
        <p:spPr>
          <a:xfrm>
            <a:off x="566928" y="1700784"/>
            <a:ext cx="566928" cy="566928"/>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1</a:t>
            </a:r>
            <a:endParaRPr lang="en-US" sz="2200" dirty="0"/>
          </a:p>
        </p:txBody>
      </p:sp>
      <p:sp>
        <p:nvSpPr>
          <p:cNvPr id="8" name="Text 6"/>
          <p:cNvSpPr/>
          <p:nvPr/>
        </p:nvSpPr>
        <p:spPr>
          <a:xfrm>
            <a:off x="585216" y="2468880"/>
            <a:ext cx="1965960" cy="365760"/>
          </a:xfrm>
          <a:prstGeom prst="rect">
            <a:avLst/>
          </a:prstGeom>
          <a:noFill/>
          <a:ln/>
        </p:spPr>
        <p:txBody>
          <a:bodyPr wrap="square" lIns="0" tIns="0" rIns="0" bIns="0" rtlCol="0" anchor="ctr"/>
          <a:lstStyle/>
          <a:p>
            <a:pPr algn="ctr" indent="0" marL="0">
              <a:buNone/>
            </a:pPr>
            <a:r>
              <a:rPr lang="en-US" sz="1500" b="1" dirty="0">
                <a:solidFill>
                  <a:srgbClr val="17324D"/>
                </a:solidFill>
                <a:latin typeface="Aptos" pitchFamily="34" charset="0"/>
                <a:ea typeface="Aptos" pitchFamily="34" charset="-122"/>
                <a:cs typeface="Aptos" pitchFamily="34" charset="-120"/>
              </a:rPr>
              <a:t>ARRÊTER</a:t>
            </a:r>
            <a:endParaRPr lang="en-US" sz="1500" dirty="0"/>
          </a:p>
        </p:txBody>
      </p:sp>
      <p:sp>
        <p:nvSpPr>
          <p:cNvPr id="9" name="Text 7"/>
          <p:cNvSpPr/>
          <p:nvPr/>
        </p:nvSpPr>
        <p:spPr>
          <a:xfrm>
            <a:off x="585216" y="2971800"/>
            <a:ext cx="1965960" cy="960120"/>
          </a:xfrm>
          <a:prstGeom prst="rect">
            <a:avLst/>
          </a:prstGeom>
          <a:noFill/>
          <a:ln/>
        </p:spPr>
        <p:txBody>
          <a:bodyPr wrap="square" lIns="508" tIns="508" rIns="508" bIns="508" rtlCol="0" anchor="ctr"/>
          <a:lstStyle/>
          <a:p>
            <a:pPr algn="ctr" indent="0" marL="0">
              <a:buNone/>
            </a:pPr>
            <a:r>
              <a:rPr lang="en-US" sz="1600" dirty="0">
                <a:solidFill>
                  <a:srgbClr val="222831"/>
                </a:solidFill>
                <a:latin typeface="Aptos" pitchFamily="34" charset="0"/>
                <a:ea typeface="Aptos" pitchFamily="34" charset="-122"/>
                <a:cs typeface="Aptos" pitchFamily="34" charset="-120"/>
              </a:rPr>
              <a:t>arrêt normal du système</a:t>
            </a:r>
            <a:endParaRPr lang="en-US" sz="1600" dirty="0"/>
          </a:p>
        </p:txBody>
      </p:sp>
      <p:sp>
        <p:nvSpPr>
          <p:cNvPr id="10" name="Shape 8"/>
          <p:cNvSpPr/>
          <p:nvPr/>
        </p:nvSpPr>
        <p:spPr>
          <a:xfrm>
            <a:off x="2578608" y="1993392"/>
            <a:ext cx="256032" cy="0"/>
          </a:xfrm>
          <a:prstGeom prst="line">
            <a:avLst/>
          </a:prstGeom>
          <a:noFill/>
          <a:ln w="26670">
            <a:solidFill>
              <a:srgbClr val="B5792A"/>
            </a:solidFill>
            <a:prstDash val="solid"/>
            <a:headEnd type="none"/>
            <a:tailEnd type="triangle"/>
          </a:ln>
        </p:spPr>
      </p:sp>
      <p:sp>
        <p:nvSpPr>
          <p:cNvPr id="11" name="Text 9"/>
          <p:cNvSpPr/>
          <p:nvPr/>
        </p:nvSpPr>
        <p:spPr>
          <a:xfrm>
            <a:off x="2889504" y="1700784"/>
            <a:ext cx="566928" cy="566928"/>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2</a:t>
            </a:r>
            <a:endParaRPr lang="en-US" sz="2200" dirty="0"/>
          </a:p>
        </p:txBody>
      </p:sp>
      <p:sp>
        <p:nvSpPr>
          <p:cNvPr id="12" name="Text 10"/>
          <p:cNvSpPr/>
          <p:nvPr/>
        </p:nvSpPr>
        <p:spPr>
          <a:xfrm>
            <a:off x="2907792" y="2468880"/>
            <a:ext cx="1965960" cy="365760"/>
          </a:xfrm>
          <a:prstGeom prst="rect">
            <a:avLst/>
          </a:prstGeom>
          <a:noFill/>
          <a:ln/>
        </p:spPr>
        <p:txBody>
          <a:bodyPr wrap="square" lIns="0" tIns="0" rIns="0" bIns="0" rtlCol="0" anchor="ctr"/>
          <a:lstStyle/>
          <a:p>
            <a:pPr algn="ctr" indent="0" marL="0">
              <a:buNone/>
            </a:pPr>
            <a:r>
              <a:rPr lang="en-US" sz="1500" b="1" dirty="0">
                <a:solidFill>
                  <a:srgbClr val="17324D"/>
                </a:solidFill>
                <a:latin typeface="Aptos" pitchFamily="34" charset="0"/>
                <a:ea typeface="Aptos" pitchFamily="34" charset="-122"/>
                <a:cs typeface="Aptos" pitchFamily="34" charset="-120"/>
              </a:rPr>
              <a:t>DÉBRANCHER</a:t>
            </a:r>
            <a:endParaRPr lang="en-US" sz="1500" dirty="0"/>
          </a:p>
        </p:txBody>
      </p:sp>
      <p:sp>
        <p:nvSpPr>
          <p:cNvPr id="13" name="Text 11"/>
          <p:cNvSpPr/>
          <p:nvPr/>
        </p:nvSpPr>
        <p:spPr>
          <a:xfrm>
            <a:off x="2907792" y="2971800"/>
            <a:ext cx="1965960" cy="960120"/>
          </a:xfrm>
          <a:prstGeom prst="rect">
            <a:avLst/>
          </a:prstGeom>
          <a:noFill/>
          <a:ln/>
        </p:spPr>
        <p:txBody>
          <a:bodyPr wrap="square" lIns="508" tIns="508" rIns="508" bIns="508" rtlCol="0" anchor="ctr"/>
          <a:lstStyle/>
          <a:p>
            <a:pPr algn="ctr" indent="0" marL="0">
              <a:buNone/>
            </a:pPr>
            <a:r>
              <a:rPr lang="en-US" sz="1600" dirty="0">
                <a:solidFill>
                  <a:srgbClr val="222831"/>
                </a:solidFill>
                <a:latin typeface="Aptos" pitchFamily="34" charset="0"/>
                <a:ea typeface="Aptos" pitchFamily="34" charset="-122"/>
                <a:cs typeface="Aptos" pitchFamily="34" charset="-120"/>
              </a:rPr>
              <a:t>secteur + périphériques</a:t>
            </a:r>
            <a:endParaRPr lang="en-US" sz="1600" dirty="0"/>
          </a:p>
        </p:txBody>
      </p:sp>
      <p:sp>
        <p:nvSpPr>
          <p:cNvPr id="14" name="Shape 12"/>
          <p:cNvSpPr/>
          <p:nvPr/>
        </p:nvSpPr>
        <p:spPr>
          <a:xfrm>
            <a:off x="4901184" y="1993392"/>
            <a:ext cx="256032" cy="0"/>
          </a:xfrm>
          <a:prstGeom prst="line">
            <a:avLst/>
          </a:prstGeom>
          <a:noFill/>
          <a:ln w="26670">
            <a:solidFill>
              <a:srgbClr val="B5792A"/>
            </a:solidFill>
            <a:prstDash val="solid"/>
            <a:headEnd type="none"/>
            <a:tailEnd type="triangle"/>
          </a:ln>
        </p:spPr>
      </p:sp>
      <p:sp>
        <p:nvSpPr>
          <p:cNvPr id="15" name="Text 13"/>
          <p:cNvSpPr/>
          <p:nvPr/>
        </p:nvSpPr>
        <p:spPr>
          <a:xfrm>
            <a:off x="5212080" y="1700784"/>
            <a:ext cx="566928" cy="566928"/>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3</a:t>
            </a:r>
            <a:endParaRPr lang="en-US" sz="2200" dirty="0"/>
          </a:p>
        </p:txBody>
      </p:sp>
      <p:sp>
        <p:nvSpPr>
          <p:cNvPr id="16" name="Text 14"/>
          <p:cNvSpPr/>
          <p:nvPr/>
        </p:nvSpPr>
        <p:spPr>
          <a:xfrm>
            <a:off x="5230368" y="2468880"/>
            <a:ext cx="1965960" cy="365760"/>
          </a:xfrm>
          <a:prstGeom prst="rect">
            <a:avLst/>
          </a:prstGeom>
          <a:noFill/>
          <a:ln/>
        </p:spPr>
        <p:txBody>
          <a:bodyPr wrap="square" lIns="0" tIns="0" rIns="0" bIns="0" rtlCol="0" anchor="ctr"/>
          <a:lstStyle/>
          <a:p>
            <a:pPr algn="ctr" indent="0" marL="0">
              <a:buNone/>
            </a:pPr>
            <a:r>
              <a:rPr lang="en-US" sz="1500" b="1" dirty="0">
                <a:solidFill>
                  <a:srgbClr val="17324D"/>
                </a:solidFill>
                <a:latin typeface="Aptos" pitchFamily="34" charset="0"/>
                <a:ea typeface="Aptos" pitchFamily="34" charset="-122"/>
                <a:cs typeface="Aptos" pitchFamily="34" charset="-120"/>
              </a:rPr>
              <a:t>DÉCHARGER</a:t>
            </a:r>
            <a:endParaRPr lang="en-US" sz="1500" dirty="0"/>
          </a:p>
        </p:txBody>
      </p:sp>
      <p:sp>
        <p:nvSpPr>
          <p:cNvPr id="17" name="Text 15"/>
          <p:cNvSpPr/>
          <p:nvPr/>
        </p:nvSpPr>
        <p:spPr>
          <a:xfrm>
            <a:off x="5230368" y="2971800"/>
            <a:ext cx="1965960" cy="960120"/>
          </a:xfrm>
          <a:prstGeom prst="rect">
            <a:avLst/>
          </a:prstGeom>
          <a:noFill/>
          <a:ln/>
        </p:spPr>
        <p:txBody>
          <a:bodyPr wrap="square" lIns="508" tIns="508" rIns="508" bIns="508" rtlCol="0" anchor="ctr"/>
          <a:lstStyle/>
          <a:p>
            <a:pPr algn="ctr" indent="0" marL="0">
              <a:buNone/>
            </a:pPr>
            <a:r>
              <a:rPr lang="en-US" sz="1600" dirty="0">
                <a:solidFill>
                  <a:srgbClr val="222831"/>
                </a:solidFill>
                <a:latin typeface="Aptos" pitchFamily="34" charset="0"/>
                <a:ea typeface="Aptos" pitchFamily="34" charset="-122"/>
                <a:cs typeface="Aptos" pitchFamily="34" charset="-120"/>
              </a:rPr>
              <a:t>maintenir Power ~15–20 s*</a:t>
            </a:r>
            <a:endParaRPr lang="en-US" sz="1600" dirty="0"/>
          </a:p>
        </p:txBody>
      </p:sp>
      <p:sp>
        <p:nvSpPr>
          <p:cNvPr id="18" name="Shape 16"/>
          <p:cNvSpPr/>
          <p:nvPr/>
        </p:nvSpPr>
        <p:spPr>
          <a:xfrm>
            <a:off x="7223760" y="1993392"/>
            <a:ext cx="256032" cy="0"/>
          </a:xfrm>
          <a:prstGeom prst="line">
            <a:avLst/>
          </a:prstGeom>
          <a:noFill/>
          <a:ln w="26670">
            <a:solidFill>
              <a:srgbClr val="B5792A"/>
            </a:solidFill>
            <a:prstDash val="solid"/>
            <a:headEnd type="none"/>
            <a:tailEnd type="triangle"/>
          </a:ln>
        </p:spPr>
      </p:sp>
      <p:sp>
        <p:nvSpPr>
          <p:cNvPr id="19" name="Text 17"/>
          <p:cNvSpPr/>
          <p:nvPr/>
        </p:nvSpPr>
        <p:spPr>
          <a:xfrm>
            <a:off x="7534656" y="1700784"/>
            <a:ext cx="566928" cy="566928"/>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4</a:t>
            </a:r>
            <a:endParaRPr lang="en-US" sz="2200" dirty="0"/>
          </a:p>
        </p:txBody>
      </p:sp>
      <p:sp>
        <p:nvSpPr>
          <p:cNvPr id="20" name="Text 18"/>
          <p:cNvSpPr/>
          <p:nvPr/>
        </p:nvSpPr>
        <p:spPr>
          <a:xfrm>
            <a:off x="7552944" y="2468880"/>
            <a:ext cx="1965960" cy="365760"/>
          </a:xfrm>
          <a:prstGeom prst="rect">
            <a:avLst/>
          </a:prstGeom>
          <a:noFill/>
          <a:ln/>
        </p:spPr>
        <p:txBody>
          <a:bodyPr wrap="square" lIns="0" tIns="0" rIns="0" bIns="0" rtlCol="0" anchor="ctr"/>
          <a:lstStyle/>
          <a:p>
            <a:pPr algn="ctr" indent="0" marL="0">
              <a:buNone/>
            </a:pPr>
            <a:r>
              <a:rPr lang="en-US" sz="1500" b="1" dirty="0">
                <a:solidFill>
                  <a:srgbClr val="2D6F6B"/>
                </a:solidFill>
                <a:latin typeface="Aptos" pitchFamily="34" charset="0"/>
                <a:ea typeface="Aptos" pitchFamily="34" charset="-122"/>
                <a:cs typeface="Aptos" pitchFamily="34" charset="-120"/>
              </a:rPr>
              <a:t>ESD</a:t>
            </a:r>
            <a:endParaRPr lang="en-US" sz="1500" dirty="0"/>
          </a:p>
        </p:txBody>
      </p:sp>
      <p:sp>
        <p:nvSpPr>
          <p:cNvPr id="21" name="Text 19"/>
          <p:cNvSpPr/>
          <p:nvPr/>
        </p:nvSpPr>
        <p:spPr>
          <a:xfrm>
            <a:off x="7552944" y="2971800"/>
            <a:ext cx="1965960" cy="960120"/>
          </a:xfrm>
          <a:prstGeom prst="rect">
            <a:avLst/>
          </a:prstGeom>
          <a:noFill/>
          <a:ln/>
        </p:spPr>
        <p:txBody>
          <a:bodyPr wrap="square" lIns="508" tIns="508" rIns="508" bIns="508" rtlCol="0" anchor="ctr"/>
          <a:lstStyle/>
          <a:p>
            <a:pPr algn="ctr" indent="0" marL="0">
              <a:buNone/>
            </a:pPr>
            <a:r>
              <a:rPr lang="en-US" sz="1600" dirty="0">
                <a:solidFill>
                  <a:srgbClr val="222831"/>
                </a:solidFill>
                <a:latin typeface="Aptos" pitchFamily="34" charset="0"/>
                <a:ea typeface="Aptos" pitchFamily="34" charset="-122"/>
                <a:cs typeface="Aptos" pitchFamily="34" charset="-120"/>
              </a:rPr>
              <a:t>tapis + bracelet du technicien</a:t>
            </a:r>
            <a:endParaRPr lang="en-US" sz="1600" dirty="0"/>
          </a:p>
        </p:txBody>
      </p:sp>
      <p:sp>
        <p:nvSpPr>
          <p:cNvPr id="22" name="Shape 20"/>
          <p:cNvSpPr/>
          <p:nvPr/>
        </p:nvSpPr>
        <p:spPr>
          <a:xfrm>
            <a:off x="9546336" y="1993392"/>
            <a:ext cx="256032" cy="0"/>
          </a:xfrm>
          <a:prstGeom prst="line">
            <a:avLst/>
          </a:prstGeom>
          <a:noFill/>
          <a:ln w="26670">
            <a:solidFill>
              <a:srgbClr val="B5792A"/>
            </a:solidFill>
            <a:prstDash val="solid"/>
            <a:headEnd type="none"/>
            <a:tailEnd type="triangle"/>
          </a:ln>
        </p:spPr>
      </p:sp>
      <p:sp>
        <p:nvSpPr>
          <p:cNvPr id="23" name="Text 21"/>
          <p:cNvSpPr/>
          <p:nvPr/>
        </p:nvSpPr>
        <p:spPr>
          <a:xfrm>
            <a:off x="9857232" y="1700784"/>
            <a:ext cx="566928" cy="566928"/>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5</a:t>
            </a:r>
            <a:endParaRPr lang="en-US" sz="2200" dirty="0"/>
          </a:p>
        </p:txBody>
      </p:sp>
      <p:sp>
        <p:nvSpPr>
          <p:cNvPr id="24" name="Text 22"/>
          <p:cNvSpPr/>
          <p:nvPr/>
        </p:nvSpPr>
        <p:spPr>
          <a:xfrm>
            <a:off x="9875520" y="2468880"/>
            <a:ext cx="1965960" cy="365760"/>
          </a:xfrm>
          <a:prstGeom prst="rect">
            <a:avLst/>
          </a:prstGeom>
          <a:noFill/>
          <a:ln/>
        </p:spPr>
        <p:txBody>
          <a:bodyPr wrap="square" lIns="0" tIns="0" rIns="0" bIns="0" rtlCol="0" anchor="ctr"/>
          <a:lstStyle/>
          <a:p>
            <a:pPr algn="ctr" indent="0" marL="0">
              <a:buNone/>
            </a:pPr>
            <a:r>
              <a:rPr lang="en-US" sz="1500" b="1" dirty="0">
                <a:solidFill>
                  <a:srgbClr val="2D6F6B"/>
                </a:solidFill>
                <a:latin typeface="Aptos" pitchFamily="34" charset="0"/>
                <a:ea typeface="Aptos" pitchFamily="34" charset="-122"/>
                <a:cs typeface="Aptos" pitchFamily="34" charset="-120"/>
              </a:rPr>
              <a:t>MANIPULER</a:t>
            </a:r>
            <a:endParaRPr lang="en-US" sz="1500" dirty="0"/>
          </a:p>
        </p:txBody>
      </p:sp>
      <p:sp>
        <p:nvSpPr>
          <p:cNvPr id="25" name="Text 23"/>
          <p:cNvSpPr/>
          <p:nvPr/>
        </p:nvSpPr>
        <p:spPr>
          <a:xfrm>
            <a:off x="9875520" y="2971800"/>
            <a:ext cx="1965960" cy="960120"/>
          </a:xfrm>
          <a:prstGeom prst="rect">
            <a:avLst/>
          </a:prstGeom>
          <a:noFill/>
          <a:ln/>
        </p:spPr>
        <p:txBody>
          <a:bodyPr wrap="square" lIns="508" tIns="508" rIns="508" bIns="508" rtlCol="0" anchor="ctr"/>
          <a:lstStyle/>
          <a:p>
            <a:pPr algn="ctr" indent="0" marL="0">
              <a:buNone/>
            </a:pPr>
            <a:r>
              <a:rPr lang="en-US" sz="1600" dirty="0">
                <a:solidFill>
                  <a:srgbClr val="222831"/>
                </a:solidFill>
                <a:latin typeface="Aptos" pitchFamily="34" charset="0"/>
                <a:ea typeface="Aptos" pitchFamily="34" charset="-122"/>
                <a:cs typeface="Aptos" pitchFamily="34" charset="-120"/>
              </a:rPr>
              <a:t>tenir les cartes par les bords</a:t>
            </a:r>
            <a:endParaRPr lang="en-US" sz="1600" dirty="0"/>
          </a:p>
        </p:txBody>
      </p:sp>
      <p:sp>
        <p:nvSpPr>
          <p:cNvPr id="26" name="Text 24"/>
          <p:cNvSpPr/>
          <p:nvPr/>
        </p:nvSpPr>
        <p:spPr>
          <a:xfrm>
            <a:off x="2057400" y="4224528"/>
            <a:ext cx="8092440" cy="310896"/>
          </a:xfrm>
          <a:prstGeom prst="rect">
            <a:avLst/>
          </a:prstGeom>
          <a:noFill/>
          <a:ln/>
        </p:spPr>
        <p:txBody>
          <a:bodyPr wrap="square" lIns="0" tIns="0" rIns="0" bIns="0" rtlCol="0" anchor="ctr"/>
          <a:lstStyle/>
          <a:p>
            <a:pPr algn="ctr" indent="0" marL="0">
              <a:buNone/>
            </a:pPr>
            <a:r>
              <a:rPr lang="en-US" sz="1350" i="1" dirty="0">
                <a:solidFill>
                  <a:srgbClr val="6B7178"/>
                </a:solidFill>
                <a:latin typeface="Aptos" pitchFamily="34" charset="0"/>
                <a:ea typeface="Aptos" pitchFamily="34" charset="-122"/>
                <a:cs typeface="Aptos" pitchFamily="34" charset="-120"/>
              </a:rPr>
              <a:t>* Durée générale : suivre la procédure du fabricant si elle diffère.</a:t>
            </a:r>
            <a:endParaRPr lang="en-US" sz="1350" dirty="0"/>
          </a:p>
        </p:txBody>
      </p:sp>
      <p:sp>
        <p:nvSpPr>
          <p:cNvPr id="27" name="Text 25"/>
          <p:cNvSpPr/>
          <p:nvPr/>
        </p:nvSpPr>
        <p:spPr>
          <a:xfrm>
            <a:off x="2057400" y="4709160"/>
            <a:ext cx="8092440" cy="658368"/>
          </a:xfrm>
          <a:prstGeom prst="rect">
            <a:avLst/>
          </a:prstGeom>
          <a:solidFill>
            <a:srgbClr val="F4E1DE"/>
          </a:solidFill>
          <a:ln>
            <a:solidFill>
              <a:srgbClr val="A54B3E"/>
            </a:solidFill>
          </a:ln>
        </p:spPr>
        <p:txBody>
          <a:bodyPr wrap="square" lIns="1524" tIns="1524" rIns="1524" bIns="1524" rtlCol="0" anchor="ctr"/>
          <a:lstStyle/>
          <a:p>
            <a:pPr algn="ctr" indent="0" marL="0">
              <a:buNone/>
            </a:pPr>
            <a:r>
              <a:rPr lang="en-US" sz="2200" b="1" dirty="0">
                <a:solidFill>
                  <a:srgbClr val="A54B3E"/>
                </a:solidFill>
                <a:latin typeface="Aptos" pitchFamily="34" charset="0"/>
                <a:ea typeface="Aptos" pitchFamily="34" charset="-122"/>
                <a:cs typeface="Aptos" pitchFamily="34" charset="-120"/>
              </a:rPr>
              <a:t>Ne jamais ouvrir l’alimentation (PSU) elle-même.</a:t>
            </a:r>
            <a:endParaRPr lang="en-US" sz="2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ACCÈS</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Regardez avant de dévisser</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50</a:t>
            </a:r>
            <a:endParaRPr lang="en-US" sz="820" dirty="0"/>
          </a:p>
        </p:txBody>
      </p:sp>
      <p:sp>
        <p:nvSpPr>
          <p:cNvPr id="7" name="Text 5"/>
          <p:cNvSpPr/>
          <p:nvPr/>
        </p:nvSpPr>
        <p:spPr>
          <a:xfrm>
            <a:off x="822960" y="1581912"/>
            <a:ext cx="4983480" cy="265176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2100" b="1" dirty="0">
                <a:solidFill>
                  <a:srgbClr val="17324D"/>
                </a:solidFill>
                <a:latin typeface="Aptos" pitchFamily="34" charset="0"/>
                <a:ea typeface="Aptos" pitchFamily="34" charset="-122"/>
                <a:cs typeface="Aptos" pitchFamily="34" charset="-120"/>
              </a:rPr>
              <a:t>OBSERVEZ</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joints du boîtier</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loquets / boutons</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vis captives / vis à main</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panneaux qui coulissent</a:t>
            </a:r>
            <a:endParaRPr lang="en-US" sz="2100" dirty="0"/>
          </a:p>
        </p:txBody>
      </p:sp>
      <p:sp>
        <p:nvSpPr>
          <p:cNvPr id="8" name="Text 6"/>
          <p:cNvSpPr/>
          <p:nvPr/>
        </p:nvSpPr>
        <p:spPr>
          <a:xfrm>
            <a:off x="6355080" y="1581912"/>
            <a:ext cx="4983480" cy="265176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2100" b="1" dirty="0">
                <a:solidFill>
                  <a:srgbClr val="B5792A"/>
                </a:solidFill>
                <a:latin typeface="Aptos" pitchFamily="34" charset="0"/>
                <a:ea typeface="Aptos" pitchFamily="34" charset="-122"/>
                <a:cs typeface="Aptos" pitchFamily="34" charset="-120"/>
              </a:rPr>
              <a:t>VÉRIFIEZ</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câbles de ventilateur</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LED / bouton monté sur panneau</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vis structurelles</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résistance inhabituelle</a:t>
            </a:r>
            <a:endParaRPr lang="en-US" sz="2100" dirty="0"/>
          </a:p>
        </p:txBody>
      </p:sp>
      <p:sp>
        <p:nvSpPr>
          <p:cNvPr id="9" name="Text 7"/>
          <p:cNvSpPr/>
          <p:nvPr/>
        </p:nvSpPr>
        <p:spPr>
          <a:xfrm>
            <a:off x="1097280" y="4727448"/>
            <a:ext cx="10012680" cy="603504"/>
          </a:xfrm>
          <a:prstGeom prst="rect">
            <a:avLst/>
          </a:prstGeom>
          <a:noFill/>
          <a:ln/>
        </p:spPr>
        <p:txBody>
          <a:bodyPr wrap="square" lIns="0" tIns="0" rIns="0" bIns="0" rtlCol="0" anchor="ctr"/>
          <a:lstStyle/>
          <a:p>
            <a:pPr algn="ctr" indent="0" marL="0">
              <a:buNone/>
            </a:pPr>
            <a:r>
              <a:rPr lang="en-US" sz="2300" b="1" dirty="0">
                <a:solidFill>
                  <a:srgbClr val="A54B3E"/>
                </a:solidFill>
                <a:latin typeface="Aptos" pitchFamily="34" charset="0"/>
                <a:ea typeface="Aptos" pitchFamily="34" charset="-122"/>
                <a:cs typeface="Aptos" pitchFamily="34" charset="-120"/>
              </a:rPr>
              <a:t>Si quelque chose résiste : ARRÊTEZ. Trouvez ce qui le retient.</a:t>
            </a:r>
            <a:endParaRPr lang="en-US" sz="2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DOCUMENTATION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Photo 1 — état initial interne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51</a:t>
            </a:r>
            <a:endParaRPr lang="en-US" sz="820" dirty="0"/>
          </a:p>
        </p:txBody>
      </p:sp>
      <p:sp>
        <p:nvSpPr>
          <p:cNvPr id="7" name="Text 5"/>
          <p:cNvSpPr/>
          <p:nvPr/>
        </p:nvSpPr>
        <p:spPr>
          <a:xfrm>
            <a:off x="868680" y="1965960"/>
            <a:ext cx="2057400" cy="91440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OUVRIR</a:t>
            </a:r>
            <a:endParaRPr lang="en-US" sz="3200" dirty="0"/>
          </a:p>
        </p:txBody>
      </p:sp>
      <p:sp>
        <p:nvSpPr>
          <p:cNvPr id="8" name="Shape 6"/>
          <p:cNvSpPr/>
          <p:nvPr/>
        </p:nvSpPr>
        <p:spPr>
          <a:xfrm>
            <a:off x="3200400" y="2423160"/>
            <a:ext cx="1005840" cy="0"/>
          </a:xfrm>
          <a:prstGeom prst="line">
            <a:avLst/>
          </a:prstGeom>
          <a:noFill/>
          <a:ln w="38100">
            <a:solidFill>
              <a:srgbClr val="B5792A"/>
            </a:solidFill>
            <a:prstDash val="solid"/>
            <a:headEnd type="none"/>
            <a:tailEnd type="triangle"/>
          </a:ln>
        </p:spPr>
      </p:sp>
      <p:sp>
        <p:nvSpPr>
          <p:cNvPr id="9" name="Text 7"/>
          <p:cNvSpPr/>
          <p:nvPr/>
        </p:nvSpPr>
        <p:spPr>
          <a:xfrm>
            <a:off x="4434840" y="1737360"/>
            <a:ext cx="2880360" cy="1371600"/>
          </a:xfrm>
          <a:prstGeom prst="rect">
            <a:avLst/>
          </a:prstGeom>
          <a:solidFill>
            <a:srgbClr val="F4E1DE"/>
          </a:solidFill>
          <a:ln>
            <a:solidFill>
              <a:srgbClr val="A54B3E"/>
            </a:solidFill>
          </a:ln>
        </p:spPr>
        <p:txBody>
          <a:bodyPr wrap="square" lIns="635" tIns="635" rIns="635" bIns="635" rtlCol="0" anchor="ctr"/>
          <a:lstStyle/>
          <a:p>
            <a:pPr algn="ctr" indent="0" marL="0">
              <a:buNone/>
            </a:pPr>
            <a:r>
              <a:rPr lang="en-US" sz="2700" b="1" dirty="0">
                <a:solidFill>
                  <a:srgbClr val="A54B3E"/>
                </a:solidFill>
                <a:latin typeface="Aptos Display" pitchFamily="34" charset="0"/>
                <a:ea typeface="Aptos Display" pitchFamily="34" charset="-122"/>
                <a:cs typeface="Aptos Display" pitchFamily="34" charset="-120"/>
              </a:rPr>
              <a:t>NE RIEN</a:t>
            </a:r>
            <a:endParaRPr lang="en-US" sz="2700" dirty="0"/>
          </a:p>
          <a:p>
            <a:pPr algn="ctr" indent="0" marL="0">
              <a:buNone/>
            </a:pPr>
            <a:r>
              <a:rPr lang="en-US" sz="2700" b="1" dirty="0">
                <a:solidFill>
                  <a:srgbClr val="A54B3E"/>
                </a:solidFill>
                <a:latin typeface="Aptos Display" pitchFamily="34" charset="0"/>
                <a:ea typeface="Aptos Display" pitchFamily="34" charset="-122"/>
                <a:cs typeface="Aptos Display" pitchFamily="34" charset="-120"/>
              </a:rPr>
              <a:t>DÉCONNECTER</a:t>
            </a:r>
            <a:endParaRPr lang="en-US" sz="2700" dirty="0"/>
          </a:p>
        </p:txBody>
      </p:sp>
      <p:sp>
        <p:nvSpPr>
          <p:cNvPr id="10" name="Shape 8"/>
          <p:cNvSpPr/>
          <p:nvPr/>
        </p:nvSpPr>
        <p:spPr>
          <a:xfrm>
            <a:off x="7543800" y="2423160"/>
            <a:ext cx="1005840" cy="0"/>
          </a:xfrm>
          <a:prstGeom prst="line">
            <a:avLst/>
          </a:prstGeom>
          <a:noFill/>
          <a:ln w="38100">
            <a:solidFill>
              <a:srgbClr val="B5792A"/>
            </a:solidFill>
            <a:prstDash val="solid"/>
            <a:headEnd type="none"/>
            <a:tailEnd type="triangle"/>
          </a:ln>
        </p:spPr>
      </p:sp>
      <p:sp>
        <p:nvSpPr>
          <p:cNvPr id="11" name="Text 9"/>
          <p:cNvSpPr/>
          <p:nvPr/>
        </p:nvSpPr>
        <p:spPr>
          <a:xfrm>
            <a:off x="8796528" y="1737360"/>
            <a:ext cx="2331720" cy="1371600"/>
          </a:xfrm>
          <a:prstGeom prst="rect">
            <a:avLst/>
          </a:prstGeom>
          <a:solidFill>
            <a:srgbClr val="2D6F6B"/>
          </a:solidFill>
          <a:ln>
            <a:solidFill>
              <a:srgbClr val="2D6F6B"/>
            </a:solidFill>
          </a:ln>
        </p:spPr>
        <p:txBody>
          <a:bodyPr wrap="square" lIns="635" tIns="635" rIns="635" bIns="635" rtlCol="0" anchor="ctr"/>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PHOTO</a:t>
            </a:r>
            <a:endParaRPr lang="en-US" sz="3000" dirty="0"/>
          </a:p>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INITIALE</a:t>
            </a:r>
            <a:endParaRPr lang="en-US" sz="3000" dirty="0"/>
          </a:p>
        </p:txBody>
      </p:sp>
      <p:sp>
        <p:nvSpPr>
          <p:cNvPr id="12" name="Text 10"/>
          <p:cNvSpPr/>
          <p:nvPr/>
        </p:nvSpPr>
        <p:spPr>
          <a:xfrm>
            <a:off x="1097280" y="4069080"/>
            <a:ext cx="10012680" cy="822960"/>
          </a:xfrm>
          <a:prstGeom prst="rect">
            <a:avLst/>
          </a:prstGeom>
          <a:solidFill>
            <a:srgbClr val="EEE9E1"/>
          </a:solidFill>
          <a:ln>
            <a:solidFill>
              <a:srgbClr val="CEC9BF"/>
            </a:solidFill>
          </a:ln>
        </p:spPr>
        <p:txBody>
          <a:bodyPr wrap="square" lIns="1905" tIns="1905" rIns="1905" bIns="1905" rtlCol="0" anchor="ctr"/>
          <a:lstStyle/>
          <a:p>
            <a:pPr algn="ctr" indent="0" marL="0">
              <a:buNone/>
            </a:pPr>
            <a:r>
              <a:rPr lang="en-US" sz="2200" dirty="0">
                <a:solidFill>
                  <a:srgbClr val="222831"/>
                </a:solidFill>
                <a:latin typeface="Aptos" pitchFamily="34" charset="0"/>
                <a:ea typeface="Aptos" pitchFamily="34" charset="-122"/>
                <a:cs typeface="Aptos" pitchFamily="34" charset="-120"/>
              </a:rPr>
              <a:t>La photo est votre référence pour le remontage et votre preuve de l’état de départ.</a:t>
            </a:r>
            <a:endParaRPr lang="en-US"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OBSERVER</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Bienvenue dans la machine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52</a:t>
            </a:r>
            <a:endParaRPr lang="en-US" sz="820" dirty="0"/>
          </a:p>
        </p:txBody>
      </p:sp>
      <p:sp>
        <p:nvSpPr>
          <p:cNvPr id="7" name="Shape 5"/>
          <p:cNvSpPr/>
          <p:nvPr/>
        </p:nvSpPr>
        <p:spPr>
          <a:xfrm>
            <a:off x="630936" y="1344168"/>
            <a:ext cx="6867144" cy="448970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2_open_case_connected.jpg">    </p:cNvPr>
          <p:cNvPicPr>
            <a:picLocks noChangeAspect="1"/>
          </p:cNvPicPr>
          <p:nvPr/>
        </p:nvPicPr>
        <p:blipFill>
          <a:blip r:embed="rId1"/>
          <a:srcRect l="0" r="0" t="6648" b="6648"/>
          <a:stretch/>
        </p:blipFill>
        <p:spPr>
          <a:xfrm>
            <a:off x="658368" y="1371600"/>
            <a:ext cx="6812280" cy="4434840"/>
          </a:xfrm>
          <a:prstGeom prst="rect">
            <a:avLst/>
          </a:prstGeom>
        </p:spPr>
      </p:pic>
      <p:sp>
        <p:nvSpPr>
          <p:cNvPr id="9" name="Text 6"/>
          <p:cNvSpPr/>
          <p:nvPr/>
        </p:nvSpPr>
        <p:spPr>
          <a:xfrm>
            <a:off x="7818120" y="1517904"/>
            <a:ext cx="1463040" cy="310896"/>
          </a:xfrm>
          <a:prstGeom prst="rect">
            <a:avLst/>
          </a:prstGeom>
          <a:noFill/>
          <a:ln/>
        </p:spPr>
        <p:txBody>
          <a:bodyPr wrap="square" lIns="0" tIns="0" rIns="0" bIns="0" rtlCol="0" anchor="ctr"/>
          <a:lstStyle/>
          <a:p>
            <a:pPr indent="0" marL="0">
              <a:buNone/>
            </a:pPr>
            <a:r>
              <a:rPr lang="en-US" sz="1200" b="1" spc="100" kern="0" dirty="0">
                <a:solidFill>
                  <a:srgbClr val="B5792A"/>
                </a:solidFill>
                <a:latin typeface="Aptos" pitchFamily="34" charset="0"/>
                <a:ea typeface="Aptos" pitchFamily="34" charset="-122"/>
                <a:cs typeface="Aptos" pitchFamily="34" charset="-120"/>
              </a:rPr>
              <a:t>REPÉREZ</a:t>
            </a:r>
            <a:endParaRPr lang="en-US" sz="1200" dirty="0"/>
          </a:p>
        </p:txBody>
      </p:sp>
      <p:sp>
        <p:nvSpPr>
          <p:cNvPr id="10" name="Text 7"/>
          <p:cNvSpPr/>
          <p:nvPr/>
        </p:nvSpPr>
        <p:spPr>
          <a:xfrm>
            <a:off x="7818120" y="1965960"/>
            <a:ext cx="3429000" cy="3154680"/>
          </a:xfrm>
          <a:prstGeom prst="rect">
            <a:avLst/>
          </a:prstGeom>
          <a:noFill/>
          <a:ln/>
        </p:spPr>
        <p:txBody>
          <a:bodyPr wrap="square" lIns="254" tIns="254" rIns="254" bIns="254" rtlCol="0" anchor="ctr"/>
          <a:lstStyle/>
          <a:p>
            <a:pPr indent="0" marL="0">
              <a:buNone/>
            </a:pPr>
            <a:r>
              <a:rPr lang="en-US" sz="2100" dirty="0">
                <a:solidFill>
                  <a:srgbClr val="222831"/>
                </a:solidFill>
                <a:latin typeface="Aptos" pitchFamily="34" charset="0"/>
                <a:ea typeface="Aptos" pitchFamily="34" charset="-122"/>
                <a:cs typeface="Aptos" pitchFamily="34" charset="-120"/>
              </a:rPr>
              <a:t>carte mère</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alimentation / PSU</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CPU + refroidisseur</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mémoire vive / RAM</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stockage</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carte graphique / PCIe</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connecteurs / câbles</a:t>
            </a:r>
            <a:endParaRPr lang="en-US" sz="2100" dirty="0"/>
          </a:p>
        </p:txBody>
      </p:sp>
      <p:sp>
        <p:nvSpPr>
          <p:cNvPr id="11" name="Text 8"/>
          <p:cNvSpPr/>
          <p:nvPr/>
        </p:nvSpPr>
        <p:spPr>
          <a:xfrm>
            <a:off x="7790688" y="5230368"/>
            <a:ext cx="3611880" cy="594360"/>
          </a:xfrm>
          <a:prstGeom prst="rect">
            <a:avLst/>
          </a:prstGeom>
          <a:noFill/>
          <a:ln/>
        </p:spPr>
        <p:txBody>
          <a:bodyPr wrap="square" lIns="0" tIns="0" rIns="0" bIns="0" rtlCol="0" anchor="ctr"/>
          <a:lstStyle/>
          <a:p>
            <a:pPr indent="0" marL="0">
              <a:buNone/>
            </a:pPr>
            <a:r>
              <a:rPr lang="en-US" sz="1450" i="1" dirty="0">
                <a:solidFill>
                  <a:srgbClr val="6B7178"/>
                </a:solidFill>
                <a:latin typeface="Aptos" pitchFamily="34" charset="0"/>
                <a:ea typeface="Aptos" pitchFamily="34" charset="-122"/>
                <a:cs typeface="Aptos" pitchFamily="34" charset="-120"/>
              </a:rPr>
              <a:t>Ne débranchez rien tant que vous ne pouvez pas expliquer au moins approximativement où va le câble.</a:t>
            </a:r>
            <a:endParaRPr lang="en-US" sz="1450" dirty="0"/>
          </a:p>
        </p:txBody>
      </p:sp>
      <p:sp>
        <p:nvSpPr>
          <p:cNvPr id="12" name="Text 9"/>
          <p:cNvSpPr/>
          <p:nvPr/>
        </p:nvSpPr>
        <p:spPr>
          <a:xfrm>
            <a:off x="868680" y="5321808"/>
            <a:ext cx="6355080" cy="384048"/>
          </a:xfrm>
          <a:prstGeom prst="rect">
            <a:avLst/>
          </a:prstGeom>
          <a:solidFill>
            <a:srgbClr val="F4E1DE">
              <a:alpha val="92000"/>
            </a:srgbClr>
          </a:solidFill>
          <a:ln w="8890">
            <a:solidFill>
              <a:srgbClr val="A54B3E"/>
            </a:solidFill>
          </a:ln>
        </p:spPr>
        <p:txBody>
          <a:bodyPr wrap="square" lIns="762" tIns="762" rIns="762" bIns="762" rtlCol="0" anchor="ctr"/>
          <a:lstStyle/>
          <a:p>
            <a:pPr algn="ctr" indent="0" marL="0">
              <a:buNone/>
            </a:pPr>
            <a:r>
              <a:rPr lang="en-US" sz="1450" b="1" dirty="0">
                <a:solidFill>
                  <a:srgbClr val="A54B3E"/>
                </a:solidFill>
                <a:latin typeface="Aptos" pitchFamily="34" charset="0"/>
                <a:ea typeface="Aptos" pitchFamily="34" charset="-122"/>
                <a:cs typeface="Aptos" pitchFamily="34" charset="-120"/>
              </a:rPr>
              <a:t>Aujourd’hui : ne retirez ni le refroidisseur du CPU ni le processeur.</a:t>
            </a:r>
            <a:endParaRPr lang="en-US" sz="1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CARTOGRAPHIER</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Suivez les connexions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53</a:t>
            </a:r>
            <a:endParaRPr lang="en-US" sz="820" dirty="0"/>
          </a:p>
        </p:txBody>
      </p:sp>
      <p:sp>
        <p:nvSpPr>
          <p:cNvPr id="7" name="Shape 5"/>
          <p:cNvSpPr/>
          <p:nvPr/>
        </p:nvSpPr>
        <p:spPr>
          <a:xfrm>
            <a:off x="2697480" y="2148840"/>
            <a:ext cx="1874520" cy="0"/>
          </a:xfrm>
          <a:prstGeom prst="line">
            <a:avLst/>
          </a:prstGeom>
          <a:noFill/>
          <a:ln w="22860">
            <a:solidFill>
              <a:srgbClr val="B5792A"/>
            </a:solidFill>
            <a:prstDash val="solid"/>
          </a:ln>
        </p:spPr>
      </p:sp>
      <p:sp>
        <p:nvSpPr>
          <p:cNvPr id="8" name="Shape 6"/>
          <p:cNvSpPr/>
          <p:nvPr/>
        </p:nvSpPr>
        <p:spPr>
          <a:xfrm>
            <a:off x="2560320" y="2377440"/>
            <a:ext cx="6172200" cy="-594360"/>
          </a:xfrm>
          <a:prstGeom prst="line">
            <a:avLst/>
          </a:prstGeom>
          <a:noFill/>
          <a:ln w="22860">
            <a:solidFill>
              <a:srgbClr val="B5792A"/>
            </a:solidFill>
            <a:prstDash val="solid"/>
          </a:ln>
        </p:spPr>
      </p:sp>
      <p:sp>
        <p:nvSpPr>
          <p:cNvPr id="9" name="Shape 7"/>
          <p:cNvSpPr/>
          <p:nvPr/>
        </p:nvSpPr>
        <p:spPr>
          <a:xfrm>
            <a:off x="2560320" y="2487168"/>
            <a:ext cx="5897880" cy="594360"/>
          </a:xfrm>
          <a:prstGeom prst="line">
            <a:avLst/>
          </a:prstGeom>
          <a:noFill/>
          <a:ln w="22860">
            <a:solidFill>
              <a:srgbClr val="B5792A"/>
            </a:solidFill>
            <a:prstDash val="solid"/>
          </a:ln>
        </p:spPr>
      </p:sp>
      <p:sp>
        <p:nvSpPr>
          <p:cNvPr id="10" name="Shape 8"/>
          <p:cNvSpPr/>
          <p:nvPr/>
        </p:nvSpPr>
        <p:spPr>
          <a:xfrm>
            <a:off x="7269480" y="1965960"/>
            <a:ext cx="1600200" cy="-228600"/>
          </a:xfrm>
          <a:prstGeom prst="line">
            <a:avLst/>
          </a:prstGeom>
          <a:noFill/>
          <a:ln w="22860">
            <a:solidFill>
              <a:srgbClr val="B5792A"/>
            </a:solidFill>
            <a:prstDash val="solid"/>
          </a:ln>
        </p:spPr>
      </p:sp>
      <p:sp>
        <p:nvSpPr>
          <p:cNvPr id="11" name="Shape 9"/>
          <p:cNvSpPr/>
          <p:nvPr/>
        </p:nvSpPr>
        <p:spPr>
          <a:xfrm>
            <a:off x="7269480" y="2395728"/>
            <a:ext cx="1234440" cy="658368"/>
          </a:xfrm>
          <a:prstGeom prst="line">
            <a:avLst/>
          </a:prstGeom>
          <a:noFill/>
          <a:ln w="22860">
            <a:solidFill>
              <a:srgbClr val="B5792A"/>
            </a:solidFill>
            <a:prstDash val="solid"/>
          </a:ln>
        </p:spPr>
      </p:sp>
      <p:sp>
        <p:nvSpPr>
          <p:cNvPr id="12" name="Text 10"/>
          <p:cNvSpPr/>
          <p:nvPr/>
        </p:nvSpPr>
        <p:spPr>
          <a:xfrm>
            <a:off x="822960" y="1783080"/>
            <a:ext cx="1874520" cy="77724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2900" b="1" dirty="0">
                <a:solidFill>
                  <a:srgbClr val="FFFFFF"/>
                </a:solidFill>
                <a:latin typeface="Aptos Display" pitchFamily="34" charset="0"/>
                <a:ea typeface="Aptos Display" pitchFamily="34" charset="-122"/>
                <a:cs typeface="Aptos Display" pitchFamily="34" charset="-120"/>
              </a:rPr>
              <a:t>PSU</a:t>
            </a:r>
            <a:endParaRPr lang="en-US" sz="2900" dirty="0"/>
          </a:p>
        </p:txBody>
      </p:sp>
      <p:sp>
        <p:nvSpPr>
          <p:cNvPr id="13" name="Text 11"/>
          <p:cNvSpPr/>
          <p:nvPr/>
        </p:nvSpPr>
        <p:spPr>
          <a:xfrm>
            <a:off x="4709160" y="1783080"/>
            <a:ext cx="2560320" cy="777240"/>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CARTE MÈRE</a:t>
            </a:r>
            <a:endParaRPr lang="en-US" sz="2600" dirty="0"/>
          </a:p>
        </p:txBody>
      </p:sp>
      <p:sp>
        <p:nvSpPr>
          <p:cNvPr id="14" name="Text 12"/>
          <p:cNvSpPr/>
          <p:nvPr/>
        </p:nvSpPr>
        <p:spPr>
          <a:xfrm>
            <a:off x="9098280" y="1417320"/>
            <a:ext cx="1828800" cy="685800"/>
          </a:xfrm>
          <a:prstGeom prst="rect">
            <a:avLst/>
          </a:prstGeom>
          <a:solidFill>
            <a:srgbClr val="F2E4CE"/>
          </a:solidFill>
          <a:ln>
            <a:solidFill>
              <a:srgbClr val="B5792A"/>
            </a:solidFill>
          </a:ln>
        </p:spPr>
        <p:txBody>
          <a:bodyPr wrap="square" lIns="0" tIns="0" rIns="0" bIns="0" rtlCol="0" anchor="ctr"/>
          <a:lstStyle/>
          <a:p>
            <a:pPr algn="ctr" indent="0" marL="0">
              <a:buNone/>
            </a:pPr>
            <a:r>
              <a:rPr lang="en-US" sz="2500" b="1" dirty="0">
                <a:solidFill>
                  <a:srgbClr val="222831"/>
                </a:solidFill>
                <a:latin typeface="Aptos Display" pitchFamily="34" charset="0"/>
                <a:ea typeface="Aptos Display" pitchFamily="34" charset="-122"/>
                <a:cs typeface="Aptos Display" pitchFamily="34" charset="-120"/>
              </a:rPr>
              <a:t>GPU</a:t>
            </a:r>
            <a:endParaRPr lang="en-US" sz="2500" dirty="0"/>
          </a:p>
        </p:txBody>
      </p:sp>
      <p:sp>
        <p:nvSpPr>
          <p:cNvPr id="15" name="Text 13"/>
          <p:cNvSpPr/>
          <p:nvPr/>
        </p:nvSpPr>
        <p:spPr>
          <a:xfrm>
            <a:off x="8732520" y="2788920"/>
            <a:ext cx="2514600" cy="685800"/>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2300" b="1" dirty="0">
                <a:solidFill>
                  <a:srgbClr val="222831"/>
                </a:solidFill>
                <a:latin typeface="Aptos Display" pitchFamily="34" charset="0"/>
                <a:ea typeface="Aptos Display" pitchFamily="34" charset="-122"/>
                <a:cs typeface="Aptos Display" pitchFamily="34" charset="-120"/>
              </a:rPr>
              <a:t>STOCKAGE</a:t>
            </a:r>
            <a:endParaRPr lang="en-US" sz="2300" dirty="0"/>
          </a:p>
        </p:txBody>
      </p:sp>
      <p:sp>
        <p:nvSpPr>
          <p:cNvPr id="16" name="Text 14"/>
          <p:cNvSpPr/>
          <p:nvPr/>
        </p:nvSpPr>
        <p:spPr>
          <a:xfrm>
            <a:off x="2423160" y="3547872"/>
            <a:ext cx="7315200" cy="384048"/>
          </a:xfrm>
          <a:prstGeom prst="rect">
            <a:avLst/>
          </a:prstGeom>
          <a:noFill/>
          <a:ln/>
        </p:spPr>
        <p:txBody>
          <a:bodyPr wrap="square" lIns="0" tIns="0" rIns="0" bIns="0" rtlCol="0" anchor="ctr"/>
          <a:lstStyle/>
          <a:p>
            <a:pPr algn="ctr" indent="0" marL="0">
              <a:buNone/>
            </a:pPr>
            <a:r>
              <a:rPr lang="en-US" sz="1600" b="1" dirty="0">
                <a:solidFill>
                  <a:srgbClr val="17324D"/>
                </a:solidFill>
                <a:latin typeface="Aptos" pitchFamily="34" charset="0"/>
                <a:ea typeface="Aptos" pitchFamily="34" charset="-122"/>
                <a:cs typeface="Aptos" pitchFamily="34" charset="-120"/>
              </a:rPr>
              <a:t>Tracez les connexions réelles de VOTRE machine : alimentation? données / interconnexion?</a:t>
            </a:r>
            <a:endParaRPr lang="en-US" sz="1600" dirty="0"/>
          </a:p>
        </p:txBody>
      </p:sp>
      <p:sp>
        <p:nvSpPr>
          <p:cNvPr id="17" name="Text 15"/>
          <p:cNvSpPr/>
          <p:nvPr/>
        </p:nvSpPr>
        <p:spPr>
          <a:xfrm>
            <a:off x="1005840" y="4087368"/>
            <a:ext cx="4206240" cy="475488"/>
          </a:xfrm>
          <a:prstGeom prst="rect">
            <a:avLst/>
          </a:prstGeom>
          <a:noFill/>
          <a:ln/>
        </p:spPr>
        <p:txBody>
          <a:bodyPr wrap="square" lIns="0" tIns="0" rIns="0" bIns="0" rtlCol="0" anchor="ctr"/>
          <a:lstStyle/>
          <a:p>
            <a:pPr indent="0" marL="0">
              <a:buNone/>
            </a:pPr>
            <a:r>
              <a:rPr lang="en-US" sz="2200" b="1" dirty="0">
                <a:solidFill>
                  <a:srgbClr val="2D6F6B"/>
                </a:solidFill>
                <a:latin typeface="Aptos Display" pitchFamily="34" charset="0"/>
                <a:ea typeface="Aptos Display" pitchFamily="34" charset="-122"/>
                <a:cs typeface="Aptos Display" pitchFamily="34" charset="-120"/>
              </a:rPr>
              <a:t>Qu’est-ce que vous pouvez VOIR?</a:t>
            </a:r>
            <a:endParaRPr lang="en-US" sz="2200" dirty="0"/>
          </a:p>
        </p:txBody>
      </p:sp>
      <p:sp>
        <p:nvSpPr>
          <p:cNvPr id="18" name="Text 16"/>
          <p:cNvSpPr/>
          <p:nvPr/>
        </p:nvSpPr>
        <p:spPr>
          <a:xfrm>
            <a:off x="5715000" y="4087368"/>
            <a:ext cx="4983480" cy="475488"/>
          </a:xfrm>
          <a:prstGeom prst="rect">
            <a:avLst/>
          </a:prstGeom>
          <a:noFill/>
          <a:ln/>
        </p:spPr>
        <p:txBody>
          <a:bodyPr wrap="square" lIns="0" tIns="0" rIns="0" bIns="0" rtlCol="0" anchor="ctr"/>
          <a:lstStyle/>
          <a:p>
            <a:pPr indent="0" marL="0">
              <a:buNone/>
            </a:pPr>
            <a:r>
              <a:rPr lang="en-US" sz="2200" b="1" dirty="0">
                <a:solidFill>
                  <a:srgbClr val="B5792A"/>
                </a:solidFill>
                <a:latin typeface="Aptos Display" pitchFamily="34" charset="0"/>
                <a:ea typeface="Aptos Display" pitchFamily="34" charset="-122"/>
                <a:cs typeface="Aptos Display" pitchFamily="34" charset="-120"/>
              </a:rPr>
              <a:t>Qu’est-ce que vous NE POUVEZ PAS voir directement?</a:t>
            </a:r>
            <a:endParaRPr lang="en-US" sz="2200" dirty="0"/>
          </a:p>
        </p:txBody>
      </p:sp>
      <p:sp>
        <p:nvSpPr>
          <p:cNvPr id="19" name="Text 17"/>
          <p:cNvSpPr/>
          <p:nvPr/>
        </p:nvSpPr>
        <p:spPr>
          <a:xfrm>
            <a:off x="5715000" y="4690872"/>
            <a:ext cx="4846320" cy="411480"/>
          </a:xfrm>
          <a:prstGeom prst="rect">
            <a:avLst/>
          </a:prstGeom>
          <a:noFill/>
          <a:ln/>
        </p:spPr>
        <p:txBody>
          <a:bodyPr wrap="square" lIns="0" tIns="0" rIns="0" bIns="0" rtlCol="0" anchor="ctr"/>
          <a:lstStyle/>
          <a:p>
            <a:pPr indent="0" marL="0">
              <a:buNone/>
            </a:pPr>
            <a:r>
              <a:rPr lang="en-US" sz="1800" dirty="0">
                <a:solidFill>
                  <a:srgbClr val="6B7178"/>
                </a:solidFill>
                <a:latin typeface="Aptos" pitchFamily="34" charset="0"/>
                <a:ea typeface="Aptos" pitchFamily="34" charset="-122"/>
                <a:cs typeface="Aptos" pitchFamily="34" charset="-120"/>
              </a:rPr>
              <a:t>UAL • signedness • boutisme • contenu d’un registre</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DÉCONNECTER</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Documenter avant de déconnecter</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54</a:t>
            </a:r>
            <a:endParaRPr lang="en-US" sz="820" dirty="0"/>
          </a:p>
        </p:txBody>
      </p:sp>
      <p:sp>
        <p:nvSpPr>
          <p:cNvPr id="7" name="Text 5"/>
          <p:cNvSpPr/>
          <p:nvPr/>
        </p:nvSpPr>
        <p:spPr>
          <a:xfrm>
            <a:off x="868680" y="1783080"/>
            <a:ext cx="960120" cy="9601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1</a:t>
            </a:r>
            <a:endParaRPr lang="en-US" sz="3200" dirty="0"/>
          </a:p>
        </p:txBody>
      </p:sp>
      <p:sp>
        <p:nvSpPr>
          <p:cNvPr id="8" name="Text 6"/>
          <p:cNvSpPr/>
          <p:nvPr/>
        </p:nvSpPr>
        <p:spPr>
          <a:xfrm>
            <a:off x="2148840" y="1892808"/>
            <a:ext cx="1965960" cy="685800"/>
          </a:xfrm>
          <a:prstGeom prst="rect">
            <a:avLst/>
          </a:prstGeom>
          <a:noFill/>
          <a:ln/>
        </p:spPr>
        <p:txBody>
          <a:bodyPr wrap="square" lIns="0" tIns="0" rIns="0" bIns="0" rtlCol="0" anchor="ctr"/>
          <a:lstStyle/>
          <a:p>
            <a:pPr algn="ctr" indent="0" marL="0">
              <a:buNone/>
            </a:pPr>
            <a:r>
              <a:rPr lang="en-US" sz="2900" b="1" dirty="0">
                <a:solidFill>
                  <a:srgbClr val="17324D"/>
                </a:solidFill>
                <a:latin typeface="Aptos Display" pitchFamily="34" charset="0"/>
                <a:ea typeface="Aptos Display" pitchFamily="34" charset="-122"/>
                <a:cs typeface="Aptos Display" pitchFamily="34" charset="-120"/>
              </a:rPr>
              <a:t>PHOTO</a:t>
            </a:r>
            <a:endParaRPr lang="en-US" sz="2900" dirty="0"/>
          </a:p>
        </p:txBody>
      </p:sp>
      <p:sp>
        <p:nvSpPr>
          <p:cNvPr id="9" name="Shape 7"/>
          <p:cNvSpPr/>
          <p:nvPr/>
        </p:nvSpPr>
        <p:spPr>
          <a:xfrm>
            <a:off x="4343400" y="2267712"/>
            <a:ext cx="960120" cy="0"/>
          </a:xfrm>
          <a:prstGeom prst="line">
            <a:avLst/>
          </a:prstGeom>
          <a:noFill/>
          <a:ln w="38100">
            <a:solidFill>
              <a:srgbClr val="B5792A"/>
            </a:solidFill>
            <a:prstDash val="solid"/>
            <a:headEnd type="none"/>
            <a:tailEnd type="triangle"/>
          </a:ln>
        </p:spPr>
      </p:sp>
      <p:sp>
        <p:nvSpPr>
          <p:cNvPr id="10" name="Text 8"/>
          <p:cNvSpPr/>
          <p:nvPr/>
        </p:nvSpPr>
        <p:spPr>
          <a:xfrm>
            <a:off x="5532120" y="1783080"/>
            <a:ext cx="960120" cy="960120"/>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2</a:t>
            </a:r>
            <a:endParaRPr lang="en-US" sz="3200" dirty="0"/>
          </a:p>
        </p:txBody>
      </p:sp>
      <p:sp>
        <p:nvSpPr>
          <p:cNvPr id="11" name="Text 9"/>
          <p:cNvSpPr/>
          <p:nvPr/>
        </p:nvSpPr>
        <p:spPr>
          <a:xfrm>
            <a:off x="6812280" y="1709928"/>
            <a:ext cx="2194560" cy="1097280"/>
          </a:xfrm>
          <a:prstGeom prst="rect">
            <a:avLst/>
          </a:prstGeom>
          <a:noFill/>
          <a:ln/>
        </p:spPr>
        <p:txBody>
          <a:bodyPr wrap="square" lIns="0" tIns="0" rIns="0" bIns="0" rtlCol="0" anchor="ctr"/>
          <a:lstStyle/>
          <a:p>
            <a:pPr algn="ctr" indent="0" marL="0">
              <a:buNone/>
            </a:pPr>
            <a:r>
              <a:rPr lang="en-US" sz="2300" b="1" dirty="0">
                <a:solidFill>
                  <a:srgbClr val="2D6F6B"/>
                </a:solidFill>
                <a:latin typeface="Aptos Display" pitchFamily="34" charset="0"/>
                <a:ea typeface="Aptos Display" pitchFamily="34" charset="-122"/>
                <a:cs typeface="Aptos Display" pitchFamily="34" charset="-120"/>
              </a:rPr>
              <a:t>COMPRENDRE</a:t>
            </a:r>
            <a:endParaRPr lang="en-US" sz="2300" dirty="0"/>
          </a:p>
          <a:p>
            <a:pPr algn="ctr" indent="0" marL="0">
              <a:buNone/>
            </a:pPr>
            <a:r>
              <a:rPr lang="en-US" sz="2300" b="1" dirty="0">
                <a:solidFill>
                  <a:srgbClr val="2D6F6B"/>
                </a:solidFill>
                <a:latin typeface="Aptos Display" pitchFamily="34" charset="0"/>
                <a:ea typeface="Aptos Display" pitchFamily="34" charset="-122"/>
                <a:cs typeface="Aptos Display" pitchFamily="34" charset="-120"/>
              </a:rPr>
              <a:t>LE LOQUET</a:t>
            </a:r>
            <a:endParaRPr lang="en-US" sz="2300" dirty="0"/>
          </a:p>
        </p:txBody>
      </p:sp>
      <p:sp>
        <p:nvSpPr>
          <p:cNvPr id="12" name="Shape 10"/>
          <p:cNvSpPr/>
          <p:nvPr/>
        </p:nvSpPr>
        <p:spPr>
          <a:xfrm>
            <a:off x="9144000" y="2267712"/>
            <a:ext cx="777240" cy="0"/>
          </a:xfrm>
          <a:prstGeom prst="line">
            <a:avLst/>
          </a:prstGeom>
          <a:noFill/>
          <a:ln w="38100">
            <a:solidFill>
              <a:srgbClr val="B5792A"/>
            </a:solidFill>
            <a:prstDash val="solid"/>
            <a:headEnd type="none"/>
            <a:tailEnd type="triangle"/>
          </a:ln>
        </p:spPr>
      </p:sp>
      <p:sp>
        <p:nvSpPr>
          <p:cNvPr id="13" name="Text 11"/>
          <p:cNvSpPr/>
          <p:nvPr/>
        </p:nvSpPr>
        <p:spPr>
          <a:xfrm>
            <a:off x="10149840" y="1783080"/>
            <a:ext cx="960120" cy="960120"/>
          </a:xfrm>
          <a:prstGeom prst="rect">
            <a:avLst/>
          </a:prstGeom>
          <a:solidFill>
            <a:srgbClr val="B5792A"/>
          </a:solidFill>
          <a:ln>
            <a:solidFill>
              <a:srgbClr val="B5792A"/>
            </a:solidFill>
          </a:ln>
        </p:spPr>
        <p:txBody>
          <a:bodyPr wrap="square" lIns="0" tIns="0" rIns="0" bIns="0"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3</a:t>
            </a:r>
            <a:endParaRPr lang="en-US" sz="3200" dirty="0"/>
          </a:p>
        </p:txBody>
      </p:sp>
      <p:sp>
        <p:nvSpPr>
          <p:cNvPr id="14" name="Text 12"/>
          <p:cNvSpPr/>
          <p:nvPr/>
        </p:nvSpPr>
        <p:spPr>
          <a:xfrm>
            <a:off x="9125712" y="2980944"/>
            <a:ext cx="2971800" cy="493776"/>
          </a:xfrm>
          <a:prstGeom prst="rect">
            <a:avLst/>
          </a:prstGeom>
          <a:noFill/>
          <a:ln/>
        </p:spPr>
        <p:txBody>
          <a:bodyPr wrap="square" lIns="0" tIns="0" rIns="0" bIns="0" rtlCol="0" anchor="ctr"/>
          <a:lstStyle/>
          <a:p>
            <a:pPr algn="ctr" indent="0" marL="0">
              <a:buNone/>
            </a:pPr>
            <a:r>
              <a:rPr lang="en-US" sz="2200" b="1" dirty="0">
                <a:solidFill>
                  <a:srgbClr val="B5792A"/>
                </a:solidFill>
                <a:latin typeface="Aptos Display" pitchFamily="34" charset="0"/>
                <a:ea typeface="Aptos Display" pitchFamily="34" charset="-122"/>
                <a:cs typeface="Aptos Display" pitchFamily="34" charset="-120"/>
              </a:rPr>
              <a:t>DÉCONNECTER</a:t>
            </a:r>
            <a:endParaRPr lang="en-US" sz="2200" dirty="0"/>
          </a:p>
        </p:txBody>
      </p:sp>
      <p:sp>
        <p:nvSpPr>
          <p:cNvPr id="15" name="Text 13"/>
          <p:cNvSpPr/>
          <p:nvPr/>
        </p:nvSpPr>
        <p:spPr>
          <a:xfrm>
            <a:off x="2011680" y="4114800"/>
            <a:ext cx="8183880" cy="96012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2000" b="1" dirty="0">
                <a:solidFill>
                  <a:srgbClr val="B5792A"/>
                </a:solidFill>
                <a:latin typeface="Aptos" pitchFamily="34" charset="0"/>
                <a:ea typeface="Aptos" pitchFamily="34" charset="-122"/>
                <a:cs typeface="Aptos" pitchFamily="34" charset="-120"/>
              </a:rPr>
              <a:t>RÈGLE</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Ne déconnectez que ce qui est nécessaire pour accéder correctement aux composants.</a:t>
            </a:r>
            <a:endParaRPr lang="en-US" sz="2000" dirty="0"/>
          </a:p>
        </p:txBody>
      </p:sp>
      <p:sp>
        <p:nvSpPr>
          <p:cNvPr id="16" name="Text 14"/>
          <p:cNvSpPr/>
          <p:nvPr/>
        </p:nvSpPr>
        <p:spPr>
          <a:xfrm>
            <a:off x="2880360" y="5285232"/>
            <a:ext cx="6446520" cy="320040"/>
          </a:xfrm>
          <a:prstGeom prst="rect">
            <a:avLst/>
          </a:prstGeom>
          <a:noFill/>
          <a:ln/>
        </p:spPr>
        <p:txBody>
          <a:bodyPr wrap="square" lIns="0" tIns="0" rIns="0" bIns="0" rtlCol="0" anchor="ctr"/>
          <a:lstStyle/>
          <a:p>
            <a:pPr algn="ctr" indent="0" marL="0">
              <a:buNone/>
            </a:pPr>
            <a:r>
              <a:rPr lang="en-US" sz="1500" i="1" dirty="0">
                <a:solidFill>
                  <a:srgbClr val="2D6F6B"/>
                </a:solidFill>
                <a:latin typeface="Aptos" pitchFamily="34" charset="0"/>
                <a:ea typeface="Aptos" pitchFamily="34" charset="-122"/>
                <a:cs typeface="Aptos" pitchFamily="34" charset="-120"/>
              </a:rPr>
              <a:t>Rotation du technicien avant cette première intervention.</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INTERVENTION 1</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Mémoire vive — retirer et réinsérer</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55</a:t>
            </a:r>
            <a:endParaRPr lang="en-US" sz="820" dirty="0"/>
          </a:p>
        </p:txBody>
      </p:sp>
      <p:sp>
        <p:nvSpPr>
          <p:cNvPr id="7" name="Shape 5"/>
          <p:cNvSpPr/>
          <p:nvPr/>
        </p:nvSpPr>
        <p:spPr>
          <a:xfrm>
            <a:off x="630936" y="1389888"/>
            <a:ext cx="5129784" cy="270662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4a_dimm_installed.jpg">    </p:cNvPr>
          <p:cNvPicPr>
            <a:picLocks noChangeAspect="1"/>
          </p:cNvPicPr>
          <p:nvPr/>
        </p:nvPicPr>
        <p:blipFill>
          <a:blip r:embed="rId1"/>
          <a:srcRect l="0" r="0" t="10811" b="10811"/>
          <a:stretch/>
        </p:blipFill>
        <p:spPr>
          <a:xfrm>
            <a:off x="658368" y="1417320"/>
            <a:ext cx="5074920" cy="2651760"/>
          </a:xfrm>
          <a:prstGeom prst="rect">
            <a:avLst/>
          </a:prstGeom>
        </p:spPr>
      </p:pic>
      <p:sp>
        <p:nvSpPr>
          <p:cNvPr id="9" name="Shape 6"/>
          <p:cNvSpPr/>
          <p:nvPr/>
        </p:nvSpPr>
        <p:spPr>
          <a:xfrm>
            <a:off x="630936" y="4251960"/>
            <a:ext cx="5129784" cy="110642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10" name="Image 1" descr="/mnt/data/seance5_build/assets/A4b_ddr4_module.jpg">    </p:cNvPr>
          <p:cNvPicPr>
            <a:picLocks noChangeAspect="1"/>
          </p:cNvPicPr>
          <p:nvPr/>
        </p:nvPicPr>
        <p:blipFill>
          <a:blip r:embed="rId2"/>
          <a:stretch>
            <a:fillRect/>
          </a:stretch>
        </p:blipFill>
        <p:spPr>
          <a:xfrm>
            <a:off x="1822736" y="4279392"/>
            <a:ext cx="2746185" cy="1051560"/>
          </a:xfrm>
          <a:prstGeom prst="rect">
            <a:avLst/>
          </a:prstGeom>
        </p:spPr>
      </p:pic>
      <p:sp>
        <p:nvSpPr>
          <p:cNvPr id="11" name="Text 7"/>
          <p:cNvSpPr/>
          <p:nvPr/>
        </p:nvSpPr>
        <p:spPr>
          <a:xfrm>
            <a:off x="6172200" y="1463040"/>
            <a:ext cx="4526280" cy="457200"/>
          </a:xfrm>
          <a:prstGeom prst="rect">
            <a:avLst/>
          </a:prstGeom>
          <a:noFill/>
          <a:ln/>
        </p:spPr>
        <p:txBody>
          <a:bodyPr wrap="square" lIns="0" tIns="0" rIns="0" bIns="0" rtlCol="0" anchor="ctr"/>
          <a:lstStyle/>
          <a:p>
            <a:pPr indent="0" marL="0">
              <a:buNone/>
            </a:pPr>
            <a:r>
              <a:rPr lang="en-US" sz="1500" b="1" spc="100" kern="0" dirty="0">
                <a:solidFill>
                  <a:srgbClr val="B5792A"/>
                </a:solidFill>
                <a:latin typeface="Aptos" pitchFamily="34" charset="0"/>
                <a:ea typeface="Aptos" pitchFamily="34" charset="-122"/>
                <a:cs typeface="Aptos" pitchFamily="34" charset="-120"/>
              </a:rPr>
              <a:t>CHANGEZ DE TECHNICIEN·NE</a:t>
            </a:r>
            <a:endParaRPr lang="en-US" sz="1500" dirty="0"/>
          </a:p>
        </p:txBody>
      </p:sp>
      <p:sp>
        <p:nvSpPr>
          <p:cNvPr id="12" name="Text 8"/>
          <p:cNvSpPr/>
          <p:nvPr/>
        </p:nvSpPr>
        <p:spPr>
          <a:xfrm>
            <a:off x="6172200" y="1984248"/>
            <a:ext cx="4709160" cy="2999232"/>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ouvrez le ou les clips de retenue;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retirez la barrette en la tenant par les bords;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repérez l’encoche : orientation imposée;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réalignez la barrette;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appuyez de façon contrôlée et uniforme;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vérifiez la fermeture des clips.</a:t>
            </a:r>
            <a:endParaRPr lang="en-US" sz="1800" dirty="0"/>
          </a:p>
        </p:txBody>
      </p:sp>
      <p:sp>
        <p:nvSpPr>
          <p:cNvPr id="13" name="Text 9"/>
          <p:cNvSpPr/>
          <p:nvPr/>
        </p:nvSpPr>
        <p:spPr>
          <a:xfrm>
            <a:off x="6172200" y="5138928"/>
            <a:ext cx="4709160" cy="411480"/>
          </a:xfrm>
          <a:prstGeom prst="rect">
            <a:avLst/>
          </a:prstGeom>
          <a:noFill/>
          <a:ln/>
        </p:spPr>
        <p:txBody>
          <a:bodyPr wrap="square" lIns="0" tIns="0" rIns="0" bIns="0" rtlCol="0" anchor="ctr"/>
          <a:lstStyle/>
          <a:p>
            <a:pPr indent="0" marL="0">
              <a:buNone/>
            </a:pPr>
            <a:r>
              <a:rPr lang="en-US" sz="1700" b="1" dirty="0">
                <a:solidFill>
                  <a:srgbClr val="A54B3E"/>
                </a:solidFill>
                <a:latin typeface="Aptos" pitchFamily="34" charset="0"/>
                <a:ea typeface="Aptos" pitchFamily="34" charset="-122"/>
                <a:cs typeface="Aptos" pitchFamily="34" charset="-120"/>
              </a:rPr>
              <a:t>Résistance inattendue → STOP → vérifier l’orientation.</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INTERVENTION 2</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Carte graphique — plusieurs points de retenue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56</a:t>
            </a:r>
            <a:endParaRPr lang="en-US" sz="820" dirty="0"/>
          </a:p>
        </p:txBody>
      </p:sp>
      <p:sp>
        <p:nvSpPr>
          <p:cNvPr id="7" name="Shape 5"/>
          <p:cNvSpPr/>
          <p:nvPr/>
        </p:nvSpPr>
        <p:spPr>
          <a:xfrm>
            <a:off x="630936" y="1389888"/>
            <a:ext cx="5129784" cy="288950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5a_gpu_installed.jpg">    </p:cNvPr>
          <p:cNvPicPr>
            <a:picLocks noChangeAspect="1"/>
          </p:cNvPicPr>
          <p:nvPr/>
        </p:nvPicPr>
        <p:blipFill>
          <a:blip r:embed="rId1"/>
          <a:srcRect l="0" r="0" t="12763" b="12763"/>
          <a:stretch/>
        </p:blipFill>
        <p:spPr>
          <a:xfrm>
            <a:off x="658368" y="1417320"/>
            <a:ext cx="5074920" cy="2834640"/>
          </a:xfrm>
          <a:prstGeom prst="rect">
            <a:avLst/>
          </a:prstGeom>
        </p:spPr>
      </p:pic>
      <p:sp>
        <p:nvSpPr>
          <p:cNvPr id="9" name="Shape 6"/>
          <p:cNvSpPr/>
          <p:nvPr/>
        </p:nvSpPr>
        <p:spPr>
          <a:xfrm>
            <a:off x="3611880" y="4325112"/>
            <a:ext cx="2112264" cy="1133856"/>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10" name="Image 1" descr="/mnt/data/seance5_build/assets/A5b_pcie_latch_crop.png">    </p:cNvPr>
          <p:cNvPicPr>
            <a:picLocks noChangeAspect="1"/>
          </p:cNvPicPr>
          <p:nvPr/>
        </p:nvPicPr>
        <p:blipFill>
          <a:blip r:embed="rId2"/>
          <a:stretch>
            <a:fillRect/>
          </a:stretch>
        </p:blipFill>
        <p:spPr>
          <a:xfrm>
            <a:off x="4275651" y="4352544"/>
            <a:ext cx="784721" cy="1078992"/>
          </a:xfrm>
          <a:prstGeom prst="rect">
            <a:avLst/>
          </a:prstGeom>
        </p:spPr>
      </p:pic>
      <p:sp>
        <p:nvSpPr>
          <p:cNvPr id="11" name="Text 7"/>
          <p:cNvSpPr/>
          <p:nvPr/>
        </p:nvSpPr>
        <p:spPr>
          <a:xfrm>
            <a:off x="749808" y="4242816"/>
            <a:ext cx="2514600" cy="329184"/>
          </a:xfrm>
          <a:prstGeom prst="rect">
            <a:avLst/>
          </a:prstGeom>
          <a:noFill/>
          <a:ln/>
        </p:spPr>
        <p:txBody>
          <a:bodyPr wrap="square" lIns="0" tIns="0" rIns="0" bIns="0" rtlCol="0" anchor="ctr"/>
          <a:lstStyle/>
          <a:p>
            <a:pPr indent="0" marL="0">
              <a:buNone/>
            </a:pPr>
            <a:r>
              <a:rPr lang="en-US" sz="1300" b="1" spc="100" kern="0" dirty="0">
                <a:solidFill>
                  <a:srgbClr val="B5792A"/>
                </a:solidFill>
                <a:latin typeface="Aptos" pitchFamily="34" charset="0"/>
                <a:ea typeface="Aptos" pitchFamily="34" charset="-122"/>
                <a:cs typeface="Aptos" pitchFamily="34" charset="-120"/>
              </a:rPr>
              <a:t>LOQUET PCIe</a:t>
            </a:r>
            <a:endParaRPr lang="en-US" sz="1300" dirty="0"/>
          </a:p>
        </p:txBody>
      </p:sp>
      <p:sp>
        <p:nvSpPr>
          <p:cNvPr id="12" name="Text 8"/>
          <p:cNvSpPr/>
          <p:nvPr/>
        </p:nvSpPr>
        <p:spPr>
          <a:xfrm>
            <a:off x="749808" y="4663440"/>
            <a:ext cx="2514600" cy="713232"/>
          </a:xfrm>
          <a:prstGeom prst="rect">
            <a:avLst/>
          </a:prstGeom>
          <a:noFill/>
          <a:ln/>
        </p:spPr>
        <p:txBody>
          <a:bodyPr wrap="square" lIns="0" tIns="0" rIns="0" bIns="0" rtlCol="0" anchor="ctr"/>
          <a:lstStyle/>
          <a:p>
            <a:pPr indent="0" marL="0">
              <a:buNone/>
            </a:pPr>
            <a:r>
              <a:rPr lang="en-US" sz="1550" dirty="0">
                <a:solidFill>
                  <a:srgbClr val="222831"/>
                </a:solidFill>
                <a:latin typeface="Aptos" pitchFamily="34" charset="0"/>
                <a:ea typeface="Aptos" pitchFamily="34" charset="-122"/>
                <a:cs typeface="Aptos" pitchFamily="34" charset="-120"/>
              </a:rPr>
              <a:t>Libérez le mécanisme de retenue avant de tirer la carte.</a:t>
            </a:r>
            <a:endParaRPr lang="en-US" sz="1550" dirty="0"/>
          </a:p>
        </p:txBody>
      </p:sp>
      <p:sp>
        <p:nvSpPr>
          <p:cNvPr id="13" name="Text 9"/>
          <p:cNvSpPr/>
          <p:nvPr/>
        </p:nvSpPr>
        <p:spPr>
          <a:xfrm>
            <a:off x="6172200" y="1463040"/>
            <a:ext cx="4754880" cy="457200"/>
          </a:xfrm>
          <a:prstGeom prst="rect">
            <a:avLst/>
          </a:prstGeom>
          <a:noFill/>
          <a:ln/>
        </p:spPr>
        <p:txBody>
          <a:bodyPr wrap="square" lIns="0" tIns="0" rIns="0" bIns="0" rtlCol="0" anchor="ctr"/>
          <a:lstStyle/>
          <a:p>
            <a:pPr indent="0" marL="0">
              <a:buNone/>
            </a:pPr>
            <a:r>
              <a:rPr lang="en-US" sz="1500" b="1" spc="100" kern="0" dirty="0">
                <a:solidFill>
                  <a:srgbClr val="B5792A"/>
                </a:solidFill>
                <a:latin typeface="Aptos" pitchFamily="34" charset="0"/>
                <a:ea typeface="Aptos" pitchFamily="34" charset="-122"/>
                <a:cs typeface="Aptos" pitchFamily="34" charset="-120"/>
              </a:rPr>
              <a:t>CHANGEZ ENCORE DE TECHNICIEN·NE</a:t>
            </a:r>
            <a:endParaRPr lang="en-US" sz="1500" dirty="0"/>
          </a:p>
        </p:txBody>
      </p:sp>
      <p:sp>
        <p:nvSpPr>
          <p:cNvPr id="14" name="Text 10"/>
          <p:cNvSpPr/>
          <p:nvPr/>
        </p:nvSpPr>
        <p:spPr>
          <a:xfrm>
            <a:off x="6172200" y="1993392"/>
            <a:ext cx="4709160" cy="2743200"/>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repérez une éventuelle alimentation auxiliaire;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repérez la ou les vis côté châssis;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repérez le loquet du connecteur PCIe;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libérez TOUS les points de retenue avant de tirer;</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réinsérez sans forcer puis restaurez vis / alimentation.</a:t>
            </a:r>
            <a:endParaRPr lang="en-US" sz="1800" dirty="0"/>
          </a:p>
        </p:txBody>
      </p:sp>
      <p:sp>
        <p:nvSpPr>
          <p:cNvPr id="15" name="Text 11"/>
          <p:cNvSpPr/>
          <p:nvPr/>
        </p:nvSpPr>
        <p:spPr>
          <a:xfrm>
            <a:off x="6172200" y="4974336"/>
            <a:ext cx="4709160" cy="566928"/>
          </a:xfrm>
          <a:prstGeom prst="rect">
            <a:avLst/>
          </a:prstGeom>
          <a:noFill/>
          <a:ln/>
        </p:spPr>
        <p:txBody>
          <a:bodyPr wrap="square" lIns="0" tIns="0" rIns="0" bIns="0" rtlCol="0" anchor="ctr"/>
          <a:lstStyle/>
          <a:p>
            <a:pPr indent="0" marL="0">
              <a:buNone/>
            </a:pPr>
            <a:r>
              <a:rPr lang="en-US" sz="1600" i="1" dirty="0">
                <a:solidFill>
                  <a:srgbClr val="6B7178"/>
                </a:solidFill>
                <a:latin typeface="Aptos" pitchFamily="34" charset="0"/>
                <a:ea typeface="Aptos" pitchFamily="34" charset="-122"/>
                <a:cs typeface="Aptos" pitchFamily="34" charset="-120"/>
              </a:rPr>
              <a:t>Pas de carte graphique adaptée dans votre machine? On adapte l’exercice — on ne force rien.</a:t>
            </a:r>
            <a:endParaRPr lang="en-US"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B5792A"/>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FFFFFF"/>
                </a:solidFill>
                <a:latin typeface="Aptos" pitchFamily="34" charset="0"/>
                <a:ea typeface="Aptos" pitchFamily="34" charset="-122"/>
                <a:cs typeface="Aptos" pitchFamily="34" charset="-120"/>
              </a:rPr>
              <a:t>ATELIER — HARD STOP</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ON REMONTE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57</a:t>
            </a:r>
            <a:endParaRPr lang="en-US" sz="820" dirty="0"/>
          </a:p>
        </p:txBody>
      </p:sp>
      <p:sp>
        <p:nvSpPr>
          <p:cNvPr id="7" name="Text 5"/>
          <p:cNvSpPr/>
          <p:nvPr/>
        </p:nvSpPr>
        <p:spPr>
          <a:xfrm>
            <a:off x="841248" y="1481328"/>
            <a:ext cx="3108960" cy="1005840"/>
          </a:xfrm>
          <a:prstGeom prst="rect">
            <a:avLst/>
          </a:prstGeom>
          <a:noFill/>
          <a:ln/>
        </p:spPr>
        <p:txBody>
          <a:bodyPr wrap="square" lIns="0" tIns="0" rIns="0" bIns="0" rtlCol="0" anchor="ctr"/>
          <a:lstStyle/>
          <a:p>
            <a:pPr algn="ctr" indent="0" marL="0">
              <a:buNone/>
            </a:pPr>
            <a:r>
              <a:rPr lang="en-US" sz="5600" b="1" dirty="0">
                <a:solidFill>
                  <a:srgbClr val="17324D"/>
                </a:solidFill>
                <a:latin typeface="Aptos Display" pitchFamily="34" charset="0"/>
                <a:ea typeface="Aptos Display" pitchFamily="34" charset="-122"/>
                <a:cs typeface="Aptos Display" pitchFamily="34" charset="-120"/>
              </a:rPr>
              <a:t>30 MIN</a:t>
            </a:r>
            <a:endParaRPr lang="en-US" sz="5600" dirty="0"/>
          </a:p>
        </p:txBody>
      </p:sp>
      <p:sp>
        <p:nvSpPr>
          <p:cNvPr id="8" name="Text 6"/>
          <p:cNvSpPr/>
          <p:nvPr/>
        </p:nvSpPr>
        <p:spPr>
          <a:xfrm>
            <a:off x="4160520" y="1627632"/>
            <a:ext cx="6537960" cy="658368"/>
          </a:xfrm>
          <a:prstGeom prst="rect">
            <a:avLst/>
          </a:prstGeom>
          <a:noFill/>
          <a:ln/>
        </p:spPr>
        <p:txBody>
          <a:bodyPr wrap="square" lIns="0" tIns="0" rIns="0" bIns="0" rtlCol="0" anchor="ct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Peu importe où vous êtes rendu.</a:t>
            </a:r>
            <a:endParaRPr lang="en-US" sz="3200" dirty="0"/>
          </a:p>
        </p:txBody>
      </p:sp>
      <p:sp>
        <p:nvSpPr>
          <p:cNvPr id="9" name="Text 7"/>
          <p:cNvSpPr/>
          <p:nvPr/>
        </p:nvSpPr>
        <p:spPr>
          <a:xfrm>
            <a:off x="1234440" y="3063240"/>
            <a:ext cx="9784080" cy="914400"/>
          </a:xfrm>
          <a:prstGeom prst="rect">
            <a:avLst/>
          </a:prstGeom>
          <a:solidFill>
            <a:srgbClr val="17324D">
              <a:alpha val="95000"/>
            </a:srgbClr>
          </a:solidFill>
          <a:ln>
            <a:solidFill>
              <a:srgbClr val="17324D">
                <a:alpha val="0"/>
              </a:srgbClr>
            </a:solidFill>
          </a:ln>
        </p:spPr>
        <p:txBody>
          <a:bodyPr wrap="square" lIns="2032" tIns="2032" rIns="2032" bIns="2032" rtlCol="0" anchor="ctr"/>
          <a:lstStyle/>
          <a:p>
            <a:pPr algn="ctr" indent="0" marL="0">
              <a:buNone/>
            </a:pPr>
            <a:r>
              <a:rPr lang="en-US" sz="2500" b="1" dirty="0">
                <a:solidFill>
                  <a:srgbClr val="FFFFFF"/>
                </a:solidFill>
                <a:latin typeface="Aptos" pitchFamily="34" charset="0"/>
                <a:ea typeface="Aptos" pitchFamily="34" charset="-122"/>
                <a:cs typeface="Aptos" pitchFamily="34" charset="-120"/>
              </a:rPr>
              <a:t>À partir de maintenant : restauration, vérification, fermeture, démarrage.</a:t>
            </a:r>
            <a:endParaRPr lang="en-US" sz="2500" dirty="0"/>
          </a:p>
        </p:txBody>
      </p:sp>
      <p:sp>
        <p:nvSpPr>
          <p:cNvPr id="10" name="Text 8"/>
          <p:cNvSpPr/>
          <p:nvPr/>
        </p:nvSpPr>
        <p:spPr>
          <a:xfrm>
            <a:off x="1874520" y="4681728"/>
            <a:ext cx="8458200" cy="502920"/>
          </a:xfrm>
          <a:prstGeom prst="rect">
            <a:avLst/>
          </a:prstGeom>
          <a:noFill/>
          <a:ln/>
        </p:spPr>
        <p:txBody>
          <a:bodyPr wrap="square" lIns="0" tIns="0" rIns="0" bIns="0" rtlCol="0" anchor="ctr"/>
          <a:lstStyle/>
          <a:p>
            <a:pPr algn="ctr" indent="0" marL="0">
              <a:buNone/>
            </a:pPr>
            <a:r>
              <a:rPr lang="en-US" sz="1900" b="1" dirty="0">
                <a:solidFill>
                  <a:srgbClr val="17324D"/>
                </a:solidFill>
                <a:latin typeface="Aptos" pitchFamily="34" charset="0"/>
                <a:ea typeface="Aptos" pitchFamily="34" charset="-122"/>
                <a:cs typeface="Aptos" pitchFamily="34" charset="-120"/>
              </a:rPr>
              <a:t>CHANGEZ DE TECHNICIEN·NE POUR LE REMONTAGE</a:t>
            </a:r>
            <a:endParaRPr lang="en-US" sz="1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REMONTAGE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Laisser la machine comme vous l’avez trouvée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58</a:t>
            </a:r>
            <a:endParaRPr lang="en-US" sz="820" dirty="0"/>
          </a:p>
        </p:txBody>
      </p:sp>
      <p:sp>
        <p:nvSpPr>
          <p:cNvPr id="7" name="Shape 5"/>
          <p:cNvSpPr/>
          <p:nvPr/>
        </p:nvSpPr>
        <p:spPr>
          <a:xfrm>
            <a:off x="630936" y="1389888"/>
            <a:ext cx="5129784" cy="435254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3_open_case_clean.jpg">    </p:cNvPr>
          <p:cNvPicPr>
            <a:picLocks noChangeAspect="1"/>
          </p:cNvPicPr>
          <p:nvPr/>
        </p:nvPicPr>
        <p:blipFill>
          <a:blip r:embed="rId1"/>
          <a:srcRect l="5718" r="5718" t="0" b="0"/>
          <a:stretch/>
        </p:blipFill>
        <p:spPr>
          <a:xfrm>
            <a:off x="658368" y="1417320"/>
            <a:ext cx="5074920" cy="4297680"/>
          </a:xfrm>
          <a:prstGeom prst="rect">
            <a:avLst/>
          </a:prstGeom>
        </p:spPr>
      </p:pic>
      <p:sp>
        <p:nvSpPr>
          <p:cNvPr id="9" name="Text 6"/>
          <p:cNvSpPr/>
          <p:nvPr/>
        </p:nvSpPr>
        <p:spPr>
          <a:xfrm>
            <a:off x="6172200" y="1572768"/>
            <a:ext cx="4754880" cy="3246120"/>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comptez toutes les vis;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reconnectez tout câble retiré;</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vérifiez les clips de RAM;</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vérifiez loquet / vis / alimentation du GPU;</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aucun câble sous tension ou dans un ventilateur;</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aucune vis / outil libre dans le châssis;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le panneau doit fermer sans forcer.</a:t>
            </a:r>
            <a:endParaRPr lang="en-US" sz="1800" dirty="0"/>
          </a:p>
        </p:txBody>
      </p:sp>
      <p:sp>
        <p:nvSpPr>
          <p:cNvPr id="10" name="Text 7"/>
          <p:cNvSpPr/>
          <p:nvPr/>
        </p:nvSpPr>
        <p:spPr>
          <a:xfrm>
            <a:off x="6172200" y="5010912"/>
            <a:ext cx="4754880" cy="512064"/>
          </a:xfrm>
          <a:prstGeom prst="rect">
            <a:avLst/>
          </a:prstGeom>
          <a:noFill/>
          <a:ln/>
        </p:spPr>
        <p:txBody>
          <a:bodyPr wrap="square" lIns="0" tIns="0" rIns="0" bIns="0" rtlCol="0" anchor="ctr"/>
          <a:lstStyle/>
          <a:p>
            <a:pPr indent="0" marL="0">
              <a:buNone/>
            </a:pPr>
            <a:r>
              <a:rPr lang="en-US" sz="1700" i="1" dirty="0">
                <a:solidFill>
                  <a:srgbClr val="6B7178"/>
                </a:solidFill>
                <a:latin typeface="Aptos" pitchFamily="34" charset="0"/>
                <a:ea typeface="Aptos" pitchFamily="34" charset="-122"/>
                <a:cs typeface="Aptos" pitchFamily="34" charset="-120"/>
              </a:rPr>
              <a:t>Gestion des câbles aujourd’hui : sûre et fonctionnelle, pas « parfaite ».</a:t>
            </a:r>
            <a:endParaRPr lang="en-US" sz="1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ATELIER — VÉRIFICATION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Vérifier avant de déclarer victoire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59</a:t>
            </a:r>
            <a:endParaRPr lang="en-US" sz="820" dirty="0"/>
          </a:p>
        </p:txBody>
      </p:sp>
      <p:sp>
        <p:nvSpPr>
          <p:cNvPr id="7" name="Text 5"/>
          <p:cNvSpPr/>
          <p:nvPr/>
        </p:nvSpPr>
        <p:spPr>
          <a:xfrm>
            <a:off x="822960" y="1572768"/>
            <a:ext cx="4251960" cy="2423160"/>
          </a:xfrm>
          <a:prstGeom prst="rect">
            <a:avLst/>
          </a:prstGeom>
          <a:solidFill>
            <a:srgbClr val="F5F1EA"/>
          </a:solidFill>
          <a:ln>
            <a:solidFill>
              <a:srgbClr val="CEC9BF"/>
            </a:solidFill>
          </a:ln>
        </p:spPr>
        <p:txBody>
          <a:bodyPr wrap="square" lIns="0" tIns="0" rIns="0" bIns="0" rtlCol="0" anchor="ctr"/>
          <a:lstStyle/>
          <a:p>
            <a:pPr algn="ctr" indent="0" marL="0">
              <a:buNone/>
            </a:pPr>
            <a:r>
              <a:rPr lang="en-US" sz="2400" b="1" dirty="0">
                <a:solidFill>
                  <a:srgbClr val="6B7178"/>
                </a:solidFill>
                <a:latin typeface="Aptos Display" pitchFamily="34" charset="0"/>
                <a:ea typeface="Aptos Display" pitchFamily="34" charset="-122"/>
                <a:cs typeface="Aptos Display" pitchFamily="34" charset="-120"/>
              </a:rPr>
              <a:t>PHOTO INITIALE</a:t>
            </a:r>
            <a:endParaRPr lang="en-US" sz="2400" dirty="0"/>
          </a:p>
        </p:txBody>
      </p:sp>
      <p:sp>
        <p:nvSpPr>
          <p:cNvPr id="8" name="Text 6"/>
          <p:cNvSpPr/>
          <p:nvPr/>
        </p:nvSpPr>
        <p:spPr>
          <a:xfrm>
            <a:off x="7114032" y="1572768"/>
            <a:ext cx="4251960" cy="2423160"/>
          </a:xfrm>
          <a:prstGeom prst="rect">
            <a:avLst/>
          </a:prstGeom>
          <a:solidFill>
            <a:srgbClr val="F5F1EA"/>
          </a:solidFill>
          <a:ln>
            <a:solidFill>
              <a:srgbClr val="CEC9BF"/>
            </a:solidFill>
          </a:ln>
        </p:spPr>
        <p:txBody>
          <a:bodyPr wrap="square" lIns="0" tIns="0" rIns="0" bIns="0" rtlCol="0" anchor="ctr"/>
          <a:lstStyle/>
          <a:p>
            <a:pPr algn="ctr" indent="0" marL="0">
              <a:buNone/>
            </a:pPr>
            <a:r>
              <a:rPr lang="en-US" sz="2400" b="1" dirty="0">
                <a:solidFill>
                  <a:srgbClr val="6B7178"/>
                </a:solidFill>
                <a:latin typeface="Aptos Display" pitchFamily="34" charset="0"/>
                <a:ea typeface="Aptos Display" pitchFamily="34" charset="-122"/>
                <a:cs typeface="Aptos Display" pitchFamily="34" charset="-120"/>
              </a:rPr>
              <a:t>PHOTO FINALE</a:t>
            </a:r>
            <a:endParaRPr lang="en-US" sz="2400" dirty="0"/>
          </a:p>
        </p:txBody>
      </p:sp>
      <p:sp>
        <p:nvSpPr>
          <p:cNvPr id="9" name="Shape 7"/>
          <p:cNvSpPr/>
          <p:nvPr/>
        </p:nvSpPr>
        <p:spPr>
          <a:xfrm>
            <a:off x="5230368" y="2743200"/>
            <a:ext cx="1600200" cy="0"/>
          </a:xfrm>
          <a:prstGeom prst="line">
            <a:avLst/>
          </a:prstGeom>
          <a:noFill/>
          <a:ln w="38100">
            <a:solidFill>
              <a:srgbClr val="B5792A"/>
            </a:solidFill>
            <a:prstDash val="solid"/>
            <a:headEnd type="none"/>
            <a:tailEnd type="triangle"/>
          </a:ln>
        </p:spPr>
      </p:sp>
      <p:sp>
        <p:nvSpPr>
          <p:cNvPr id="10" name="Text 8"/>
          <p:cNvSpPr/>
          <p:nvPr/>
        </p:nvSpPr>
        <p:spPr>
          <a:xfrm>
            <a:off x="5285232" y="2240280"/>
            <a:ext cx="1463040" cy="384048"/>
          </a:xfrm>
          <a:prstGeom prst="rect">
            <a:avLst/>
          </a:prstGeom>
          <a:noFill/>
          <a:ln/>
        </p:spPr>
        <p:txBody>
          <a:bodyPr wrap="square" lIns="0" tIns="0" rIns="0" bIns="0" rtlCol="0" anchor="ctr"/>
          <a:lstStyle/>
          <a:p>
            <a:pPr algn="ctr" indent="0" marL="0">
              <a:buNone/>
            </a:pPr>
            <a:r>
              <a:rPr lang="en-US" sz="1600" b="1" dirty="0">
                <a:solidFill>
                  <a:srgbClr val="B5792A"/>
                </a:solidFill>
                <a:latin typeface="Aptos" pitchFamily="34" charset="0"/>
                <a:ea typeface="Aptos" pitchFamily="34" charset="-122"/>
                <a:cs typeface="Aptos" pitchFamily="34" charset="-120"/>
              </a:rPr>
              <a:t>Comparer</a:t>
            </a:r>
            <a:endParaRPr lang="en-US" sz="1600" dirty="0"/>
          </a:p>
        </p:txBody>
      </p:sp>
      <p:sp>
        <p:nvSpPr>
          <p:cNvPr id="11" name="Text 9"/>
          <p:cNvSpPr/>
          <p:nvPr/>
        </p:nvSpPr>
        <p:spPr>
          <a:xfrm>
            <a:off x="1143000" y="4315968"/>
            <a:ext cx="9921240" cy="1133856"/>
          </a:xfrm>
          <a:prstGeom prst="rect">
            <a:avLst/>
          </a:prstGeom>
          <a:solidFill>
            <a:srgbClr val="EEE9E1"/>
          </a:solidFill>
          <a:ln>
            <a:solidFill>
              <a:srgbClr val="CEC9BF"/>
            </a:solidFill>
          </a:ln>
        </p:spPr>
        <p:txBody>
          <a:bodyPr wrap="square" lIns="2032" tIns="2032" rIns="2032" bIns="2032" rtlCol="0" anchor="ctr"/>
          <a:lstStyle/>
          <a:p>
            <a:pPr indent="0" marL="0">
              <a:buNone/>
            </a:pPr>
            <a:r>
              <a:rPr lang="en-US" sz="1800" dirty="0">
                <a:solidFill>
                  <a:srgbClr val="222831"/>
                </a:solidFill>
                <a:latin typeface="Aptos" pitchFamily="34" charset="0"/>
                <a:ea typeface="Aptos" pitchFamily="34" charset="-122"/>
                <a:cs typeface="Aptos" pitchFamily="34" charset="-120"/>
              </a:rPr>
              <a:t>1. l’autre membre vérifie visuellement</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2. fermer le boîtier</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3. reconnecter alimentation + périphériques</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4. démarrer</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5. signaler toute anomalie / réparation</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6. prendre la photo finale</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E2B16C"/>
                </a:solidFill>
                <a:latin typeface="Aptos" pitchFamily="34" charset="0"/>
                <a:ea typeface="Aptos" pitchFamily="34" charset="-122"/>
                <a:cs typeface="Aptos" pitchFamily="34" charset="-120"/>
              </a:rPr>
              <a:t>PAUSE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5 minutes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60</a:t>
            </a:r>
            <a:endParaRPr lang="en-US" sz="820" dirty="0"/>
          </a:p>
        </p:txBody>
      </p:sp>
      <p:sp>
        <p:nvSpPr>
          <p:cNvPr id="7" name="Text 5"/>
          <p:cNvSpPr/>
          <p:nvPr/>
        </p:nvSpPr>
        <p:spPr>
          <a:xfrm>
            <a:off x="777240" y="1417320"/>
            <a:ext cx="1554480" cy="1508760"/>
          </a:xfrm>
          <a:prstGeom prst="rect">
            <a:avLst/>
          </a:prstGeom>
          <a:noFill/>
          <a:ln/>
        </p:spPr>
        <p:txBody>
          <a:bodyPr wrap="square" lIns="0" tIns="0" rIns="0" bIns="0" rtlCol="0" anchor="ctr"/>
          <a:lstStyle/>
          <a:p>
            <a:pPr algn="ctr" indent="0" marL="0">
              <a:buNone/>
            </a:pPr>
            <a:r>
              <a:rPr lang="en-US" sz="8800" b="1" dirty="0">
                <a:solidFill>
                  <a:srgbClr val="E2B16C"/>
                </a:solidFill>
                <a:latin typeface="Aptos Display" pitchFamily="34" charset="0"/>
                <a:ea typeface="Aptos Display" pitchFamily="34" charset="-122"/>
                <a:cs typeface="Aptos Display" pitchFamily="34" charset="-120"/>
              </a:rPr>
              <a:t>5</a:t>
            </a:r>
            <a:endParaRPr lang="en-US" sz="8800" dirty="0"/>
          </a:p>
        </p:txBody>
      </p:sp>
      <p:sp>
        <p:nvSpPr>
          <p:cNvPr id="8" name="Text 6"/>
          <p:cNvSpPr/>
          <p:nvPr/>
        </p:nvSpPr>
        <p:spPr>
          <a:xfrm>
            <a:off x="2606040" y="1627632"/>
            <a:ext cx="3840480" cy="320040"/>
          </a:xfrm>
          <a:prstGeom prst="rect">
            <a:avLst/>
          </a:prstGeom>
          <a:noFill/>
          <a:ln/>
        </p:spPr>
        <p:txBody>
          <a:bodyPr wrap="square" lIns="0" tIns="0" rIns="0" bIns="0" rtlCol="0" anchor="ctr"/>
          <a:lstStyle/>
          <a:p>
            <a:pPr indent="0" marL="0">
              <a:buNone/>
            </a:pPr>
            <a:r>
              <a:rPr lang="en-US" sz="1200" b="1" spc="100" kern="0" dirty="0">
                <a:solidFill>
                  <a:srgbClr val="D8E0E8"/>
                </a:solidFill>
                <a:latin typeface="Aptos" pitchFamily="34" charset="0"/>
                <a:ea typeface="Aptos" pitchFamily="34" charset="-122"/>
                <a:cs typeface="Aptos" pitchFamily="34" charset="-120"/>
              </a:rPr>
              <a:t>PÉRIODE SUIVANTE</a:t>
            </a:r>
            <a:endParaRPr lang="en-US" sz="1200" dirty="0"/>
          </a:p>
        </p:txBody>
      </p:sp>
      <p:sp>
        <p:nvSpPr>
          <p:cNvPr id="9" name="Text 7"/>
          <p:cNvSpPr/>
          <p:nvPr/>
        </p:nvSpPr>
        <p:spPr>
          <a:xfrm>
            <a:off x="2606040" y="2057400"/>
            <a:ext cx="8183880" cy="146304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Le PC démarre. Maintenant : quel processeur contient-il exactement?</a:t>
            </a:r>
            <a:endParaRPr lang="en-US" sz="3000" dirty="0"/>
          </a:p>
        </p:txBody>
      </p:sp>
      <p:sp>
        <p:nvSpPr>
          <p:cNvPr id="10" name="Text 8"/>
          <p:cNvSpPr/>
          <p:nvPr/>
        </p:nvSpPr>
        <p:spPr>
          <a:xfrm>
            <a:off x="2606040" y="4069080"/>
            <a:ext cx="6949440" cy="347472"/>
          </a:xfrm>
          <a:prstGeom prst="rect">
            <a:avLst/>
          </a:prstGeom>
          <a:noFill/>
          <a:ln/>
        </p:spPr>
        <p:txBody>
          <a:bodyPr wrap="square" lIns="0" tIns="0" rIns="0" bIns="0" rtlCol="0" anchor="ctr"/>
          <a:lstStyle/>
          <a:p>
            <a:pPr indent="0" marL="0">
              <a:buNone/>
            </a:pPr>
            <a:r>
              <a:rPr lang="en-US" sz="1600" dirty="0">
                <a:solidFill>
                  <a:srgbClr val="D8E0E8"/>
                </a:solidFill>
                <a:latin typeface="Aptos" pitchFamily="34" charset="0"/>
                <a:ea typeface="Aptos" pitchFamily="34" charset="-122"/>
                <a:cs typeface="Aptos" pitchFamily="34" charset="-120"/>
              </a:rPr>
              <a:t>Laissez cette diapositive affichée pendant la pause.</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OBSERVER LE PROCESSEUR</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Vous avez vu le processeur. Que peut nous dire le système?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61</a:t>
            </a:r>
            <a:endParaRPr lang="en-US" sz="820" dirty="0"/>
          </a:p>
        </p:txBody>
      </p:sp>
      <p:sp>
        <p:nvSpPr>
          <p:cNvPr id="7" name="Shape 5"/>
          <p:cNvSpPr/>
          <p:nvPr/>
        </p:nvSpPr>
        <p:spPr>
          <a:xfrm>
            <a:off x="749808" y="1417320"/>
            <a:ext cx="4489704" cy="4215384"/>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1_cpu_i9_14900kf.jpg">    </p:cNvPr>
          <p:cNvPicPr>
            <a:picLocks noChangeAspect="1"/>
          </p:cNvPicPr>
          <p:nvPr/>
        </p:nvPicPr>
        <p:blipFill>
          <a:blip r:embed="rId1"/>
          <a:stretch>
            <a:fillRect/>
          </a:stretch>
        </p:blipFill>
        <p:spPr>
          <a:xfrm>
            <a:off x="1137161" y="1444752"/>
            <a:ext cx="3714998" cy="4160520"/>
          </a:xfrm>
          <a:prstGeom prst="rect">
            <a:avLst/>
          </a:prstGeom>
        </p:spPr>
      </p:pic>
      <p:sp>
        <p:nvSpPr>
          <p:cNvPr id="9" name="Text 6"/>
          <p:cNvSpPr/>
          <p:nvPr/>
        </p:nvSpPr>
        <p:spPr>
          <a:xfrm>
            <a:off x="5897880" y="1664208"/>
            <a:ext cx="5029200" cy="502920"/>
          </a:xfrm>
          <a:prstGeom prst="rect">
            <a:avLst/>
          </a:prstGeom>
          <a:noFill/>
          <a:ln/>
        </p:spPr>
        <p:txBody>
          <a:bodyPr wrap="square" lIns="0" tIns="0" rIns="0" bIns="0" rtlCol="0" anchor="ctr"/>
          <a:lstStyle/>
          <a:p>
            <a:pPr indent="0" marL="0">
              <a:buNone/>
            </a:pPr>
            <a:r>
              <a:rPr lang="en-US" sz="2700" b="1" dirty="0">
                <a:solidFill>
                  <a:srgbClr val="17324D"/>
                </a:solidFill>
                <a:latin typeface="Aptos Display" pitchFamily="34" charset="0"/>
                <a:ea typeface="Aptos Display" pitchFamily="34" charset="-122"/>
                <a:cs typeface="Aptos Display" pitchFamily="34" charset="-120"/>
              </a:rPr>
              <a:t>Le boîtier ne nous dit pas tout.</a:t>
            </a:r>
            <a:endParaRPr lang="en-US" sz="2700" dirty="0"/>
          </a:p>
        </p:txBody>
      </p:sp>
      <p:sp>
        <p:nvSpPr>
          <p:cNvPr id="10" name="Text 7"/>
          <p:cNvSpPr/>
          <p:nvPr/>
        </p:nvSpPr>
        <p:spPr>
          <a:xfrm>
            <a:off x="5897880" y="2423160"/>
            <a:ext cx="4572000" cy="2377440"/>
          </a:xfrm>
          <a:prstGeom prst="rect">
            <a:avLst/>
          </a:prstGeom>
          <a:noFill/>
          <a:ln/>
        </p:spPr>
        <p:txBody>
          <a:bodyPr wrap="square" lIns="254" tIns="254" rIns="254" bIns="254" rtlCol="0" anchor="t"/>
          <a:lstStyle/>
          <a:p>
            <a:pPr marL="203200" indent="-203200">
              <a:buSzPct val="100000"/>
              <a:buChar char="•"/>
            </a:pPr>
            <a:r>
              <a:rPr lang="en-US" sz="2100" dirty="0">
                <a:solidFill>
                  <a:srgbClr val="222831"/>
                </a:solidFill>
                <a:latin typeface="Aptos" pitchFamily="34" charset="0"/>
                <a:ea typeface="Aptos" pitchFamily="34" charset="-122"/>
                <a:cs typeface="Aptos" pitchFamily="34" charset="-120"/>
              </a:rPr>
              <a:t>modèle / fabricant</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cœurs</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processeurs logiques</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fréquence rapportée</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cache L2 / L3</a:t>
            </a:r>
            <a:endParaRPr lang="en-US" sz="2100" dirty="0"/>
          </a:p>
        </p:txBody>
      </p:sp>
      <p:sp>
        <p:nvSpPr>
          <p:cNvPr id="11" name="Text 8"/>
          <p:cNvSpPr/>
          <p:nvPr/>
        </p:nvSpPr>
        <p:spPr>
          <a:xfrm>
            <a:off x="5897880" y="4983480"/>
            <a:ext cx="4754880" cy="512064"/>
          </a:xfrm>
          <a:prstGeom prst="rect">
            <a:avLst/>
          </a:prstGeom>
          <a:noFill/>
          <a:ln/>
        </p:spPr>
        <p:txBody>
          <a:bodyPr wrap="square" lIns="0" tIns="0" rIns="0" bIns="0" rtlCol="0" anchor="ctr"/>
          <a:lstStyle/>
          <a:p>
            <a:pPr indent="0" marL="0">
              <a:buNone/>
            </a:pPr>
            <a:r>
              <a:rPr lang="en-US" sz="1700" i="1" dirty="0">
                <a:solidFill>
                  <a:srgbClr val="6B7178"/>
                </a:solidFill>
                <a:latin typeface="Aptos" pitchFamily="34" charset="0"/>
                <a:ea typeface="Aptos" pitchFamily="34" charset="-122"/>
                <a:cs typeface="Aptos" pitchFamily="34" charset="-120"/>
              </a:rPr>
              <a:t>Nous allons croiser ce que le système rapporte avec ce que nous savons du matériel.</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VOCABULAIRE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Processeur physique → cœur → fil → processeur logique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62</a:t>
            </a:r>
            <a:endParaRPr lang="en-US" sz="820" dirty="0"/>
          </a:p>
        </p:txBody>
      </p:sp>
      <p:sp>
        <p:nvSpPr>
          <p:cNvPr id="7" name="Text 5"/>
          <p:cNvSpPr/>
          <p:nvPr/>
        </p:nvSpPr>
        <p:spPr>
          <a:xfrm>
            <a:off x="777240" y="1527048"/>
            <a:ext cx="2743200" cy="749808"/>
          </a:xfrm>
          <a:prstGeom prst="rect">
            <a:avLst/>
          </a:prstGeom>
          <a:solidFill>
            <a:srgbClr val="17324D"/>
          </a:solidFill>
          <a:ln>
            <a:solidFill>
              <a:srgbClr val="17324D"/>
            </a:solidFill>
          </a:ln>
        </p:spPr>
        <p:txBody>
          <a:bodyPr wrap="square" lIns="635" tIns="635" rIns="635" bIns="635"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PROCESSEUR PHYSIQUE</a:t>
            </a:r>
            <a:endParaRPr lang="en-US" sz="2000" dirty="0"/>
          </a:p>
        </p:txBody>
      </p:sp>
      <p:sp>
        <p:nvSpPr>
          <p:cNvPr id="8" name="Shape 6"/>
          <p:cNvSpPr/>
          <p:nvPr/>
        </p:nvSpPr>
        <p:spPr>
          <a:xfrm>
            <a:off x="3611880" y="1901952"/>
            <a:ext cx="621792" cy="0"/>
          </a:xfrm>
          <a:prstGeom prst="line">
            <a:avLst/>
          </a:prstGeom>
          <a:noFill/>
          <a:ln w="33020">
            <a:solidFill>
              <a:srgbClr val="B5792A"/>
            </a:solidFill>
            <a:prstDash val="solid"/>
            <a:headEnd type="none"/>
            <a:tailEnd type="triangle"/>
          </a:ln>
        </p:spPr>
      </p:sp>
      <p:sp>
        <p:nvSpPr>
          <p:cNvPr id="9" name="Text 7"/>
          <p:cNvSpPr/>
          <p:nvPr/>
        </p:nvSpPr>
        <p:spPr>
          <a:xfrm>
            <a:off x="4407408" y="1527048"/>
            <a:ext cx="2057400" cy="749808"/>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CŒURS</a:t>
            </a:r>
            <a:endParaRPr lang="en-US" sz="2200" dirty="0"/>
          </a:p>
        </p:txBody>
      </p:sp>
      <p:sp>
        <p:nvSpPr>
          <p:cNvPr id="10" name="Shape 8"/>
          <p:cNvSpPr/>
          <p:nvPr/>
        </p:nvSpPr>
        <p:spPr>
          <a:xfrm>
            <a:off x="6565392" y="1901952"/>
            <a:ext cx="621792" cy="0"/>
          </a:xfrm>
          <a:prstGeom prst="line">
            <a:avLst/>
          </a:prstGeom>
          <a:noFill/>
          <a:ln w="33020">
            <a:solidFill>
              <a:srgbClr val="B5792A"/>
            </a:solidFill>
            <a:prstDash val="solid"/>
            <a:headEnd type="none"/>
            <a:tailEnd type="triangle"/>
          </a:ln>
        </p:spPr>
      </p:sp>
      <p:sp>
        <p:nvSpPr>
          <p:cNvPr id="11" name="Text 9"/>
          <p:cNvSpPr/>
          <p:nvPr/>
        </p:nvSpPr>
        <p:spPr>
          <a:xfrm>
            <a:off x="7333488" y="1527048"/>
            <a:ext cx="2057400" cy="749808"/>
          </a:xfrm>
          <a:prstGeom prst="rect">
            <a:avLst/>
          </a:prstGeom>
          <a:solidFill>
            <a:srgbClr val="F2E4CE"/>
          </a:solidFill>
          <a:ln>
            <a:solidFill>
              <a:srgbClr val="B5792A"/>
            </a:solidFill>
          </a:ln>
        </p:spPr>
        <p:txBody>
          <a:bodyPr wrap="square" lIns="381" tIns="381" rIns="381" bIns="381" rtlCol="0" anchor="ctr"/>
          <a:lstStyle/>
          <a:p>
            <a:pPr algn="ctr" indent="0" marL="0">
              <a:buNone/>
            </a:pPr>
            <a:r>
              <a:rPr lang="en-US" sz="2000" b="1" dirty="0">
                <a:solidFill>
                  <a:srgbClr val="222831"/>
                </a:solidFill>
                <a:latin typeface="Aptos" pitchFamily="34" charset="0"/>
                <a:ea typeface="Aptos" pitchFamily="34" charset="-122"/>
                <a:cs typeface="Aptos" pitchFamily="34" charset="-120"/>
              </a:rPr>
              <a:t>FILS MATÉRIELS</a:t>
            </a:r>
            <a:endParaRPr lang="en-US" sz="2000" dirty="0"/>
          </a:p>
        </p:txBody>
      </p:sp>
      <p:sp>
        <p:nvSpPr>
          <p:cNvPr id="12" name="Shape 10"/>
          <p:cNvSpPr/>
          <p:nvPr/>
        </p:nvSpPr>
        <p:spPr>
          <a:xfrm>
            <a:off x="9473184" y="1901952"/>
            <a:ext cx="621792" cy="0"/>
          </a:xfrm>
          <a:prstGeom prst="line">
            <a:avLst/>
          </a:prstGeom>
          <a:noFill/>
          <a:ln w="33020">
            <a:solidFill>
              <a:srgbClr val="B5792A"/>
            </a:solidFill>
            <a:prstDash val="solid"/>
            <a:headEnd type="none"/>
            <a:tailEnd type="triangle"/>
          </a:ln>
        </p:spPr>
      </p:sp>
      <p:sp>
        <p:nvSpPr>
          <p:cNvPr id="13" name="Text 11"/>
          <p:cNvSpPr/>
          <p:nvPr/>
        </p:nvSpPr>
        <p:spPr>
          <a:xfrm>
            <a:off x="10195560" y="1435608"/>
            <a:ext cx="1325880" cy="932688"/>
          </a:xfrm>
          <a:prstGeom prst="rect">
            <a:avLst/>
          </a:prstGeom>
          <a:solidFill>
            <a:srgbClr val="EEE9E1"/>
          </a:solidFill>
          <a:ln>
            <a:solidFill>
              <a:srgbClr val="CEC9BF"/>
            </a:solidFill>
          </a:ln>
        </p:spPr>
        <p:txBody>
          <a:bodyPr wrap="square" lIns="381" tIns="381" rIns="381" bIns="381" rtlCol="0" anchor="ctr"/>
          <a:lstStyle/>
          <a:p>
            <a:pPr algn="ctr" indent="0" marL="0">
              <a:buNone/>
            </a:pPr>
            <a:r>
              <a:rPr lang="en-US" sz="1600" b="1" dirty="0">
                <a:solidFill>
                  <a:srgbClr val="222831"/>
                </a:solidFill>
                <a:latin typeface="Aptos" pitchFamily="34" charset="0"/>
                <a:ea typeface="Aptos" pitchFamily="34" charset="-122"/>
                <a:cs typeface="Aptos" pitchFamily="34" charset="-120"/>
              </a:rPr>
              <a:t>PROCESSEURS</a:t>
            </a:r>
            <a:endParaRPr lang="en-US" sz="1600" dirty="0"/>
          </a:p>
          <a:p>
            <a:pPr algn="ctr" indent="0" marL="0">
              <a:buNone/>
            </a:pPr>
            <a:r>
              <a:rPr lang="en-US" sz="1600" b="1" dirty="0">
                <a:solidFill>
                  <a:srgbClr val="222831"/>
                </a:solidFill>
                <a:latin typeface="Aptos" pitchFamily="34" charset="0"/>
                <a:ea typeface="Aptos" pitchFamily="34" charset="-122"/>
                <a:cs typeface="Aptos" pitchFamily="34" charset="-120"/>
              </a:rPr>
              <a:t>LOGIQUES</a:t>
            </a:r>
            <a:endParaRPr lang="en-US" sz="1600" dirty="0"/>
          </a:p>
        </p:txBody>
      </p:sp>
      <p:sp>
        <p:nvSpPr>
          <p:cNvPr id="14" name="Text 12"/>
          <p:cNvSpPr/>
          <p:nvPr/>
        </p:nvSpPr>
        <p:spPr>
          <a:xfrm>
            <a:off x="822960" y="3017520"/>
            <a:ext cx="3108960" cy="137160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1900" b="1" dirty="0">
                <a:solidFill>
                  <a:srgbClr val="17324D"/>
                </a:solidFill>
                <a:latin typeface="Aptos" pitchFamily="34" charset="0"/>
                <a:ea typeface="Aptos" pitchFamily="34" charset="-122"/>
                <a:cs typeface="Aptos" pitchFamily="34" charset="-120"/>
              </a:rPr>
              <a:t>1 boîtier</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peut contenir plusieurs cœurs</a:t>
            </a:r>
            <a:endParaRPr lang="en-US" sz="1900" dirty="0"/>
          </a:p>
        </p:txBody>
      </p:sp>
      <p:sp>
        <p:nvSpPr>
          <p:cNvPr id="15" name="Text 13"/>
          <p:cNvSpPr/>
          <p:nvPr/>
        </p:nvSpPr>
        <p:spPr>
          <a:xfrm>
            <a:off x="4526280" y="3017520"/>
            <a:ext cx="3108960" cy="137160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1800" b="1" dirty="0">
                <a:solidFill>
                  <a:srgbClr val="2D6F6B"/>
                </a:solidFill>
                <a:latin typeface="Aptos" pitchFamily="34" charset="0"/>
                <a:ea typeface="Aptos" pitchFamily="34" charset="-122"/>
                <a:cs typeface="Aptos" pitchFamily="34" charset="-120"/>
              </a:rPr>
              <a:t>1 cœur</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peut exposer un ou plusieurs fils matériels</a:t>
            </a:r>
            <a:endParaRPr lang="en-US" sz="1800" dirty="0"/>
          </a:p>
        </p:txBody>
      </p:sp>
      <p:sp>
        <p:nvSpPr>
          <p:cNvPr id="16" name="Text 14"/>
          <p:cNvSpPr/>
          <p:nvPr/>
        </p:nvSpPr>
        <p:spPr>
          <a:xfrm>
            <a:off x="8229600" y="3017520"/>
            <a:ext cx="3108960" cy="137160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1700" b="1" dirty="0">
                <a:solidFill>
                  <a:srgbClr val="B5792A"/>
                </a:solidFill>
                <a:latin typeface="Aptos" pitchFamily="34" charset="0"/>
                <a:ea typeface="Aptos" pitchFamily="34" charset="-122"/>
                <a:cs typeface="Aptos" pitchFamily="34" charset="-120"/>
              </a:rPr>
              <a:t>Le système d’exploitation</a:t>
            </a:r>
            <a:endParaRPr lang="en-US" sz="1700" dirty="0"/>
          </a:p>
          <a:p>
            <a:pPr indent="0" marL="0">
              <a:buNone/>
            </a:pPr>
            <a:r>
              <a:rPr lang="en-US" sz="1700" dirty="0">
                <a:solidFill>
                  <a:srgbClr val="222831"/>
                </a:solidFill>
                <a:latin typeface="Aptos" pitchFamily="34" charset="0"/>
                <a:ea typeface="Aptos" pitchFamily="34" charset="-122"/>
                <a:cs typeface="Aptos" pitchFamily="34" charset="-120"/>
              </a:rPr>
              <a:t>présente ces contextes comme processeurs logiques</a:t>
            </a:r>
            <a:endParaRPr lang="en-US" sz="1700" dirty="0"/>
          </a:p>
        </p:txBody>
      </p:sp>
      <p:sp>
        <p:nvSpPr>
          <p:cNvPr id="17" name="Text 15"/>
          <p:cNvSpPr/>
          <p:nvPr/>
        </p:nvSpPr>
        <p:spPr>
          <a:xfrm>
            <a:off x="1965960" y="4983480"/>
            <a:ext cx="8229600" cy="457200"/>
          </a:xfrm>
          <a:prstGeom prst="rect">
            <a:avLst/>
          </a:prstGeom>
          <a:noFill/>
          <a:ln/>
        </p:spPr>
        <p:txBody>
          <a:bodyPr wrap="square" lIns="0" tIns="0" rIns="0" bIns="0" rtlCol="0" anchor="ctr"/>
          <a:lstStyle/>
          <a:p>
            <a:pPr algn="ctr" indent="0" marL="0">
              <a:buNone/>
            </a:pPr>
            <a:r>
              <a:rPr lang="en-US" sz="2100" b="1" dirty="0">
                <a:solidFill>
                  <a:srgbClr val="A54B3E"/>
                </a:solidFill>
                <a:latin typeface="Aptos" pitchFamily="34" charset="0"/>
                <a:ea typeface="Aptos" pitchFamily="34" charset="-122"/>
                <a:cs typeface="Aptos" pitchFamily="34" charset="-120"/>
              </a:rPr>
              <a:t>12 processeurs logiques ≠ 12 processeurs physiques.</a:t>
            </a:r>
            <a:endParaRPr lang="en-US" sz="2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OBSERVATION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PowerShell + Gestionnaire des tâches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63</a:t>
            </a:r>
            <a:endParaRPr lang="en-US" sz="820" dirty="0"/>
          </a:p>
        </p:txBody>
      </p:sp>
      <p:sp>
        <p:nvSpPr>
          <p:cNvPr id="7" name="Text 5"/>
          <p:cNvSpPr/>
          <p:nvPr/>
        </p:nvSpPr>
        <p:spPr>
          <a:xfrm>
            <a:off x="685800" y="1536192"/>
            <a:ext cx="7406640" cy="2240280"/>
          </a:xfrm>
          <a:prstGeom prst="rect">
            <a:avLst/>
          </a:prstGeom>
          <a:solidFill>
            <a:srgbClr val="101820"/>
          </a:solidFill>
          <a:ln w="10160">
            <a:solidFill>
              <a:srgbClr val="101820"/>
            </a:solidFill>
          </a:ln>
        </p:spPr>
        <p:txBody>
          <a:bodyPr wrap="square" lIns="2286" tIns="2286" rIns="2286" bIns="2286" rtlCol="0" anchor="ctr"/>
          <a:lstStyle/>
          <a:p>
            <a:pPr indent="0" marL="0">
              <a:buNone/>
            </a:pPr>
            <a:r>
              <a:rPr lang="en-US" sz="1800" dirty="0">
                <a:solidFill>
                  <a:srgbClr val="FFFFFF"/>
                </a:solidFill>
                <a:latin typeface="Aptos Mono" pitchFamily="34" charset="0"/>
                <a:ea typeface="Aptos Mono" pitchFamily="34" charset="-122"/>
                <a:cs typeface="Aptos Mono" pitchFamily="34" charset="-120"/>
              </a:rPr>
              <a:t>Get-CimInstance Win32_Processor |</a:t>
            </a:r>
            <a:endParaRPr lang="en-US" sz="1800" dirty="0"/>
          </a:p>
          <a:p>
            <a:pPr indent="0" marL="0">
              <a:buNone/>
            </a:pPr>
            <a:r>
              <a:rPr lang="en-US" sz="1800" dirty="0">
                <a:solidFill>
                  <a:srgbClr val="FFFFFF"/>
                </a:solidFill>
                <a:latin typeface="Aptos Mono" pitchFamily="34" charset="0"/>
                <a:ea typeface="Aptos Mono" pitchFamily="34" charset="-122"/>
                <a:cs typeface="Aptos Mono" pitchFamily="34" charset="-120"/>
              </a:rPr>
              <a:t>  Select-Object Name, Manufacturer, NumberOfCores,</a:t>
            </a:r>
            <a:endParaRPr lang="en-US" sz="1800" dirty="0"/>
          </a:p>
          <a:p>
            <a:pPr indent="0" marL="0">
              <a:buNone/>
            </a:pPr>
            <a:r>
              <a:rPr lang="en-US" sz="1800" dirty="0">
                <a:solidFill>
                  <a:srgbClr val="FFFFFF"/>
                </a:solidFill>
                <a:latin typeface="Aptos Mono" pitchFamily="34" charset="0"/>
                <a:ea typeface="Aptos Mono" pitchFamily="34" charset="-122"/>
                <a:cs typeface="Aptos Mono" pitchFamily="34" charset="-120"/>
              </a:rPr>
              <a:t>                NumberOfLogicalProcessors, MaxClockSpeed,</a:t>
            </a:r>
            <a:endParaRPr lang="en-US" sz="1800" dirty="0"/>
          </a:p>
          <a:p>
            <a:pPr indent="0" marL="0">
              <a:buNone/>
            </a:pPr>
            <a:r>
              <a:rPr lang="en-US" sz="1800" dirty="0">
                <a:solidFill>
                  <a:srgbClr val="FFFFFF"/>
                </a:solidFill>
                <a:latin typeface="Aptos Mono" pitchFamily="34" charset="0"/>
                <a:ea typeface="Aptos Mono" pitchFamily="34" charset="-122"/>
                <a:cs typeface="Aptos Mono" pitchFamily="34" charset="-120"/>
              </a:rPr>
              <a:t>                L2CacheSize, L3CacheSize</a:t>
            </a:r>
            <a:endParaRPr lang="en-US" sz="1800" dirty="0"/>
          </a:p>
        </p:txBody>
      </p:sp>
      <p:sp>
        <p:nvSpPr>
          <p:cNvPr id="8" name="Text 6"/>
          <p:cNvSpPr/>
          <p:nvPr/>
        </p:nvSpPr>
        <p:spPr>
          <a:xfrm>
            <a:off x="8412480" y="1536192"/>
            <a:ext cx="2971800" cy="224028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2000" b="1" dirty="0">
                <a:solidFill>
                  <a:srgbClr val="17324D"/>
                </a:solidFill>
                <a:latin typeface="Aptos" pitchFamily="34" charset="0"/>
                <a:ea typeface="Aptos" pitchFamily="34" charset="-122"/>
                <a:cs typeface="Aptos" pitchFamily="34" charset="-120"/>
              </a:rPr>
              <a:t>VÉRIFICATION VISUELLE</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Gestionnaire des tâches</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 Performance</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 Processeur</a:t>
            </a:r>
            <a:endParaRPr lang="en-US" sz="2000" dirty="0"/>
          </a:p>
        </p:txBody>
      </p:sp>
      <p:sp>
        <p:nvSpPr>
          <p:cNvPr id="9" name="Text 7"/>
          <p:cNvSpPr/>
          <p:nvPr/>
        </p:nvSpPr>
        <p:spPr>
          <a:xfrm>
            <a:off x="1097280" y="3877056"/>
            <a:ext cx="9966960" cy="310896"/>
          </a:xfrm>
          <a:prstGeom prst="rect">
            <a:avLst/>
          </a:prstGeom>
          <a:noFill/>
          <a:ln/>
        </p:spPr>
        <p:txBody>
          <a:bodyPr wrap="square" lIns="0" tIns="0" rIns="0" bIns="0" rtlCol="0" anchor="ctr"/>
          <a:lstStyle/>
          <a:p>
            <a:pPr algn="ctr" indent="0" marL="0">
              <a:buNone/>
            </a:pPr>
            <a:r>
              <a:rPr lang="en-US" sz="1450" dirty="0">
                <a:solidFill>
                  <a:srgbClr val="6B7178"/>
                </a:solidFill>
                <a:latin typeface="Aptos" pitchFamily="34" charset="0"/>
                <a:ea typeface="Aptos" pitchFamily="34" charset="-122"/>
                <a:cs typeface="Aptos" pitchFamily="34" charset="-120"/>
              </a:rPr>
              <a:t>Win32_Processor : MaxClockSpeed en MHz • caches L2/L3 en Ko — valeurs rapportées par WMI/SMBIOS.</a:t>
            </a:r>
            <a:endParaRPr lang="en-US" sz="1450" dirty="0"/>
          </a:p>
        </p:txBody>
      </p:sp>
      <p:sp>
        <p:nvSpPr>
          <p:cNvPr id="10" name="Text 8"/>
          <p:cNvSpPr/>
          <p:nvPr/>
        </p:nvSpPr>
        <p:spPr>
          <a:xfrm>
            <a:off x="1097280" y="4315968"/>
            <a:ext cx="9966960" cy="694944"/>
          </a:xfrm>
          <a:prstGeom prst="rect">
            <a:avLst/>
          </a:prstGeom>
          <a:solidFill>
            <a:srgbClr val="F2E4CE"/>
          </a:solidFill>
          <a:ln>
            <a:solidFill>
              <a:srgbClr val="B5792A"/>
            </a:solidFill>
          </a:ln>
        </p:spPr>
        <p:txBody>
          <a:bodyPr wrap="square" lIns="1524" tIns="1524" rIns="1524" bIns="1524" rtlCol="0" anchor="ctr"/>
          <a:lstStyle/>
          <a:p>
            <a:pPr algn="ctr" indent="0" marL="0">
              <a:buNone/>
            </a:pPr>
            <a:r>
              <a:rPr lang="en-US" sz="2200" b="1" dirty="0">
                <a:solidFill>
                  <a:srgbClr val="B5792A"/>
                </a:solidFill>
                <a:latin typeface="Aptos" pitchFamily="34" charset="0"/>
                <a:ea typeface="Aptos" pitchFamily="34" charset="-122"/>
                <a:cs typeface="Aptos" pitchFamily="34" charset="-120"/>
              </a:rPr>
              <a:t>Une valeur absente est une observation — pas une invitation à l’inventer.</a:t>
            </a:r>
            <a:endParaRPr lang="en-US" sz="2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LABORATOIRE 5</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Observer le processeur du poste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64</a:t>
            </a:r>
            <a:endParaRPr lang="en-US" sz="820" dirty="0"/>
          </a:p>
        </p:txBody>
      </p:sp>
      <p:sp>
        <p:nvSpPr>
          <p:cNvPr id="7" name="Text 5"/>
          <p:cNvSpPr/>
          <p:nvPr/>
        </p:nvSpPr>
        <p:spPr>
          <a:xfrm>
            <a:off x="868680" y="1572768"/>
            <a:ext cx="1463040" cy="320040"/>
          </a:xfrm>
          <a:prstGeom prst="rect">
            <a:avLst/>
          </a:prstGeom>
          <a:noFill/>
          <a:ln/>
        </p:spPr>
        <p:txBody>
          <a:bodyPr wrap="square" lIns="0" tIns="0" rIns="0" bIns="0" rtlCol="0" anchor="ctr"/>
          <a:lstStyle/>
          <a:p>
            <a:pPr indent="0" marL="0">
              <a:buNone/>
            </a:pPr>
            <a:r>
              <a:rPr lang="en-US" sz="1200" b="1" spc="100" kern="0" dirty="0">
                <a:solidFill>
                  <a:srgbClr val="B5792A"/>
                </a:solidFill>
                <a:latin typeface="Aptos" pitchFamily="34" charset="0"/>
                <a:ea typeface="Aptos" pitchFamily="34" charset="-122"/>
                <a:cs typeface="Aptos" pitchFamily="34" charset="-120"/>
              </a:rPr>
              <a:t>NOTEZ</a:t>
            </a:r>
            <a:endParaRPr lang="en-US" sz="1200" dirty="0"/>
          </a:p>
        </p:txBody>
      </p:sp>
      <p:sp>
        <p:nvSpPr>
          <p:cNvPr id="8" name="Text 6"/>
          <p:cNvSpPr/>
          <p:nvPr/>
        </p:nvSpPr>
        <p:spPr>
          <a:xfrm>
            <a:off x="868680" y="1965960"/>
            <a:ext cx="5120640" cy="2971800"/>
          </a:xfrm>
          <a:prstGeom prst="rect">
            <a:avLst/>
          </a:prstGeom>
          <a:noFill/>
          <a:ln/>
        </p:spPr>
        <p:txBody>
          <a:bodyPr wrap="square" lIns="254" tIns="254" rIns="254" bIns="254" rtlCol="0" anchor="t"/>
          <a:lstStyle/>
          <a:p>
            <a:pPr marL="203200" indent="-203200">
              <a:buSzPct val="100000"/>
              <a:buChar char="•"/>
            </a:pPr>
            <a:r>
              <a:rPr lang="en-US" sz="2100" dirty="0">
                <a:solidFill>
                  <a:srgbClr val="222831"/>
                </a:solidFill>
                <a:latin typeface="Aptos" pitchFamily="34" charset="0"/>
                <a:ea typeface="Aptos" pitchFamily="34" charset="-122"/>
                <a:cs typeface="Aptos" pitchFamily="34" charset="-120"/>
              </a:rPr>
              <a:t>modèle</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fabricant</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nombre de cœurs</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nombre de processeurs logiques</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vitesse maximale rapportée (MHz)</a:t>
            </a:r>
            <a:endParaRPr lang="en-US" sz="2100" dirty="0"/>
          </a:p>
          <a:p>
            <a:pPr marL="203200" indent="-203200">
              <a:buSzPct val="100000"/>
              <a:buChar char="•"/>
            </a:pPr>
            <a:r>
              <a:rPr lang="en-US" sz="2100" dirty="0">
                <a:solidFill>
                  <a:srgbClr val="222831"/>
                </a:solidFill>
                <a:latin typeface="Aptos" pitchFamily="34" charset="0"/>
                <a:ea typeface="Aptos" pitchFamily="34" charset="-122"/>
                <a:cs typeface="Aptos" pitchFamily="34" charset="-120"/>
              </a:rPr>
              <a:t>cache L2 / L3 rapporté (Ko)</a:t>
            </a:r>
            <a:endParaRPr lang="en-US" sz="2100" dirty="0"/>
          </a:p>
        </p:txBody>
      </p:sp>
      <p:sp>
        <p:nvSpPr>
          <p:cNvPr id="9" name="Text 7"/>
          <p:cNvSpPr/>
          <p:nvPr/>
        </p:nvSpPr>
        <p:spPr>
          <a:xfrm>
            <a:off x="6355080" y="1691640"/>
            <a:ext cx="4800600" cy="301752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900" b="1" dirty="0">
                <a:solidFill>
                  <a:srgbClr val="17324D"/>
                </a:solidFill>
                <a:latin typeface="Aptos" pitchFamily="34" charset="0"/>
                <a:ea typeface="Aptos" pitchFamily="34" charset="-122"/>
                <a:cs typeface="Aptos" pitchFamily="34" charset="-120"/>
              </a:rPr>
              <a:t>PUIS INTERPRÉTEZ</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Un boîtier peut-il contenir plusieurs cœurs?</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Le nombre de processeurs logiques est-il toujours égal aux cœurs?</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Deux fils garantissent-ils ×2?</a:t>
            </a:r>
            <a:endParaRPr lang="en-US" sz="1900" dirty="0"/>
          </a:p>
        </p:txBody>
      </p:sp>
      <p:sp>
        <p:nvSpPr>
          <p:cNvPr id="10" name="Text 8"/>
          <p:cNvSpPr/>
          <p:nvPr/>
        </p:nvSpPr>
        <p:spPr>
          <a:xfrm>
            <a:off x="3246120" y="5193792"/>
            <a:ext cx="5715000" cy="384048"/>
          </a:xfrm>
          <a:prstGeom prst="rect">
            <a:avLst/>
          </a:prstGeom>
          <a:noFill/>
          <a:ln/>
        </p:spPr>
        <p:txBody>
          <a:bodyPr wrap="square" lIns="0" tIns="0" rIns="0" bIns="0" rtlCol="0" anchor="ctr"/>
          <a:lstStyle/>
          <a:p>
            <a:pPr algn="ctr" indent="0" marL="0">
              <a:buNone/>
            </a:pPr>
            <a:r>
              <a:rPr lang="en-US" sz="1900" b="1" dirty="0">
                <a:solidFill>
                  <a:srgbClr val="B5792A"/>
                </a:solidFill>
                <a:latin typeface="Aptos" pitchFamily="34" charset="0"/>
                <a:ea typeface="Aptos" pitchFamily="34" charset="-122"/>
                <a:cs typeface="Aptos" pitchFamily="34" charset="-120"/>
              </a:rPr>
              <a:t>Laboratoire 5 → étape 4</a:t>
            </a:r>
            <a:endParaRPr lang="en-US" sz="1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MISE EN COMMUN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Qu’avez-vous réellement observé?</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65</a:t>
            </a:r>
            <a:endParaRPr lang="en-US" sz="82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1005840" y="1572768"/>
          <a:ext cx="10104120" cy="3337560"/>
        </p:xfrm>
        <a:graphic>
          <a:graphicData uri="http://schemas.openxmlformats.org/drawingml/2006/table">
            <a:tbl>
              <a:tblPr/>
              <a:tblGrid>
                <a:gridCol w="3840480"/>
                <a:gridCol w="3108960"/>
                <a:gridCol w="3154680"/>
              </a:tblGrid>
              <a:tr h="530352">
                <a:tc>
                  <a:txBody>
                    <a:bodyPr/>
                    <a:lstStyle/>
                    <a:p>
                      <a:pPr indent="0" marL="0">
                        <a:buNone/>
                      </a:pPr>
                      <a:r>
                        <a:rPr lang="en-US" sz="1700" b="1" dirty="0">
                          <a:solidFill>
                            <a:srgbClr val="222831"/>
                          </a:solidFill>
                          <a:latin typeface="Aptos" pitchFamily="34" charset="0"/>
                          <a:ea typeface="Aptos" pitchFamily="34" charset="-122"/>
                          <a:cs typeface="Aptos" pitchFamily="34" charset="-120"/>
                        </a:rPr>
                        <a:t>Caractéristique</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b="1" dirty="0">
                          <a:solidFill>
                            <a:srgbClr val="222831"/>
                          </a:solidFill>
                          <a:latin typeface="Aptos" pitchFamily="34" charset="0"/>
                          <a:ea typeface="Aptos" pitchFamily="34" charset="-122"/>
                          <a:cs typeface="Aptos" pitchFamily="34" charset="-120"/>
                        </a:rPr>
                        <a:t>Poste / équipe A</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b="1" dirty="0">
                          <a:solidFill>
                            <a:srgbClr val="222831"/>
                          </a:solidFill>
                          <a:latin typeface="Aptos" pitchFamily="34" charset="0"/>
                          <a:ea typeface="Aptos" pitchFamily="34" charset="-122"/>
                          <a:cs typeface="Aptos" pitchFamily="34" charset="-120"/>
                        </a:rPr>
                        <a:t>Poste / équipe B</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222831"/>
                          </a:solidFill>
                          <a:latin typeface="Aptos" pitchFamily="34" charset="0"/>
                          <a:ea typeface="Aptos" pitchFamily="34" charset="-122"/>
                          <a:cs typeface="Aptos" pitchFamily="34" charset="-120"/>
                        </a:rPr>
                        <a:t>Modèle</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222831"/>
                          </a:solidFill>
                          <a:latin typeface="Aptos" pitchFamily="34" charset="0"/>
                          <a:ea typeface="Aptos" pitchFamily="34" charset="-122"/>
                          <a:cs typeface="Aptos" pitchFamily="34" charset="-120"/>
                        </a:rPr>
                        <a:t>Cœurs</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222831"/>
                          </a:solidFill>
                          <a:latin typeface="Aptos" pitchFamily="34" charset="0"/>
                          <a:ea typeface="Aptos" pitchFamily="34" charset="-122"/>
                          <a:cs typeface="Aptos" pitchFamily="34" charset="-120"/>
                        </a:rPr>
                        <a:t>Processeurs logiques</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222831"/>
                          </a:solidFill>
                          <a:latin typeface="Aptos" pitchFamily="34" charset="0"/>
                          <a:ea typeface="Aptos" pitchFamily="34" charset="-122"/>
                          <a:cs typeface="Aptos" pitchFamily="34" charset="-120"/>
                        </a:rPr>
                        <a:t>MaxClockSpeed (MHz)</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222831"/>
                          </a:solidFill>
                          <a:latin typeface="Aptos" pitchFamily="34" charset="0"/>
                          <a:ea typeface="Aptos" pitchFamily="34" charset="-122"/>
                          <a:cs typeface="Aptos" pitchFamily="34" charset="-120"/>
                        </a:rPr>
                        <a:t>Cache L2 / L3 (Ko)</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700" dirty="0">
                          <a:solidFill>
                            <a:srgbClr val="222831"/>
                          </a:solidFill>
                          <a:latin typeface="Aptos" pitchFamily="34" charset="0"/>
                          <a:ea typeface="Aptos" pitchFamily="34" charset="-122"/>
                          <a:cs typeface="Aptos" pitchFamily="34" charset="-120"/>
                        </a:rPr>
                        <a:t>…</a:t>
                      </a:r>
                      <a:endParaRPr lang="en-US" sz="1700" dirty="0">
                        <a:latin typeface="Aptos" charset="0"/>
                        <a:ea typeface="Aptos" charset="0"/>
                        <a:cs typeface="Aptos" charset="0"/>
                      </a:endParaRPr>
                    </a:p>
                  </a:txBody>
                  <a:tcPr marL="91440" marR="91440" marT="91440" marB="91440">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bl>
          </a:graphicData>
        </a:graphic>
      </p:graphicFrame>
      <p:sp>
        <p:nvSpPr>
          <p:cNvPr id="8" name="Text 5"/>
          <p:cNvSpPr/>
          <p:nvPr/>
        </p:nvSpPr>
        <p:spPr>
          <a:xfrm>
            <a:off x="914400" y="5138928"/>
            <a:ext cx="10241280" cy="502920"/>
          </a:xfrm>
          <a:prstGeom prst="rect">
            <a:avLst/>
          </a:prstGeom>
          <a:noFill/>
          <a:ln/>
        </p:spPr>
        <p:txBody>
          <a:bodyPr wrap="square" lIns="0" tIns="0" rIns="0" bIns="0" rtlCol="0" anchor="ctr"/>
          <a:lstStyle/>
          <a:p>
            <a:pPr algn="ctr" indent="0" marL="0">
              <a:buNone/>
            </a:pPr>
            <a:r>
              <a:rPr lang="en-US" sz="1800" b="1" dirty="0">
                <a:solidFill>
                  <a:srgbClr val="2D6F6B"/>
                </a:solidFill>
                <a:latin typeface="Aptos" pitchFamily="34" charset="0"/>
                <a:ea typeface="Aptos" pitchFamily="34" charset="-122"/>
                <a:cs typeface="Aptos" pitchFamily="34" charset="-120"/>
              </a:rPr>
              <a:t>Observation : « Windows rapporte 8 cœurs. »  ≠  Interprétation : « ce CPU sera deux fois plus rapide. »</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CŒURS ET FILS</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Plus n’est pas automatiquement ×2</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66</a:t>
            </a:r>
            <a:endParaRPr lang="en-US" sz="820" dirty="0"/>
          </a:p>
        </p:txBody>
      </p:sp>
      <p:sp>
        <p:nvSpPr>
          <p:cNvPr id="7" name="Text 5"/>
          <p:cNvSpPr/>
          <p:nvPr/>
        </p:nvSpPr>
        <p:spPr>
          <a:xfrm>
            <a:off x="914400" y="1828800"/>
            <a:ext cx="2743200" cy="2331720"/>
          </a:xfrm>
          <a:prstGeom prst="rect">
            <a:avLst/>
          </a:prstGeom>
          <a:solidFill>
            <a:srgbClr val="17324D"/>
          </a:solidFill>
          <a:ln>
            <a:solidFill>
              <a:srgbClr val="17324D"/>
            </a:solidFill>
          </a:ln>
        </p:spPr>
        <p:txBody>
          <a:bodyPr wrap="square" lIns="1905" tIns="1905" rIns="1905" bIns="1905" rtlCol="0" anchor="t"/>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1 CŒUR</a:t>
            </a:r>
            <a:endParaRPr lang="en-US" sz="3000" dirty="0"/>
          </a:p>
        </p:txBody>
      </p:sp>
      <p:sp>
        <p:nvSpPr>
          <p:cNvPr id="8" name="Text 6"/>
          <p:cNvSpPr/>
          <p:nvPr/>
        </p:nvSpPr>
        <p:spPr>
          <a:xfrm>
            <a:off x="1280160" y="2834640"/>
            <a:ext cx="868680" cy="621792"/>
          </a:xfrm>
          <a:prstGeom prst="rect">
            <a:avLst/>
          </a:prstGeom>
          <a:solidFill>
            <a:srgbClr val="DCECE9"/>
          </a:solidFill>
          <a:ln>
            <a:solidFill>
              <a:srgbClr val="2D6F6B"/>
            </a:solidFill>
          </a:ln>
        </p:spPr>
        <p:txBody>
          <a:bodyPr wrap="square" lIns="0" tIns="0" rIns="0" bIns="0" rtlCol="0" anchor="ctr"/>
          <a:lstStyle/>
          <a:p>
            <a:pPr algn="ctr" indent="0" marL="0">
              <a:buNone/>
            </a:pPr>
            <a:r>
              <a:rPr lang="en-US" sz="1700" b="1" dirty="0">
                <a:solidFill>
                  <a:srgbClr val="222831"/>
                </a:solidFill>
                <a:latin typeface="Aptos" pitchFamily="34" charset="0"/>
                <a:ea typeface="Aptos" pitchFamily="34" charset="-122"/>
                <a:cs typeface="Aptos" pitchFamily="34" charset="-120"/>
              </a:rPr>
              <a:t>FIL 1</a:t>
            </a:r>
            <a:endParaRPr lang="en-US" sz="1700" dirty="0"/>
          </a:p>
        </p:txBody>
      </p:sp>
      <p:sp>
        <p:nvSpPr>
          <p:cNvPr id="9" name="Text 7"/>
          <p:cNvSpPr/>
          <p:nvPr/>
        </p:nvSpPr>
        <p:spPr>
          <a:xfrm>
            <a:off x="2423160" y="2834640"/>
            <a:ext cx="868680" cy="621792"/>
          </a:xfrm>
          <a:prstGeom prst="rect">
            <a:avLst/>
          </a:prstGeom>
          <a:solidFill>
            <a:srgbClr val="F2E4CE"/>
          </a:solidFill>
          <a:ln>
            <a:solidFill>
              <a:srgbClr val="B5792A"/>
            </a:solidFill>
          </a:ln>
        </p:spPr>
        <p:txBody>
          <a:bodyPr wrap="square" lIns="0" tIns="0" rIns="0" bIns="0" rtlCol="0" anchor="ctr"/>
          <a:lstStyle/>
          <a:p>
            <a:pPr algn="ctr" indent="0" marL="0">
              <a:buNone/>
            </a:pPr>
            <a:r>
              <a:rPr lang="en-US" sz="1700" b="1" dirty="0">
                <a:solidFill>
                  <a:srgbClr val="222831"/>
                </a:solidFill>
                <a:latin typeface="Aptos" pitchFamily="34" charset="0"/>
                <a:ea typeface="Aptos" pitchFamily="34" charset="-122"/>
                <a:cs typeface="Aptos" pitchFamily="34" charset="-120"/>
              </a:rPr>
              <a:t>FIL 2</a:t>
            </a:r>
            <a:endParaRPr lang="en-US" sz="1700" dirty="0"/>
          </a:p>
        </p:txBody>
      </p:sp>
      <p:sp>
        <p:nvSpPr>
          <p:cNvPr id="10" name="Shape 8"/>
          <p:cNvSpPr/>
          <p:nvPr/>
        </p:nvSpPr>
        <p:spPr>
          <a:xfrm>
            <a:off x="3931920" y="2971800"/>
            <a:ext cx="914400" cy="0"/>
          </a:xfrm>
          <a:prstGeom prst="line">
            <a:avLst/>
          </a:prstGeom>
          <a:noFill/>
          <a:ln w="38100">
            <a:solidFill>
              <a:srgbClr val="B5792A"/>
            </a:solidFill>
            <a:prstDash val="solid"/>
            <a:headEnd type="none"/>
            <a:tailEnd type="triangle"/>
          </a:ln>
        </p:spPr>
      </p:sp>
      <p:sp>
        <p:nvSpPr>
          <p:cNvPr id="11" name="Text 9"/>
          <p:cNvSpPr/>
          <p:nvPr/>
        </p:nvSpPr>
        <p:spPr>
          <a:xfrm>
            <a:off x="5120640" y="1737360"/>
            <a:ext cx="5303520" cy="141732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2100" b="1" dirty="0">
                <a:solidFill>
                  <a:srgbClr val="17324D"/>
                </a:solidFill>
                <a:latin typeface="Aptos" pitchFamily="34" charset="0"/>
                <a:ea typeface="Aptos" pitchFamily="34" charset="-122"/>
                <a:cs typeface="Aptos" pitchFamily="34" charset="-120"/>
              </a:rPr>
              <a:t>RESSOURCES PARTAGÉES</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Les fils d’un même cœur partagent certaines ressources d’exécution.</a:t>
            </a:r>
            <a:endParaRPr lang="en-US" sz="2100" dirty="0"/>
          </a:p>
        </p:txBody>
      </p:sp>
      <p:sp>
        <p:nvSpPr>
          <p:cNvPr id="12" name="Text 10"/>
          <p:cNvSpPr/>
          <p:nvPr/>
        </p:nvSpPr>
        <p:spPr>
          <a:xfrm>
            <a:off x="5120640" y="3429000"/>
            <a:ext cx="5303520" cy="141732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100" b="1" dirty="0">
                <a:solidFill>
                  <a:srgbClr val="2D6F6B"/>
                </a:solidFill>
                <a:latin typeface="Aptos" pitchFamily="34" charset="0"/>
                <a:ea typeface="Aptos" pitchFamily="34" charset="-122"/>
                <a:cs typeface="Aptos" pitchFamily="34" charset="-120"/>
              </a:rPr>
              <a:t>GAIN RÉEL</a:t>
            </a:r>
            <a:endParaRPr lang="en-US" sz="2100" dirty="0"/>
          </a:p>
          <a:p>
            <a:pPr indent="0" marL="0">
              <a:buNone/>
            </a:pPr>
            <a:r>
              <a:rPr lang="en-US" sz="2100" dirty="0">
                <a:solidFill>
                  <a:srgbClr val="222831"/>
                </a:solidFill>
                <a:latin typeface="Aptos" pitchFamily="34" charset="0"/>
                <a:ea typeface="Aptos" pitchFamily="34" charset="-122"/>
                <a:cs typeface="Aptos" pitchFamily="34" charset="-120"/>
              </a:rPr>
              <a:t>Dépend du logiciel, du type de travail et de la ressource qui limite l’exécution.</a:t>
            </a:r>
            <a:endParaRPr lang="en-US" sz="2100" dirty="0"/>
          </a:p>
        </p:txBody>
      </p:sp>
      <p:sp>
        <p:nvSpPr>
          <p:cNvPr id="13" name="Text 11"/>
          <p:cNvSpPr/>
          <p:nvPr/>
        </p:nvSpPr>
        <p:spPr>
          <a:xfrm>
            <a:off x="2103120" y="5166360"/>
            <a:ext cx="8001000" cy="402336"/>
          </a:xfrm>
          <a:prstGeom prst="rect">
            <a:avLst/>
          </a:prstGeom>
          <a:noFill/>
          <a:ln/>
        </p:spPr>
        <p:txBody>
          <a:bodyPr wrap="square" lIns="0" tIns="0" rIns="0" bIns="0" rtlCol="0" anchor="ctr"/>
          <a:lstStyle/>
          <a:p>
            <a:pPr algn="ctr" indent="0" marL="0">
              <a:buNone/>
            </a:pPr>
            <a:r>
              <a:rPr lang="en-US" sz="2000" b="1" dirty="0">
                <a:solidFill>
                  <a:srgbClr val="A54B3E"/>
                </a:solidFill>
                <a:latin typeface="Aptos" pitchFamily="34" charset="0"/>
                <a:ea typeface="Aptos" pitchFamily="34" charset="-122"/>
                <a:cs typeface="Aptos" pitchFamily="34" charset="-120"/>
              </a:rPr>
              <a:t>Deux fils ≠ deux cœurs ≠ deux fois la performance.</a:t>
            </a:r>
            <a:endParaRPr 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FRÉQUENCE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Cycles par seconde, pas « instructions par seconde »</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67</a:t>
            </a:r>
            <a:endParaRPr lang="en-US" sz="820" dirty="0"/>
          </a:p>
        </p:txBody>
      </p:sp>
      <p:sp>
        <p:nvSpPr>
          <p:cNvPr id="7" name="Text 5"/>
          <p:cNvSpPr/>
          <p:nvPr/>
        </p:nvSpPr>
        <p:spPr>
          <a:xfrm>
            <a:off x="868680" y="1664208"/>
            <a:ext cx="2743200" cy="114300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4400" b="1" dirty="0">
                <a:solidFill>
                  <a:srgbClr val="FFFFFF"/>
                </a:solidFill>
                <a:latin typeface="Aptos Display" pitchFamily="34" charset="0"/>
                <a:ea typeface="Aptos Display" pitchFamily="34" charset="-122"/>
                <a:cs typeface="Aptos Display" pitchFamily="34" charset="-120"/>
              </a:rPr>
              <a:t>1 GHz</a:t>
            </a:r>
            <a:endParaRPr lang="en-US" sz="4400" dirty="0"/>
          </a:p>
        </p:txBody>
      </p:sp>
      <p:sp>
        <p:nvSpPr>
          <p:cNvPr id="8" name="Text 6"/>
          <p:cNvSpPr/>
          <p:nvPr/>
        </p:nvSpPr>
        <p:spPr>
          <a:xfrm>
            <a:off x="3977640" y="1828800"/>
            <a:ext cx="5303520" cy="777240"/>
          </a:xfrm>
          <a:prstGeom prst="rect">
            <a:avLst/>
          </a:prstGeom>
          <a:noFill/>
          <a:ln/>
        </p:spPr>
        <p:txBody>
          <a:bodyPr wrap="square" lIns="0" tIns="0" rIns="0" bIns="0" rtlCol="0" anchor="ctr"/>
          <a:lstStyle/>
          <a:p>
            <a:pPr indent="0" marL="0">
              <a:buNone/>
            </a:pPr>
            <a:r>
              <a:rPr lang="en-US" sz="2500" b="1" dirty="0">
                <a:solidFill>
                  <a:srgbClr val="17324D"/>
                </a:solidFill>
                <a:latin typeface="Aptos" pitchFamily="34" charset="0"/>
                <a:ea typeface="Aptos" pitchFamily="34" charset="-122"/>
                <a:cs typeface="Aptos" pitchFamily="34" charset="-120"/>
              </a:rPr>
              <a:t>= 1 milliard de cycles / seconde</a:t>
            </a:r>
            <a:endParaRPr lang="en-US" sz="2500" dirty="0"/>
          </a:p>
        </p:txBody>
      </p:sp>
      <p:sp>
        <p:nvSpPr>
          <p:cNvPr id="9" name="Text 7"/>
          <p:cNvSpPr/>
          <p:nvPr/>
        </p:nvSpPr>
        <p:spPr>
          <a:xfrm>
            <a:off x="960120" y="3246120"/>
            <a:ext cx="4800600" cy="146304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1900" b="1" dirty="0">
                <a:solidFill>
                  <a:srgbClr val="B5792A"/>
                </a:solidFill>
                <a:latin typeface="Aptos" pitchFamily="34" charset="0"/>
                <a:ea typeface="Aptos" pitchFamily="34" charset="-122"/>
                <a:cs typeface="Aptos" pitchFamily="34" charset="-120"/>
              </a:rPr>
              <a:t>UN CYCLE ≠ UNE INSTRUCTION</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Une instruction peut prendre plusieurs cycles, chevaucher d’autres opérations ou attendre des données.</a:t>
            </a:r>
            <a:endParaRPr lang="en-US" sz="1900" dirty="0"/>
          </a:p>
        </p:txBody>
      </p:sp>
      <p:sp>
        <p:nvSpPr>
          <p:cNvPr id="10" name="Text 8"/>
          <p:cNvSpPr/>
          <p:nvPr/>
        </p:nvSpPr>
        <p:spPr>
          <a:xfrm>
            <a:off x="6309360" y="3246120"/>
            <a:ext cx="4800600" cy="1463040"/>
          </a:xfrm>
          <a:prstGeom prst="rect">
            <a:avLst/>
          </a:prstGeom>
          <a:solidFill>
            <a:srgbClr val="F4E1DE"/>
          </a:solidFill>
          <a:ln w="10160">
            <a:solidFill>
              <a:srgbClr val="CEC9BF"/>
            </a:solidFill>
          </a:ln>
        </p:spPr>
        <p:txBody>
          <a:bodyPr wrap="square" lIns="2032" tIns="2032" rIns="2032" bIns="2032" rtlCol="0" anchor="ctr"/>
          <a:lstStyle/>
          <a:p>
            <a:pPr indent="0" marL="0">
              <a:buNone/>
            </a:pPr>
            <a:r>
              <a:rPr lang="en-US" sz="2000" b="1" dirty="0">
                <a:solidFill>
                  <a:srgbClr val="A54B3E"/>
                </a:solidFill>
                <a:latin typeface="Aptos" pitchFamily="34" charset="0"/>
                <a:ea typeface="Aptos" pitchFamily="34" charset="-122"/>
                <a:cs typeface="Aptos" pitchFamily="34" charset="-120"/>
              </a:rPr>
              <a:t>8 CŒURS × 4 GHz ≠ 32 GHz</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Les fréquences des cœurs ne s’additionnent pas de cette manière.</a:t>
            </a:r>
            <a:endParaRPr lang="en-US" sz="2000" dirty="0"/>
          </a:p>
        </p:txBody>
      </p:sp>
      <p:sp>
        <p:nvSpPr>
          <p:cNvPr id="11" name="Text 9"/>
          <p:cNvSpPr/>
          <p:nvPr/>
        </p:nvSpPr>
        <p:spPr>
          <a:xfrm>
            <a:off x="1143000" y="5074920"/>
            <a:ext cx="9921240" cy="411480"/>
          </a:xfrm>
          <a:prstGeom prst="rect">
            <a:avLst/>
          </a:prstGeom>
          <a:noFill/>
          <a:ln/>
        </p:spPr>
        <p:txBody>
          <a:bodyPr wrap="square" lIns="0" tIns="0" rIns="0" bIns="0" rtlCol="0" anchor="ctr"/>
          <a:lstStyle/>
          <a:p>
            <a:pPr algn="ctr" indent="0" marL="0">
              <a:buNone/>
            </a:pPr>
            <a:r>
              <a:rPr lang="en-US" sz="1700" i="1" dirty="0">
                <a:solidFill>
                  <a:srgbClr val="6B7178"/>
                </a:solidFill>
                <a:latin typeface="Aptos" pitchFamily="34" charset="0"/>
                <a:ea typeface="Aptos" pitchFamily="34" charset="-122"/>
                <a:cs typeface="Aptos" pitchFamily="34" charset="-120"/>
              </a:rPr>
              <a:t>Base / boost : la fréquence observée dépend aussi de la puissance, de la température et de la charge.</a:t>
            </a:r>
            <a:endParaRPr lang="en-US" sz="1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CACHE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L1 / L2 / L3 — plusieurs niveaux, un même objectif</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68</a:t>
            </a:r>
            <a:endParaRPr lang="en-US" sz="820" dirty="0"/>
          </a:p>
        </p:txBody>
      </p:sp>
      <p:sp>
        <p:nvSpPr>
          <p:cNvPr id="7" name="Text 5"/>
          <p:cNvSpPr/>
          <p:nvPr/>
        </p:nvSpPr>
        <p:spPr>
          <a:xfrm>
            <a:off x="868680" y="1920240"/>
            <a:ext cx="1965960" cy="9601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2900" b="1" dirty="0">
                <a:solidFill>
                  <a:srgbClr val="FFFFFF"/>
                </a:solidFill>
                <a:latin typeface="Aptos Display" pitchFamily="34" charset="0"/>
                <a:ea typeface="Aptos Display" pitchFamily="34" charset="-122"/>
                <a:cs typeface="Aptos Display" pitchFamily="34" charset="-120"/>
              </a:rPr>
              <a:t>CŒUR</a:t>
            </a:r>
            <a:endParaRPr lang="en-US" sz="2900" dirty="0"/>
          </a:p>
        </p:txBody>
      </p:sp>
      <p:sp>
        <p:nvSpPr>
          <p:cNvPr id="8" name="Text 6"/>
          <p:cNvSpPr/>
          <p:nvPr/>
        </p:nvSpPr>
        <p:spPr>
          <a:xfrm>
            <a:off x="3200400" y="1920240"/>
            <a:ext cx="1645920" cy="960120"/>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2900" b="1" dirty="0">
                <a:solidFill>
                  <a:srgbClr val="FFFFFF"/>
                </a:solidFill>
                <a:latin typeface="Aptos Display" pitchFamily="34" charset="0"/>
                <a:ea typeface="Aptos Display" pitchFamily="34" charset="-122"/>
                <a:cs typeface="Aptos Display" pitchFamily="34" charset="-120"/>
              </a:rPr>
              <a:t>L1</a:t>
            </a:r>
            <a:endParaRPr lang="en-US" sz="2900" dirty="0"/>
          </a:p>
        </p:txBody>
      </p:sp>
      <p:sp>
        <p:nvSpPr>
          <p:cNvPr id="9" name="Text 7"/>
          <p:cNvSpPr/>
          <p:nvPr/>
        </p:nvSpPr>
        <p:spPr>
          <a:xfrm>
            <a:off x="5257800" y="1920240"/>
            <a:ext cx="1965960" cy="960120"/>
          </a:xfrm>
          <a:prstGeom prst="rect">
            <a:avLst/>
          </a:prstGeom>
          <a:solidFill>
            <a:srgbClr val="23445E"/>
          </a:solidFill>
          <a:ln>
            <a:solidFill>
              <a:srgbClr val="23445E"/>
            </a:solidFill>
          </a:ln>
        </p:spPr>
        <p:txBody>
          <a:bodyPr wrap="square" lIns="0" tIns="0" rIns="0" bIns="0" rtlCol="0" anchor="ctr"/>
          <a:lstStyle/>
          <a:p>
            <a:pPr algn="ctr" indent="0" marL="0">
              <a:buNone/>
            </a:pPr>
            <a:r>
              <a:rPr lang="en-US" sz="2900" b="1" dirty="0">
                <a:solidFill>
                  <a:srgbClr val="FFFFFF"/>
                </a:solidFill>
                <a:latin typeface="Aptos Display" pitchFamily="34" charset="0"/>
                <a:ea typeface="Aptos Display" pitchFamily="34" charset="-122"/>
                <a:cs typeface="Aptos Display" pitchFamily="34" charset="-120"/>
              </a:rPr>
              <a:t>L2</a:t>
            </a:r>
            <a:endParaRPr lang="en-US" sz="2900" dirty="0"/>
          </a:p>
        </p:txBody>
      </p:sp>
      <p:sp>
        <p:nvSpPr>
          <p:cNvPr id="10" name="Text 8"/>
          <p:cNvSpPr/>
          <p:nvPr/>
        </p:nvSpPr>
        <p:spPr>
          <a:xfrm>
            <a:off x="7635240" y="1920240"/>
            <a:ext cx="2331720" cy="960120"/>
          </a:xfrm>
          <a:prstGeom prst="rect">
            <a:avLst/>
          </a:prstGeom>
          <a:solidFill>
            <a:srgbClr val="F2E4CE"/>
          </a:solidFill>
          <a:ln>
            <a:solidFill>
              <a:srgbClr val="B5792A"/>
            </a:solidFill>
          </a:ln>
        </p:spPr>
        <p:txBody>
          <a:bodyPr wrap="square" lIns="0" tIns="0" rIns="0" bIns="0" rtlCol="0" anchor="ctr"/>
          <a:lstStyle/>
          <a:p>
            <a:pPr algn="ctr" indent="0" marL="0">
              <a:buNone/>
            </a:pPr>
            <a:r>
              <a:rPr lang="en-US" sz="2900" b="1" dirty="0">
                <a:solidFill>
                  <a:srgbClr val="222831"/>
                </a:solidFill>
                <a:latin typeface="Aptos Display" pitchFamily="34" charset="0"/>
                <a:ea typeface="Aptos Display" pitchFamily="34" charset="-122"/>
                <a:cs typeface="Aptos Display" pitchFamily="34" charset="-120"/>
              </a:rPr>
              <a:t>L3</a:t>
            </a:r>
            <a:endParaRPr lang="en-US" sz="2900" dirty="0"/>
          </a:p>
        </p:txBody>
      </p:sp>
      <p:sp>
        <p:nvSpPr>
          <p:cNvPr id="11" name="Shape 9"/>
          <p:cNvSpPr/>
          <p:nvPr/>
        </p:nvSpPr>
        <p:spPr>
          <a:xfrm>
            <a:off x="2862072" y="2395728"/>
            <a:ext cx="256032" cy="0"/>
          </a:xfrm>
          <a:prstGeom prst="line">
            <a:avLst/>
          </a:prstGeom>
          <a:noFill/>
          <a:ln w="27940">
            <a:solidFill>
              <a:srgbClr val="B5792A"/>
            </a:solidFill>
            <a:prstDash val="solid"/>
            <a:headEnd type="none"/>
            <a:tailEnd type="triangle"/>
          </a:ln>
        </p:spPr>
      </p:sp>
      <p:sp>
        <p:nvSpPr>
          <p:cNvPr id="12" name="Shape 10"/>
          <p:cNvSpPr/>
          <p:nvPr/>
        </p:nvSpPr>
        <p:spPr>
          <a:xfrm>
            <a:off x="4864608" y="2395728"/>
            <a:ext cx="292608" cy="0"/>
          </a:xfrm>
          <a:prstGeom prst="line">
            <a:avLst/>
          </a:prstGeom>
          <a:noFill/>
          <a:ln w="27940">
            <a:solidFill>
              <a:srgbClr val="B5792A"/>
            </a:solidFill>
            <a:prstDash val="solid"/>
            <a:headEnd type="none"/>
            <a:tailEnd type="triangle"/>
          </a:ln>
        </p:spPr>
      </p:sp>
      <p:sp>
        <p:nvSpPr>
          <p:cNvPr id="13" name="Shape 11"/>
          <p:cNvSpPr/>
          <p:nvPr/>
        </p:nvSpPr>
        <p:spPr>
          <a:xfrm>
            <a:off x="7242048" y="2395728"/>
            <a:ext cx="292608" cy="0"/>
          </a:xfrm>
          <a:prstGeom prst="line">
            <a:avLst/>
          </a:prstGeom>
          <a:noFill/>
          <a:ln w="27940">
            <a:solidFill>
              <a:srgbClr val="B5792A"/>
            </a:solidFill>
            <a:prstDash val="solid"/>
            <a:headEnd type="none"/>
            <a:tailEnd type="triangle"/>
          </a:ln>
        </p:spPr>
      </p:sp>
      <p:sp>
        <p:nvSpPr>
          <p:cNvPr id="14" name="Text 12"/>
          <p:cNvSpPr/>
          <p:nvPr/>
        </p:nvSpPr>
        <p:spPr>
          <a:xfrm>
            <a:off x="2816352" y="3246120"/>
            <a:ext cx="2834640" cy="365760"/>
          </a:xfrm>
          <a:prstGeom prst="rect">
            <a:avLst/>
          </a:prstGeom>
          <a:noFill/>
          <a:ln/>
        </p:spPr>
        <p:txBody>
          <a:bodyPr wrap="square" lIns="0" tIns="0" rIns="0" bIns="0" rtlCol="0" anchor="ctr"/>
          <a:lstStyle/>
          <a:p>
            <a:pPr indent="0" marL="0">
              <a:buNone/>
            </a:pPr>
            <a:r>
              <a:rPr lang="en-US" sz="1600" dirty="0">
                <a:solidFill>
                  <a:srgbClr val="2D6F6B"/>
                </a:solidFill>
                <a:latin typeface="Aptos" pitchFamily="34" charset="0"/>
                <a:ea typeface="Aptos" pitchFamily="34" charset="-122"/>
                <a:cs typeface="Aptos" pitchFamily="34" charset="-120"/>
              </a:rPr>
              <a:t>plus petite / plus proche</a:t>
            </a:r>
            <a:endParaRPr lang="en-US" sz="1600" dirty="0"/>
          </a:p>
        </p:txBody>
      </p:sp>
      <p:sp>
        <p:nvSpPr>
          <p:cNvPr id="15" name="Text 13"/>
          <p:cNvSpPr/>
          <p:nvPr/>
        </p:nvSpPr>
        <p:spPr>
          <a:xfrm>
            <a:off x="6446520" y="3246120"/>
            <a:ext cx="3657600" cy="365760"/>
          </a:xfrm>
          <a:prstGeom prst="rect">
            <a:avLst/>
          </a:prstGeom>
          <a:noFill/>
          <a:ln/>
        </p:spPr>
        <p:txBody>
          <a:bodyPr wrap="square" lIns="0" tIns="0" rIns="0" bIns="0" rtlCol="0" anchor="ctr"/>
          <a:lstStyle/>
          <a:p>
            <a:pPr algn="r" indent="0" marL="0">
              <a:buNone/>
            </a:pPr>
            <a:r>
              <a:rPr lang="en-US" sz="1600" dirty="0">
                <a:solidFill>
                  <a:srgbClr val="6B7178"/>
                </a:solidFill>
                <a:latin typeface="Aptos" pitchFamily="34" charset="0"/>
                <a:ea typeface="Aptos" pitchFamily="34" charset="-122"/>
                <a:cs typeface="Aptos" pitchFamily="34" charset="-120"/>
              </a:rPr>
              <a:t>généralement plus grande / plus partagée</a:t>
            </a:r>
            <a:endParaRPr lang="en-US" sz="1600" dirty="0"/>
          </a:p>
        </p:txBody>
      </p:sp>
      <p:sp>
        <p:nvSpPr>
          <p:cNvPr id="16" name="Text 14"/>
          <p:cNvSpPr/>
          <p:nvPr/>
        </p:nvSpPr>
        <p:spPr>
          <a:xfrm>
            <a:off x="1874520" y="4069080"/>
            <a:ext cx="8366760" cy="96012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900" b="1" dirty="0">
                <a:solidFill>
                  <a:srgbClr val="B5792A"/>
                </a:solidFill>
                <a:latin typeface="Aptos" pitchFamily="34" charset="0"/>
                <a:ea typeface="Aptos" pitchFamily="34" charset="-122"/>
                <a:cs typeface="Aptos" pitchFamily="34" charset="-120"/>
              </a:rPr>
              <a:t>À LIRE DANS UNE FICHE</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 30 Mo de cache » ne suffit pas : quel niveau? quelle organisation? partagé comment?</a:t>
            </a:r>
            <a:endParaRPr lang="en-US" sz="1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INSTANTANÉ — AOÛT 2026</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Le paysage des processeurs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69</a:t>
            </a:r>
            <a:endParaRPr lang="en-US" sz="820" dirty="0"/>
          </a:p>
        </p:txBody>
      </p:sp>
      <p:sp>
        <p:nvSpPr>
          <p:cNvPr id="7" name="Text 5"/>
          <p:cNvSpPr/>
          <p:nvPr/>
        </p:nvSpPr>
        <p:spPr>
          <a:xfrm>
            <a:off x="621792" y="1664208"/>
            <a:ext cx="2606040" cy="2395728"/>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1900" b="1" dirty="0">
                <a:solidFill>
                  <a:srgbClr val="B5792A"/>
                </a:solidFill>
                <a:latin typeface="Aptos" pitchFamily="34" charset="0"/>
                <a:ea typeface="Aptos" pitchFamily="34" charset="-122"/>
                <a:cs typeface="Aptos" pitchFamily="34" charset="-120"/>
              </a:rPr>
              <a:t>AMD</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x86-64</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Ryzen 9000 / AM5</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exemple desktop sur socket</a:t>
            </a:r>
            <a:endParaRPr lang="en-US" sz="1900" dirty="0"/>
          </a:p>
        </p:txBody>
      </p:sp>
      <p:sp>
        <p:nvSpPr>
          <p:cNvPr id="8" name="Text 6"/>
          <p:cNvSpPr/>
          <p:nvPr/>
        </p:nvSpPr>
        <p:spPr>
          <a:xfrm>
            <a:off x="3511296" y="1664208"/>
            <a:ext cx="2606040" cy="2395728"/>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1900" b="1" dirty="0">
                <a:solidFill>
                  <a:srgbClr val="17324D"/>
                </a:solidFill>
                <a:latin typeface="Aptos" pitchFamily="34" charset="0"/>
                <a:ea typeface="Aptos" pitchFamily="34" charset="-122"/>
                <a:cs typeface="Aptos" pitchFamily="34" charset="-120"/>
              </a:rPr>
              <a:t>INTEL</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x86-64</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Core Ultra 200S / LGA1851</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exemple desktop sur socket</a:t>
            </a:r>
            <a:endParaRPr lang="en-US" sz="1900" dirty="0"/>
          </a:p>
        </p:txBody>
      </p:sp>
      <p:sp>
        <p:nvSpPr>
          <p:cNvPr id="9" name="Text 7"/>
          <p:cNvSpPr/>
          <p:nvPr/>
        </p:nvSpPr>
        <p:spPr>
          <a:xfrm>
            <a:off x="6400800" y="1664208"/>
            <a:ext cx="2606040" cy="2395728"/>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900" b="1" dirty="0">
                <a:solidFill>
                  <a:srgbClr val="222831"/>
                </a:solidFill>
                <a:latin typeface="Aptos" pitchFamily="34" charset="0"/>
                <a:ea typeface="Aptos" pitchFamily="34" charset="-122"/>
                <a:cs typeface="Aptos" pitchFamily="34" charset="-120"/>
              </a:rPr>
              <a:t>APPLE</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Arm64</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Apple Silicon (M-series)</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exemple de SoC intégré</a:t>
            </a:r>
            <a:endParaRPr lang="en-US" sz="1900" dirty="0"/>
          </a:p>
        </p:txBody>
      </p:sp>
      <p:sp>
        <p:nvSpPr>
          <p:cNvPr id="10" name="Text 8"/>
          <p:cNvSpPr/>
          <p:nvPr/>
        </p:nvSpPr>
        <p:spPr>
          <a:xfrm>
            <a:off x="9290304" y="1664208"/>
            <a:ext cx="2606040" cy="2395728"/>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1900" b="1" dirty="0">
                <a:solidFill>
                  <a:srgbClr val="2D6F6B"/>
                </a:solidFill>
                <a:latin typeface="Aptos" pitchFamily="34" charset="0"/>
                <a:ea typeface="Aptos" pitchFamily="34" charset="-122"/>
                <a:cs typeface="Aptos" pitchFamily="34" charset="-120"/>
              </a:rPr>
              <a:t>QUALCOMM</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Arm64</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Snapdragon X2</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exemple de SoC intégré</a:t>
            </a:r>
            <a:endParaRPr lang="en-US" sz="1900" dirty="0"/>
          </a:p>
        </p:txBody>
      </p:sp>
      <p:sp>
        <p:nvSpPr>
          <p:cNvPr id="11" name="Text 9"/>
          <p:cNvSpPr/>
          <p:nvPr/>
        </p:nvSpPr>
        <p:spPr>
          <a:xfrm>
            <a:off x="868680" y="4526280"/>
            <a:ext cx="5166360" cy="411480"/>
          </a:xfrm>
          <a:prstGeom prst="rect">
            <a:avLst/>
          </a:prstGeom>
          <a:noFill/>
          <a:ln/>
        </p:spPr>
        <p:txBody>
          <a:bodyPr wrap="square" lIns="0" tIns="0" rIns="0" bIns="0" rtlCol="0" anchor="ctr"/>
          <a:lstStyle/>
          <a:p>
            <a:pPr algn="ctr" indent="0" marL="0">
              <a:buNone/>
            </a:pPr>
            <a:r>
              <a:rPr lang="en-US" sz="1500" b="1" dirty="0">
                <a:solidFill>
                  <a:srgbClr val="17324D"/>
                </a:solidFill>
                <a:latin typeface="Aptos" pitchFamily="34" charset="0"/>
                <a:ea typeface="Aptos" pitchFamily="34" charset="-122"/>
                <a:cs typeface="Aptos" pitchFamily="34" charset="-120"/>
              </a:rPr>
              <a:t>EXEMPLES DESKTOP : CPU SUR SOCKET</a:t>
            </a:r>
            <a:endParaRPr lang="en-US" sz="1500" dirty="0"/>
          </a:p>
        </p:txBody>
      </p:sp>
      <p:sp>
        <p:nvSpPr>
          <p:cNvPr id="12" name="Text 10"/>
          <p:cNvSpPr/>
          <p:nvPr/>
        </p:nvSpPr>
        <p:spPr>
          <a:xfrm>
            <a:off x="6400800" y="4526280"/>
            <a:ext cx="4754880" cy="411480"/>
          </a:xfrm>
          <a:prstGeom prst="rect">
            <a:avLst/>
          </a:prstGeom>
          <a:noFill/>
          <a:ln/>
        </p:spPr>
        <p:txBody>
          <a:bodyPr wrap="square" lIns="0" tIns="0" rIns="0" bIns="0" rtlCol="0" anchor="ctr"/>
          <a:lstStyle/>
          <a:p>
            <a:pPr algn="ctr" indent="0" marL="0">
              <a:buNone/>
            </a:pPr>
            <a:r>
              <a:rPr lang="en-US" sz="1500" b="1" dirty="0">
                <a:solidFill>
                  <a:srgbClr val="2D6F6B"/>
                </a:solidFill>
                <a:latin typeface="Aptos" pitchFamily="34" charset="0"/>
                <a:ea typeface="Aptos" pitchFamily="34" charset="-122"/>
                <a:cs typeface="Aptos" pitchFamily="34" charset="-120"/>
              </a:rPr>
              <a:t>EXEMPLES : SoC À INTÉGRATION FORTE</a:t>
            </a:r>
            <a:endParaRPr lang="en-US" sz="1500" dirty="0"/>
          </a:p>
        </p:txBody>
      </p:sp>
      <p:sp>
        <p:nvSpPr>
          <p:cNvPr id="13" name="Shape 11"/>
          <p:cNvSpPr/>
          <p:nvPr/>
        </p:nvSpPr>
        <p:spPr>
          <a:xfrm>
            <a:off x="960120" y="5074920"/>
            <a:ext cx="10104120" cy="0"/>
          </a:xfrm>
          <a:prstGeom prst="line">
            <a:avLst/>
          </a:prstGeom>
          <a:noFill/>
          <a:ln w="38100">
            <a:solidFill>
              <a:srgbClr val="CEC9BF"/>
            </a:solidFill>
            <a:prstDash val="solid"/>
          </a:ln>
        </p:spPr>
      </p:sp>
      <p:sp>
        <p:nvSpPr>
          <p:cNvPr id="14" name="Text 12"/>
          <p:cNvSpPr/>
          <p:nvPr/>
        </p:nvSpPr>
        <p:spPr>
          <a:xfrm>
            <a:off x="1280160" y="5285232"/>
            <a:ext cx="9555480" cy="310896"/>
          </a:xfrm>
          <a:prstGeom prst="rect">
            <a:avLst/>
          </a:prstGeom>
          <a:noFill/>
          <a:ln/>
        </p:spPr>
        <p:txBody>
          <a:bodyPr wrap="square" lIns="0" tIns="0" rIns="0" bIns="0" rtlCol="0" anchor="ctr"/>
          <a:lstStyle/>
          <a:p>
            <a:pPr algn="ctr" indent="0" marL="0">
              <a:buNone/>
            </a:pPr>
            <a:r>
              <a:rPr lang="en-US" sz="1400" i="1" dirty="0">
                <a:solidFill>
                  <a:srgbClr val="6B7178"/>
                </a:solidFill>
                <a:latin typeface="Aptos" pitchFamily="34" charset="0"/>
                <a:ea typeface="Aptos" pitchFamily="34" charset="-122"/>
                <a:cs typeface="Aptos" pitchFamily="34" charset="-120"/>
              </a:rPr>
              <a:t>instantané du marché — à contextualiser, pas à mémoriser comme une vérité permanente</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PLATEFORMES DE BUREAU</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Deux sockets que vous rencontrerez aujourd’hui</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70</a:t>
            </a:r>
            <a:endParaRPr lang="en-US" sz="820" dirty="0"/>
          </a:p>
        </p:txBody>
      </p:sp>
      <p:sp>
        <p:nvSpPr>
          <p:cNvPr id="7" name="Shape 5"/>
          <p:cNvSpPr/>
          <p:nvPr/>
        </p:nvSpPr>
        <p:spPr>
          <a:xfrm>
            <a:off x="685800" y="1389888"/>
            <a:ext cx="5084064" cy="3236976"/>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8" name="Image 0" descr="/mnt/data/seance5_build/assets/A6b_am5_socket.png">    </p:cNvPr>
          <p:cNvPicPr>
            <a:picLocks noChangeAspect="1"/>
          </p:cNvPicPr>
          <p:nvPr/>
        </p:nvPicPr>
        <p:blipFill>
          <a:blip r:embed="rId1"/>
          <a:stretch>
            <a:fillRect/>
          </a:stretch>
        </p:blipFill>
        <p:spPr>
          <a:xfrm>
            <a:off x="1865286" y="1417320"/>
            <a:ext cx="2725091" cy="3182112"/>
          </a:xfrm>
          <a:prstGeom prst="rect">
            <a:avLst/>
          </a:prstGeom>
        </p:spPr>
      </p:pic>
      <p:sp>
        <p:nvSpPr>
          <p:cNvPr id="9" name="Shape 6"/>
          <p:cNvSpPr/>
          <p:nvPr/>
        </p:nvSpPr>
        <p:spPr>
          <a:xfrm>
            <a:off x="6400800" y="1389888"/>
            <a:ext cx="5084064" cy="3236976"/>
          </a:xfrm>
          <a:prstGeom prst="rect">
            <a:avLst/>
          </a:prstGeom>
          <a:solidFill>
            <a:srgbClr val="FFFFFF"/>
          </a:solidFill>
          <a:ln w="12700">
            <a:solidFill>
              <a:srgbClr val="FFFFFF"/>
            </a:solidFill>
            <a:prstDash val="solid"/>
          </a:ln>
          <a:effectLst>
            <a:outerShdw sx="100000" sy="100000" kx="0" ky="0" algn="bl" rotWithShape="0" blurRad="25400" dist="7620" dir="2700000">
              <a:srgbClr val="000000">
                <a:alpha val="18000"/>
              </a:srgbClr>
            </a:outerShdw>
          </a:effectLst>
        </p:spPr>
      </p:sp>
      <p:pic>
        <p:nvPicPr>
          <p:cNvPr id="10" name="Image 1" descr="/mnt/data/seance5_build/assets/A6a_lga1851_socket_crop.png">    </p:cNvPr>
          <p:cNvPicPr>
            <a:picLocks noChangeAspect="1"/>
          </p:cNvPicPr>
          <p:nvPr/>
        </p:nvPicPr>
        <p:blipFill>
          <a:blip r:embed="rId2"/>
          <a:stretch>
            <a:fillRect/>
          </a:stretch>
        </p:blipFill>
        <p:spPr>
          <a:xfrm>
            <a:off x="7351776" y="1417320"/>
            <a:ext cx="3182112" cy="3182112"/>
          </a:xfrm>
          <a:prstGeom prst="rect">
            <a:avLst/>
          </a:prstGeom>
        </p:spPr>
      </p:pic>
      <p:sp>
        <p:nvSpPr>
          <p:cNvPr id="11" name="Text 7"/>
          <p:cNvSpPr/>
          <p:nvPr/>
        </p:nvSpPr>
        <p:spPr>
          <a:xfrm>
            <a:off x="1874520" y="4709160"/>
            <a:ext cx="2606040" cy="310896"/>
          </a:xfrm>
          <a:prstGeom prst="rect">
            <a:avLst/>
          </a:prstGeom>
          <a:solidFill>
            <a:srgbClr val="B5792A"/>
          </a:solidFill>
          <a:ln>
            <a:solidFill>
              <a:srgbClr val="B5792A">
                <a:alpha val="0"/>
              </a:srgbClr>
            </a:solidFill>
          </a:ln>
        </p:spPr>
        <p:txBody>
          <a:bodyPr wrap="square" lIns="635" tIns="635" rIns="635" bIns="635"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AMD — AM5</a:t>
            </a:r>
            <a:endParaRPr lang="en-US" sz="1100" dirty="0"/>
          </a:p>
        </p:txBody>
      </p:sp>
      <p:sp>
        <p:nvSpPr>
          <p:cNvPr id="12" name="Text 8"/>
          <p:cNvSpPr/>
          <p:nvPr/>
        </p:nvSpPr>
        <p:spPr>
          <a:xfrm>
            <a:off x="7635240" y="4709160"/>
            <a:ext cx="2606040" cy="310896"/>
          </a:xfrm>
          <a:prstGeom prst="rect">
            <a:avLst/>
          </a:prstGeom>
          <a:solidFill>
            <a:srgbClr val="17324D"/>
          </a:solidFill>
          <a:ln>
            <a:solidFill>
              <a:srgbClr val="17324D">
                <a:alpha val="0"/>
              </a:srgbClr>
            </a:solidFill>
          </a:ln>
        </p:spPr>
        <p:txBody>
          <a:bodyPr wrap="square" lIns="635" tIns="635" rIns="635" bIns="635"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INTEL — LGA1851</a:t>
            </a:r>
            <a:endParaRPr lang="en-US" sz="1100" dirty="0"/>
          </a:p>
        </p:txBody>
      </p:sp>
      <p:sp>
        <p:nvSpPr>
          <p:cNvPr id="13" name="Text 9"/>
          <p:cNvSpPr/>
          <p:nvPr/>
        </p:nvSpPr>
        <p:spPr>
          <a:xfrm>
            <a:off x="914400" y="5230368"/>
            <a:ext cx="10332720" cy="457200"/>
          </a:xfrm>
          <a:prstGeom prst="rect">
            <a:avLst/>
          </a:prstGeom>
          <a:noFill/>
          <a:ln/>
        </p:spPr>
        <p:txBody>
          <a:bodyPr wrap="square" lIns="0" tIns="0" rIns="0" bIns="0" rtlCol="0" anchor="ctr"/>
          <a:lstStyle/>
          <a:p>
            <a:pPr algn="ctr" indent="0" marL="0">
              <a:buNone/>
            </a:pPr>
            <a:r>
              <a:rPr lang="en-US" sz="1700" b="1" dirty="0">
                <a:solidFill>
                  <a:srgbClr val="A54B3E"/>
                </a:solidFill>
                <a:latin typeface="Aptos" pitchFamily="34" charset="0"/>
                <a:ea typeface="Aptos" pitchFamily="34" charset="-122"/>
                <a:cs typeface="Aptos" pitchFamily="34" charset="-120"/>
              </a:rPr>
              <a:t>Même socket ≠ compatibilité garantie — nous apprendrons la vérification complète à la Séance 8.</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PAYSAGE ACTUEL</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AMD Ryzen — Zen et l’approche par chiplets</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71</a:t>
            </a:r>
            <a:endParaRPr lang="en-US" sz="820" dirty="0"/>
          </a:p>
        </p:txBody>
      </p:sp>
      <p:sp>
        <p:nvSpPr>
          <p:cNvPr id="7" name="Text 5"/>
          <p:cNvSpPr/>
          <p:nvPr/>
        </p:nvSpPr>
        <p:spPr>
          <a:xfrm>
            <a:off x="804672" y="1499616"/>
            <a:ext cx="2148840" cy="1051560"/>
          </a:xfrm>
          <a:prstGeom prst="rect">
            <a:avLst/>
          </a:prstGeom>
          <a:solidFill>
            <a:srgbClr val="B5792A"/>
          </a:solidFill>
          <a:ln>
            <a:solidFill>
              <a:srgbClr val="B5792A"/>
            </a:solidFill>
          </a:ln>
        </p:spPr>
        <p:txBody>
          <a:bodyPr wrap="square" lIns="0" tIns="0" rIns="0" bIns="0" rtlCol="0" anchor="ctr"/>
          <a:lstStyle/>
          <a:p>
            <a:pPr algn="ctr" indent="0" marL="0">
              <a:buNone/>
            </a:pPr>
            <a:r>
              <a:rPr lang="en-US" sz="4200" b="1" dirty="0">
                <a:solidFill>
                  <a:srgbClr val="FFFFFF"/>
                </a:solidFill>
                <a:latin typeface="Aptos Display" pitchFamily="34" charset="0"/>
                <a:ea typeface="Aptos Display" pitchFamily="34" charset="-122"/>
                <a:cs typeface="Aptos Display" pitchFamily="34" charset="-120"/>
              </a:rPr>
              <a:t>AMD</a:t>
            </a:r>
            <a:endParaRPr lang="en-US" sz="4200" dirty="0"/>
          </a:p>
        </p:txBody>
      </p:sp>
      <p:sp>
        <p:nvSpPr>
          <p:cNvPr id="8" name="Text 6"/>
          <p:cNvSpPr/>
          <p:nvPr/>
        </p:nvSpPr>
        <p:spPr>
          <a:xfrm>
            <a:off x="822960" y="2788920"/>
            <a:ext cx="5349240" cy="2468880"/>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ISA : x86-64</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Ryzen 9000 : architecture Zen 5</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Ryzen 9000 de bureau (Granite Ridge) : conception par chiplets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SMT : certains cœurs maintiennent plusieurs fils matériels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3D V-Cache / X3D : cache supplémentaire sur certains modèles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plateforme de bureau : AM5</a:t>
            </a:r>
            <a:endParaRPr lang="en-US" sz="1800" dirty="0"/>
          </a:p>
        </p:txBody>
      </p:sp>
      <p:sp>
        <p:nvSpPr>
          <p:cNvPr id="9" name="Text 7"/>
          <p:cNvSpPr/>
          <p:nvPr/>
        </p:nvSpPr>
        <p:spPr>
          <a:xfrm>
            <a:off x="6629400" y="1600200"/>
            <a:ext cx="4206240" cy="365760"/>
          </a:xfrm>
          <a:prstGeom prst="rect">
            <a:avLst/>
          </a:prstGeom>
          <a:noFill/>
          <a:ln/>
        </p:spPr>
        <p:txBody>
          <a:bodyPr wrap="square" lIns="0" tIns="0" rIns="0" bIns="0" rtlCol="0" anchor="ctr"/>
          <a:lstStyle/>
          <a:p>
            <a:pPr algn="ctr" indent="0" marL="0">
              <a:buNone/>
            </a:pPr>
            <a:r>
              <a:rPr lang="en-US" sz="1300" b="1" spc="100" kern="0" dirty="0">
                <a:solidFill>
                  <a:srgbClr val="B5792A"/>
                </a:solidFill>
                <a:latin typeface="Aptos" pitchFamily="34" charset="0"/>
                <a:ea typeface="Aptos" pitchFamily="34" charset="-122"/>
                <a:cs typeface="Aptos" pitchFamily="34" charset="-120"/>
              </a:rPr>
              <a:t>EXEMPLE : RYZEN 9 9950X</a:t>
            </a:r>
            <a:endParaRPr lang="en-US" sz="1300" dirty="0"/>
          </a:p>
        </p:txBody>
      </p:sp>
      <p:sp>
        <p:nvSpPr>
          <p:cNvPr id="10" name="Shape 8"/>
          <p:cNvSpPr/>
          <p:nvPr/>
        </p:nvSpPr>
        <p:spPr>
          <a:xfrm>
            <a:off x="6629400" y="2057400"/>
            <a:ext cx="4206240" cy="2331720"/>
          </a:xfrm>
          <a:prstGeom prst="rect">
            <a:avLst/>
          </a:prstGeom>
          <a:solidFill>
            <a:srgbClr val="EEE9E1"/>
          </a:solidFill>
          <a:ln w="15240">
            <a:solidFill>
              <a:srgbClr val="B5792A"/>
            </a:solidFill>
            <a:prstDash val="solid"/>
          </a:ln>
        </p:spPr>
      </p:sp>
      <p:sp>
        <p:nvSpPr>
          <p:cNvPr id="11" name="Text 9"/>
          <p:cNvSpPr/>
          <p:nvPr/>
        </p:nvSpPr>
        <p:spPr>
          <a:xfrm>
            <a:off x="6967728" y="2450592"/>
            <a:ext cx="1234440" cy="777240"/>
          </a:xfrm>
          <a:prstGeom prst="rect">
            <a:avLst/>
          </a:prstGeom>
          <a:solidFill>
            <a:srgbClr val="B5792A"/>
          </a:solidFill>
          <a:ln>
            <a:solidFill>
              <a:srgbClr val="B5792A"/>
            </a:solidFill>
          </a:ln>
        </p:spPr>
        <p:txBody>
          <a:bodyPr wrap="square" lIns="0" tIns="0" rIns="0" bIns="0" rtlCol="0" anchor="ctr"/>
          <a:lstStyle/>
          <a:p>
            <a:pPr algn="ctr" indent="0" marL="0">
              <a:buNone/>
            </a:pPr>
            <a:r>
              <a:rPr lang="en-US" sz="2400" b="1" dirty="0">
                <a:solidFill>
                  <a:srgbClr val="FFFFFF"/>
                </a:solidFill>
                <a:latin typeface="Aptos" pitchFamily="34" charset="0"/>
                <a:ea typeface="Aptos" pitchFamily="34" charset="-122"/>
                <a:cs typeface="Aptos" pitchFamily="34" charset="-120"/>
              </a:rPr>
              <a:t>CCD</a:t>
            </a:r>
            <a:endParaRPr lang="en-US" sz="2400" dirty="0"/>
          </a:p>
        </p:txBody>
      </p:sp>
      <p:sp>
        <p:nvSpPr>
          <p:cNvPr id="12" name="Text 10"/>
          <p:cNvSpPr/>
          <p:nvPr/>
        </p:nvSpPr>
        <p:spPr>
          <a:xfrm>
            <a:off x="8275320" y="2450592"/>
            <a:ext cx="1234440" cy="777240"/>
          </a:xfrm>
          <a:prstGeom prst="rect">
            <a:avLst/>
          </a:prstGeom>
          <a:solidFill>
            <a:srgbClr val="B5792A"/>
          </a:solidFill>
          <a:ln>
            <a:solidFill>
              <a:srgbClr val="B5792A"/>
            </a:solidFill>
          </a:ln>
        </p:spPr>
        <p:txBody>
          <a:bodyPr wrap="square" lIns="0" tIns="0" rIns="0" bIns="0" rtlCol="0" anchor="ctr"/>
          <a:lstStyle/>
          <a:p>
            <a:pPr algn="ctr" indent="0" marL="0">
              <a:buNone/>
            </a:pPr>
            <a:r>
              <a:rPr lang="en-US" sz="2400" b="1" dirty="0">
                <a:solidFill>
                  <a:srgbClr val="FFFFFF"/>
                </a:solidFill>
                <a:latin typeface="Aptos" pitchFamily="34" charset="0"/>
                <a:ea typeface="Aptos" pitchFamily="34" charset="-122"/>
                <a:cs typeface="Aptos" pitchFamily="34" charset="-120"/>
              </a:rPr>
              <a:t>CCD</a:t>
            </a:r>
            <a:endParaRPr lang="en-US" sz="2400" dirty="0"/>
          </a:p>
        </p:txBody>
      </p:sp>
      <p:sp>
        <p:nvSpPr>
          <p:cNvPr id="13" name="Text 11"/>
          <p:cNvSpPr/>
          <p:nvPr/>
        </p:nvSpPr>
        <p:spPr>
          <a:xfrm>
            <a:off x="9582912" y="2450592"/>
            <a:ext cx="914400" cy="77724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2400" b="1" dirty="0">
                <a:solidFill>
                  <a:srgbClr val="FFFFFF"/>
                </a:solidFill>
                <a:latin typeface="Aptos" pitchFamily="34" charset="0"/>
                <a:ea typeface="Aptos" pitchFamily="34" charset="-122"/>
                <a:cs typeface="Aptos" pitchFamily="34" charset="-120"/>
              </a:rPr>
              <a:t>I/O</a:t>
            </a:r>
            <a:endParaRPr lang="en-US" sz="2400" dirty="0"/>
          </a:p>
        </p:txBody>
      </p:sp>
      <p:sp>
        <p:nvSpPr>
          <p:cNvPr id="14" name="Text 12"/>
          <p:cNvSpPr/>
          <p:nvPr/>
        </p:nvSpPr>
        <p:spPr>
          <a:xfrm>
            <a:off x="6720840" y="3730752"/>
            <a:ext cx="4023360" cy="566928"/>
          </a:xfrm>
          <a:prstGeom prst="rect">
            <a:avLst/>
          </a:prstGeom>
          <a:noFill/>
          <a:ln/>
        </p:spPr>
        <p:txBody>
          <a:bodyPr wrap="square" lIns="0" tIns="0" rIns="0" bIns="0" rtlCol="0" anchor="ctr"/>
          <a:lstStyle/>
          <a:p>
            <a:pPr algn="ctr" indent="0" marL="0">
              <a:buNone/>
            </a:pPr>
            <a:r>
              <a:rPr lang="en-US" sz="1600" dirty="0">
                <a:solidFill>
                  <a:srgbClr val="6B7178"/>
                </a:solidFill>
                <a:latin typeface="Aptos" pitchFamily="34" charset="0"/>
                <a:ea typeface="Aptos" pitchFamily="34" charset="-122"/>
                <a:cs typeface="Aptos" pitchFamily="34" charset="-120"/>
              </a:rPr>
              <a:t>Ryzen 9000 Granite Ridge : 1 ou 2 CCD selon le modèle, avec un die d’E/S distinct.</a:t>
            </a:r>
            <a:endParaRPr lang="en-US" sz="1600" dirty="0"/>
          </a:p>
        </p:txBody>
      </p:sp>
      <p:sp>
        <p:nvSpPr>
          <p:cNvPr id="15" name="Text 13"/>
          <p:cNvSpPr/>
          <p:nvPr/>
        </p:nvSpPr>
        <p:spPr>
          <a:xfrm>
            <a:off x="6510528" y="4690872"/>
            <a:ext cx="4434840" cy="841248"/>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1600" b="1" dirty="0">
                <a:solidFill>
                  <a:srgbClr val="B5792A"/>
                </a:solidFill>
                <a:latin typeface="Aptos" pitchFamily="34" charset="0"/>
                <a:ea typeface="Aptos" pitchFamily="34" charset="-122"/>
                <a:cs typeface="Aptos" pitchFamily="34" charset="-120"/>
              </a:rPr>
              <a:t>À RETENIR</a:t>
            </a:r>
            <a:endParaRPr lang="en-US" sz="1600" dirty="0"/>
          </a:p>
          <a:p>
            <a:pPr indent="0" marL="0">
              <a:buNone/>
            </a:pPr>
            <a:r>
              <a:rPr lang="en-US" sz="1600" dirty="0">
                <a:solidFill>
                  <a:srgbClr val="222831"/>
                </a:solidFill>
                <a:latin typeface="Aptos" pitchFamily="34" charset="0"/>
                <a:ea typeface="Aptos" pitchFamily="34" charset="-122"/>
                <a:cs typeface="Aptos" pitchFamily="34" charset="-120"/>
              </a:rPr>
              <a:t>AMD utilise la modularité du silicium et, sur certains X3D, beaucoup de cache comme leviers de conception.</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PAYSAGE ACTUEL</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Intel Core Ultra — cœurs P et cœurs 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72</a:t>
            </a:r>
            <a:endParaRPr lang="en-US" sz="820" dirty="0"/>
          </a:p>
        </p:txBody>
      </p:sp>
      <p:sp>
        <p:nvSpPr>
          <p:cNvPr id="7" name="Text 5"/>
          <p:cNvSpPr/>
          <p:nvPr/>
        </p:nvSpPr>
        <p:spPr>
          <a:xfrm>
            <a:off x="804672" y="1499616"/>
            <a:ext cx="2148840" cy="105156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4200" b="1" dirty="0">
                <a:solidFill>
                  <a:srgbClr val="FFFFFF"/>
                </a:solidFill>
                <a:latin typeface="Aptos Display" pitchFamily="34" charset="0"/>
                <a:ea typeface="Aptos Display" pitchFamily="34" charset="-122"/>
                <a:cs typeface="Aptos Display" pitchFamily="34" charset="-120"/>
              </a:rPr>
              <a:t>INTEL</a:t>
            </a:r>
            <a:endParaRPr lang="en-US" sz="4200" dirty="0"/>
          </a:p>
        </p:txBody>
      </p:sp>
      <p:sp>
        <p:nvSpPr>
          <p:cNvPr id="8" name="Text 6"/>
          <p:cNvSpPr/>
          <p:nvPr/>
        </p:nvSpPr>
        <p:spPr>
          <a:xfrm>
            <a:off x="822960" y="2788920"/>
            <a:ext cx="5349240" cy="2468880"/>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ISA : x86-64</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Core Ultra 200S / 200S Plus : plateforme de bureau actuelle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architecture hybride : cœurs de performance + cœurs d’efficacité</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cœurs de types différents dans le même processeur</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conception disaggregated / tiled</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plateforme de bureau : LGA1851</a:t>
            </a:r>
            <a:endParaRPr lang="en-US" sz="1800" dirty="0"/>
          </a:p>
        </p:txBody>
      </p:sp>
      <p:sp>
        <p:nvSpPr>
          <p:cNvPr id="9" name="Text 7"/>
          <p:cNvSpPr/>
          <p:nvPr/>
        </p:nvSpPr>
        <p:spPr>
          <a:xfrm>
            <a:off x="6693408" y="1600200"/>
            <a:ext cx="4069080" cy="365760"/>
          </a:xfrm>
          <a:prstGeom prst="rect">
            <a:avLst/>
          </a:prstGeom>
          <a:noFill/>
          <a:ln/>
        </p:spPr>
        <p:txBody>
          <a:bodyPr wrap="square" lIns="0" tIns="0" rIns="0" bIns="0" rtlCol="0" anchor="ctr"/>
          <a:lstStyle/>
          <a:p>
            <a:pPr algn="ctr" indent="0" marL="0">
              <a:buNone/>
            </a:pPr>
            <a:r>
              <a:rPr lang="en-US" sz="1300" b="1" spc="100" kern="0" dirty="0">
                <a:solidFill>
                  <a:srgbClr val="17324D"/>
                </a:solidFill>
                <a:latin typeface="Aptos" pitchFamily="34" charset="0"/>
                <a:ea typeface="Aptos" pitchFamily="34" charset="-122"/>
                <a:cs typeface="Aptos" pitchFamily="34" charset="-120"/>
              </a:rPr>
              <a:t>UN MÊME CPU</a:t>
            </a:r>
            <a:endParaRPr lang="en-US" sz="1300" dirty="0"/>
          </a:p>
        </p:txBody>
      </p:sp>
      <p:sp>
        <p:nvSpPr>
          <p:cNvPr id="10" name="Text 8"/>
          <p:cNvSpPr/>
          <p:nvPr/>
        </p:nvSpPr>
        <p:spPr>
          <a:xfrm>
            <a:off x="6812280" y="2194560"/>
            <a:ext cx="1188720" cy="11887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4000" b="1" dirty="0">
                <a:solidFill>
                  <a:srgbClr val="FFFFFF"/>
                </a:solidFill>
                <a:latin typeface="Aptos Display" pitchFamily="34" charset="0"/>
                <a:ea typeface="Aptos Display" pitchFamily="34" charset="-122"/>
                <a:cs typeface="Aptos Display" pitchFamily="34" charset="-120"/>
              </a:rPr>
              <a:t>P</a:t>
            </a:r>
            <a:endParaRPr lang="en-US" sz="4000" dirty="0"/>
          </a:p>
        </p:txBody>
      </p:sp>
      <p:sp>
        <p:nvSpPr>
          <p:cNvPr id="11" name="Text 9"/>
          <p:cNvSpPr/>
          <p:nvPr/>
        </p:nvSpPr>
        <p:spPr>
          <a:xfrm>
            <a:off x="8183880" y="2194560"/>
            <a:ext cx="1188720" cy="1188720"/>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4000" b="1" dirty="0">
                <a:solidFill>
                  <a:srgbClr val="FFFFFF"/>
                </a:solidFill>
                <a:latin typeface="Aptos Display" pitchFamily="34" charset="0"/>
                <a:ea typeface="Aptos Display" pitchFamily="34" charset="-122"/>
                <a:cs typeface="Aptos Display" pitchFamily="34" charset="-120"/>
              </a:rPr>
              <a:t>P</a:t>
            </a:r>
            <a:endParaRPr lang="en-US" sz="4000" dirty="0"/>
          </a:p>
        </p:txBody>
      </p:sp>
      <p:sp>
        <p:nvSpPr>
          <p:cNvPr id="12" name="Text 10"/>
          <p:cNvSpPr/>
          <p:nvPr/>
        </p:nvSpPr>
        <p:spPr>
          <a:xfrm>
            <a:off x="9646920" y="2194560"/>
            <a:ext cx="566928" cy="566928"/>
          </a:xfrm>
          <a:prstGeom prst="rect">
            <a:avLst/>
          </a:prstGeom>
          <a:solidFill>
            <a:srgbClr val="DCECE9"/>
          </a:solidFill>
          <a:ln>
            <a:solidFill>
              <a:srgbClr val="2D6F6B"/>
            </a:solidFill>
          </a:ln>
        </p:spPr>
        <p:txBody>
          <a:bodyPr wrap="square" lIns="0" tIns="0" rIns="0" bIns="0" rtlCol="0" anchor="ctr"/>
          <a:lstStyle/>
          <a:p>
            <a:pPr algn="ctr" indent="0" marL="0">
              <a:buNone/>
            </a:pPr>
            <a:r>
              <a:rPr lang="en-US" sz="2200" b="1" dirty="0">
                <a:solidFill>
                  <a:srgbClr val="222831"/>
                </a:solidFill>
                <a:latin typeface="Aptos Display" pitchFamily="34" charset="0"/>
                <a:ea typeface="Aptos Display" pitchFamily="34" charset="-122"/>
                <a:cs typeface="Aptos Display" pitchFamily="34" charset="-120"/>
              </a:rPr>
              <a:t>E</a:t>
            </a:r>
            <a:endParaRPr lang="en-US" sz="2200" dirty="0"/>
          </a:p>
        </p:txBody>
      </p:sp>
      <p:sp>
        <p:nvSpPr>
          <p:cNvPr id="13" name="Text 11"/>
          <p:cNvSpPr/>
          <p:nvPr/>
        </p:nvSpPr>
        <p:spPr>
          <a:xfrm>
            <a:off x="10332720" y="2194560"/>
            <a:ext cx="566928" cy="566928"/>
          </a:xfrm>
          <a:prstGeom prst="rect">
            <a:avLst/>
          </a:prstGeom>
          <a:solidFill>
            <a:srgbClr val="DCECE9"/>
          </a:solidFill>
          <a:ln>
            <a:solidFill>
              <a:srgbClr val="2D6F6B"/>
            </a:solidFill>
          </a:ln>
        </p:spPr>
        <p:txBody>
          <a:bodyPr wrap="square" lIns="0" tIns="0" rIns="0" bIns="0" rtlCol="0" anchor="ctr"/>
          <a:lstStyle/>
          <a:p>
            <a:pPr algn="ctr" indent="0" marL="0">
              <a:buNone/>
            </a:pPr>
            <a:r>
              <a:rPr lang="en-US" sz="2200" b="1" dirty="0">
                <a:solidFill>
                  <a:srgbClr val="222831"/>
                </a:solidFill>
                <a:latin typeface="Aptos Display" pitchFamily="34" charset="0"/>
                <a:ea typeface="Aptos Display" pitchFamily="34" charset="-122"/>
                <a:cs typeface="Aptos Display" pitchFamily="34" charset="-120"/>
              </a:rPr>
              <a:t>E</a:t>
            </a:r>
            <a:endParaRPr lang="en-US" sz="2200" dirty="0"/>
          </a:p>
        </p:txBody>
      </p:sp>
      <p:sp>
        <p:nvSpPr>
          <p:cNvPr id="14" name="Text 12"/>
          <p:cNvSpPr/>
          <p:nvPr/>
        </p:nvSpPr>
        <p:spPr>
          <a:xfrm>
            <a:off x="9646920" y="2907792"/>
            <a:ext cx="566928" cy="566928"/>
          </a:xfrm>
          <a:prstGeom prst="rect">
            <a:avLst/>
          </a:prstGeom>
          <a:solidFill>
            <a:srgbClr val="DCECE9"/>
          </a:solidFill>
          <a:ln>
            <a:solidFill>
              <a:srgbClr val="2D6F6B"/>
            </a:solidFill>
          </a:ln>
        </p:spPr>
        <p:txBody>
          <a:bodyPr wrap="square" lIns="0" tIns="0" rIns="0" bIns="0" rtlCol="0" anchor="ctr"/>
          <a:lstStyle/>
          <a:p>
            <a:pPr algn="ctr" indent="0" marL="0">
              <a:buNone/>
            </a:pPr>
            <a:r>
              <a:rPr lang="en-US" sz="2200" b="1" dirty="0">
                <a:solidFill>
                  <a:srgbClr val="222831"/>
                </a:solidFill>
                <a:latin typeface="Aptos Display" pitchFamily="34" charset="0"/>
                <a:ea typeface="Aptos Display" pitchFamily="34" charset="-122"/>
                <a:cs typeface="Aptos Display" pitchFamily="34" charset="-120"/>
              </a:rPr>
              <a:t>E</a:t>
            </a:r>
            <a:endParaRPr lang="en-US" sz="2200" dirty="0"/>
          </a:p>
        </p:txBody>
      </p:sp>
      <p:sp>
        <p:nvSpPr>
          <p:cNvPr id="15" name="Text 13"/>
          <p:cNvSpPr/>
          <p:nvPr/>
        </p:nvSpPr>
        <p:spPr>
          <a:xfrm>
            <a:off x="10332720" y="2907792"/>
            <a:ext cx="566928" cy="566928"/>
          </a:xfrm>
          <a:prstGeom prst="rect">
            <a:avLst/>
          </a:prstGeom>
          <a:solidFill>
            <a:srgbClr val="DCECE9"/>
          </a:solidFill>
          <a:ln>
            <a:solidFill>
              <a:srgbClr val="2D6F6B"/>
            </a:solidFill>
          </a:ln>
        </p:spPr>
        <p:txBody>
          <a:bodyPr wrap="square" lIns="0" tIns="0" rIns="0" bIns="0" rtlCol="0" anchor="ctr"/>
          <a:lstStyle/>
          <a:p>
            <a:pPr algn="ctr" indent="0" marL="0">
              <a:buNone/>
            </a:pPr>
            <a:r>
              <a:rPr lang="en-US" sz="2200" b="1" dirty="0">
                <a:solidFill>
                  <a:srgbClr val="222831"/>
                </a:solidFill>
                <a:latin typeface="Aptos Display" pitchFamily="34" charset="0"/>
                <a:ea typeface="Aptos Display" pitchFamily="34" charset="-122"/>
                <a:cs typeface="Aptos Display" pitchFamily="34" charset="-120"/>
              </a:rPr>
              <a:t>E</a:t>
            </a:r>
            <a:endParaRPr lang="en-US" sz="2200" dirty="0"/>
          </a:p>
        </p:txBody>
      </p:sp>
      <p:sp>
        <p:nvSpPr>
          <p:cNvPr id="16" name="Text 14"/>
          <p:cNvSpPr/>
          <p:nvPr/>
        </p:nvSpPr>
        <p:spPr>
          <a:xfrm>
            <a:off x="6784848" y="3794760"/>
            <a:ext cx="3977640" cy="566928"/>
          </a:xfrm>
          <a:prstGeom prst="rect">
            <a:avLst/>
          </a:prstGeom>
          <a:noFill/>
          <a:ln/>
        </p:spPr>
        <p:txBody>
          <a:bodyPr wrap="square" lIns="0" tIns="0" rIns="0" bIns="0" rtlCol="0" anchor="ctr"/>
          <a:lstStyle/>
          <a:p>
            <a:pPr algn="ctr" indent="0" marL="0">
              <a:buNone/>
            </a:pPr>
            <a:r>
              <a:rPr lang="en-US" sz="1600" dirty="0">
                <a:solidFill>
                  <a:srgbClr val="6B7178"/>
                </a:solidFill>
                <a:latin typeface="Aptos" pitchFamily="34" charset="0"/>
                <a:ea typeface="Aptos" pitchFamily="34" charset="-122"/>
                <a:cs typeface="Aptos" pitchFamily="34" charset="-120"/>
              </a:rPr>
              <a:t>P : performance</a:t>
            </a:r>
            <a:endParaRPr lang="en-US" sz="1600" dirty="0"/>
          </a:p>
          <a:p>
            <a:pPr algn="ctr" indent="0" marL="0">
              <a:buNone/>
            </a:pPr>
            <a:r>
              <a:rPr lang="en-US" sz="1600" dirty="0">
                <a:solidFill>
                  <a:srgbClr val="6B7178"/>
                </a:solidFill>
                <a:latin typeface="Aptos" pitchFamily="34" charset="0"/>
                <a:ea typeface="Aptos" pitchFamily="34" charset="-122"/>
                <a:cs typeface="Aptos" pitchFamily="34" charset="-120"/>
              </a:rPr>
              <a:t>E : efficacité / débit</a:t>
            </a:r>
            <a:endParaRPr lang="en-US" sz="1600" dirty="0"/>
          </a:p>
        </p:txBody>
      </p:sp>
      <p:sp>
        <p:nvSpPr>
          <p:cNvPr id="17" name="Text 15"/>
          <p:cNvSpPr/>
          <p:nvPr/>
        </p:nvSpPr>
        <p:spPr>
          <a:xfrm>
            <a:off x="6492240" y="4690872"/>
            <a:ext cx="4480560" cy="841248"/>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1600" b="1" dirty="0">
                <a:solidFill>
                  <a:srgbClr val="17324D"/>
                </a:solidFill>
                <a:latin typeface="Aptos" pitchFamily="34" charset="0"/>
                <a:ea typeface="Aptos" pitchFamily="34" charset="-122"/>
                <a:cs typeface="Aptos" pitchFamily="34" charset="-120"/>
              </a:rPr>
              <a:t>À RETENIR</a:t>
            </a:r>
            <a:endParaRPr lang="en-US" sz="1600" dirty="0"/>
          </a:p>
          <a:p>
            <a:pPr indent="0" marL="0">
              <a:buNone/>
            </a:pPr>
            <a:r>
              <a:rPr lang="en-US" sz="1600" dirty="0">
                <a:solidFill>
                  <a:srgbClr val="222831"/>
                </a:solidFill>
                <a:latin typeface="Aptos" pitchFamily="34" charset="0"/>
                <a:ea typeface="Aptos" pitchFamily="34" charset="-122"/>
                <a:cs typeface="Aptos" pitchFamily="34" charset="-120"/>
              </a:rPr>
              <a:t>Le nombre total de cœurs ne suffit pas : tous les cœurs ne sont pas nécessairement identiques.</a:t>
            </a:r>
            <a:endParaRPr lang="en-US" sz="1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PAYSAGE ACTUEL</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Apple Silicon — intégrer plutôt que remplacer</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73</a:t>
            </a:r>
            <a:endParaRPr lang="en-US" sz="820" dirty="0"/>
          </a:p>
        </p:txBody>
      </p:sp>
      <p:sp>
        <p:nvSpPr>
          <p:cNvPr id="7" name="Text 5"/>
          <p:cNvSpPr/>
          <p:nvPr/>
        </p:nvSpPr>
        <p:spPr>
          <a:xfrm>
            <a:off x="804672" y="1463040"/>
            <a:ext cx="2148840" cy="1188720"/>
          </a:xfrm>
          <a:prstGeom prst="rect">
            <a:avLst/>
          </a:prstGeom>
          <a:solidFill>
            <a:srgbClr val="222831"/>
          </a:solidFill>
          <a:ln>
            <a:solidFill>
              <a:srgbClr val="222831"/>
            </a:solidFill>
          </a:ln>
        </p:spPr>
        <p:txBody>
          <a:bodyPr wrap="square" lIns="635" tIns="635" rIns="635" bIns="635"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APPLE</a:t>
            </a:r>
            <a:endParaRPr lang="en-US" sz="3200" dirty="0"/>
          </a:p>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SILICON</a:t>
            </a:r>
            <a:endParaRPr lang="en-US" sz="3200" dirty="0"/>
          </a:p>
        </p:txBody>
      </p:sp>
      <p:sp>
        <p:nvSpPr>
          <p:cNvPr id="8" name="Text 6"/>
          <p:cNvSpPr/>
          <p:nvPr/>
        </p:nvSpPr>
        <p:spPr>
          <a:xfrm>
            <a:off x="822960" y="2788920"/>
            <a:ext cx="5394960" cy="2560320"/>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ISA : Arm64</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famille M — en 2026 : M6 et M5 Ultra parmi les produits annoncés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SoC : plusieurs fonctions majeures intégrées dans le même système sur puce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CPU + GPU + accélérateurs spécialisés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architecture à mémoire unifiée</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pas une plateforme de CPU de bureau remplaçable par socket</a:t>
            </a:r>
            <a:endParaRPr lang="en-US" sz="1800" dirty="0"/>
          </a:p>
        </p:txBody>
      </p:sp>
      <p:sp>
        <p:nvSpPr>
          <p:cNvPr id="9" name="Text 7"/>
          <p:cNvSpPr/>
          <p:nvPr/>
        </p:nvSpPr>
        <p:spPr>
          <a:xfrm>
            <a:off x="6565392" y="1572768"/>
            <a:ext cx="4526280" cy="411480"/>
          </a:xfrm>
          <a:prstGeom prst="rect">
            <a:avLst/>
          </a:prstGeom>
          <a:noFill/>
          <a:ln/>
        </p:spPr>
        <p:txBody>
          <a:bodyPr wrap="square" lIns="0" tIns="0" rIns="0" bIns="0" rtlCol="0" anchor="ctr"/>
          <a:lstStyle/>
          <a:p>
            <a:pPr algn="ctr" indent="0" marL="0">
              <a:buNone/>
            </a:pPr>
            <a:r>
              <a:rPr lang="en-US" sz="1300" b="1" spc="100" kern="0" dirty="0">
                <a:solidFill>
                  <a:srgbClr val="222831"/>
                </a:solidFill>
                <a:latin typeface="Aptos" pitchFamily="34" charset="0"/>
                <a:ea typeface="Aptos" pitchFamily="34" charset="-122"/>
                <a:cs typeface="Aptos" pitchFamily="34" charset="-120"/>
              </a:rPr>
              <a:t>SoC</a:t>
            </a:r>
            <a:endParaRPr lang="en-US" sz="1300" dirty="0"/>
          </a:p>
        </p:txBody>
      </p:sp>
      <p:sp>
        <p:nvSpPr>
          <p:cNvPr id="10" name="Shape 8"/>
          <p:cNvSpPr/>
          <p:nvPr/>
        </p:nvSpPr>
        <p:spPr>
          <a:xfrm>
            <a:off x="6601968" y="2011680"/>
            <a:ext cx="4434840" cy="2560320"/>
          </a:xfrm>
          <a:prstGeom prst="rect">
            <a:avLst/>
          </a:prstGeom>
          <a:solidFill>
            <a:srgbClr val="EEE9E1"/>
          </a:solidFill>
          <a:ln w="15240">
            <a:solidFill>
              <a:srgbClr val="222831"/>
            </a:solidFill>
            <a:prstDash val="solid"/>
          </a:ln>
        </p:spPr>
      </p:sp>
      <p:sp>
        <p:nvSpPr>
          <p:cNvPr id="11" name="Text 9"/>
          <p:cNvSpPr/>
          <p:nvPr/>
        </p:nvSpPr>
        <p:spPr>
          <a:xfrm>
            <a:off x="6903720" y="2340864"/>
            <a:ext cx="1417320" cy="749808"/>
          </a:xfrm>
          <a:prstGeom prst="rect">
            <a:avLst/>
          </a:prstGeom>
          <a:solidFill>
            <a:srgbClr val="17324D"/>
          </a:solidFill>
          <a:ln>
            <a:solidFill>
              <a:srgbClr val="17324D"/>
            </a:solid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CPU</a:t>
            </a:r>
            <a:endParaRPr lang="en-US" sz="2200" dirty="0"/>
          </a:p>
        </p:txBody>
      </p:sp>
      <p:sp>
        <p:nvSpPr>
          <p:cNvPr id="12" name="Text 10"/>
          <p:cNvSpPr/>
          <p:nvPr/>
        </p:nvSpPr>
        <p:spPr>
          <a:xfrm>
            <a:off x="8549640" y="2340864"/>
            <a:ext cx="1417320" cy="749808"/>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GPU</a:t>
            </a:r>
            <a:endParaRPr lang="en-US" sz="2200" dirty="0"/>
          </a:p>
        </p:txBody>
      </p:sp>
      <p:sp>
        <p:nvSpPr>
          <p:cNvPr id="13" name="Text 11"/>
          <p:cNvSpPr/>
          <p:nvPr/>
        </p:nvSpPr>
        <p:spPr>
          <a:xfrm>
            <a:off x="6903720" y="3401568"/>
            <a:ext cx="1417320" cy="822960"/>
          </a:xfrm>
          <a:prstGeom prst="rect">
            <a:avLst/>
          </a:prstGeom>
          <a:solidFill>
            <a:srgbClr val="F2E4CE"/>
          </a:solidFill>
          <a:ln>
            <a:solidFill>
              <a:srgbClr val="B5792A"/>
            </a:solidFill>
          </a:ln>
        </p:spPr>
        <p:txBody>
          <a:bodyPr wrap="square" lIns="254" tIns="254" rIns="254" bIns="254" rtlCol="0" anchor="ctr"/>
          <a:lstStyle/>
          <a:p>
            <a:pPr algn="ctr" indent="0" marL="0">
              <a:buNone/>
            </a:pPr>
            <a:r>
              <a:rPr lang="en-US" sz="1500" b="1" dirty="0">
                <a:solidFill>
                  <a:srgbClr val="222831"/>
                </a:solidFill>
                <a:latin typeface="Aptos" pitchFamily="34" charset="0"/>
                <a:ea typeface="Aptos" pitchFamily="34" charset="-122"/>
                <a:cs typeface="Aptos" pitchFamily="34" charset="-120"/>
              </a:rPr>
              <a:t>NEURAL</a:t>
            </a:r>
            <a:endParaRPr lang="en-US" sz="1500" dirty="0"/>
          </a:p>
          <a:p>
            <a:pPr algn="ctr" indent="0" marL="0">
              <a:buNone/>
            </a:pPr>
            <a:r>
              <a:rPr lang="en-US" sz="1500" b="1" dirty="0">
                <a:solidFill>
                  <a:srgbClr val="222831"/>
                </a:solidFill>
                <a:latin typeface="Aptos" pitchFamily="34" charset="0"/>
                <a:ea typeface="Aptos" pitchFamily="34" charset="-122"/>
                <a:cs typeface="Aptos" pitchFamily="34" charset="-120"/>
              </a:rPr>
              <a:t>ENGINE</a:t>
            </a:r>
            <a:endParaRPr lang="en-US" sz="1500" dirty="0"/>
          </a:p>
        </p:txBody>
      </p:sp>
      <p:sp>
        <p:nvSpPr>
          <p:cNvPr id="14" name="Text 12"/>
          <p:cNvSpPr/>
          <p:nvPr/>
        </p:nvSpPr>
        <p:spPr>
          <a:xfrm>
            <a:off x="8549640" y="3401568"/>
            <a:ext cx="1417320" cy="822960"/>
          </a:xfrm>
          <a:prstGeom prst="rect">
            <a:avLst/>
          </a:prstGeom>
          <a:solidFill>
            <a:srgbClr val="E3EBF1"/>
          </a:solidFill>
          <a:ln>
            <a:solidFill>
              <a:srgbClr val="17324D"/>
            </a:solidFill>
          </a:ln>
        </p:spPr>
        <p:txBody>
          <a:bodyPr wrap="square" lIns="254" tIns="254" rIns="254" bIns="254" rtlCol="0" anchor="ctr"/>
          <a:lstStyle/>
          <a:p>
            <a:pPr algn="ctr" indent="0" marL="0">
              <a:buNone/>
            </a:pPr>
            <a:r>
              <a:rPr lang="en-US" sz="1500" b="1" dirty="0">
                <a:solidFill>
                  <a:srgbClr val="222831"/>
                </a:solidFill>
                <a:latin typeface="Aptos" pitchFamily="34" charset="0"/>
                <a:ea typeface="Aptos" pitchFamily="34" charset="-122"/>
                <a:cs typeface="Aptos" pitchFamily="34" charset="-120"/>
              </a:rPr>
              <a:t>MÉMOIRE</a:t>
            </a:r>
            <a:endParaRPr lang="en-US" sz="1500" dirty="0"/>
          </a:p>
          <a:p>
            <a:pPr algn="ctr" indent="0" marL="0">
              <a:buNone/>
            </a:pPr>
            <a:r>
              <a:rPr lang="en-US" sz="1500" b="1" dirty="0">
                <a:solidFill>
                  <a:srgbClr val="222831"/>
                </a:solidFill>
                <a:latin typeface="Aptos" pitchFamily="34" charset="0"/>
                <a:ea typeface="Aptos" pitchFamily="34" charset="-122"/>
                <a:cs typeface="Aptos" pitchFamily="34" charset="-120"/>
              </a:rPr>
              <a:t>UNIFIÉE</a:t>
            </a:r>
            <a:endParaRPr lang="en-US" sz="1500" dirty="0"/>
          </a:p>
        </p:txBody>
      </p:sp>
      <p:sp>
        <p:nvSpPr>
          <p:cNvPr id="15" name="Text 13"/>
          <p:cNvSpPr/>
          <p:nvPr/>
        </p:nvSpPr>
        <p:spPr>
          <a:xfrm>
            <a:off x="6492240" y="4773168"/>
            <a:ext cx="4572000" cy="786384"/>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600" b="1" dirty="0">
                <a:solidFill>
                  <a:srgbClr val="222831"/>
                </a:solidFill>
                <a:latin typeface="Aptos" pitchFamily="34" charset="0"/>
                <a:ea typeface="Aptos" pitchFamily="34" charset="-122"/>
                <a:cs typeface="Aptos" pitchFamily="34" charset="-120"/>
              </a:rPr>
              <a:t>À RETENIR</a:t>
            </a:r>
            <a:endParaRPr lang="en-US" sz="1600" dirty="0"/>
          </a:p>
          <a:p>
            <a:pPr indent="0" marL="0">
              <a:buNone/>
            </a:pPr>
            <a:r>
              <a:rPr lang="en-US" sz="1600" dirty="0">
                <a:solidFill>
                  <a:srgbClr val="222831"/>
                </a:solidFill>
                <a:latin typeface="Aptos" pitchFamily="34" charset="0"/>
                <a:ea typeface="Aptos" pitchFamily="34" charset="-122"/>
                <a:cs typeface="Aptos" pitchFamily="34" charset="-120"/>
              </a:rPr>
              <a:t>Le processeur est conçu comme partie fortement intégrée du système plutôt que comme pièce interchangeable.</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PAYSAGE ACTUEL</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Qualcomm Snapdragon X — Windows sur Arm</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74</a:t>
            </a:r>
            <a:endParaRPr lang="en-US" sz="820" dirty="0"/>
          </a:p>
        </p:txBody>
      </p:sp>
      <p:sp>
        <p:nvSpPr>
          <p:cNvPr id="7" name="Text 5"/>
          <p:cNvSpPr/>
          <p:nvPr/>
        </p:nvSpPr>
        <p:spPr>
          <a:xfrm>
            <a:off x="822960" y="1572768"/>
            <a:ext cx="2148840" cy="310896"/>
          </a:xfrm>
          <a:prstGeom prst="rect">
            <a:avLst/>
          </a:prstGeom>
          <a:noFill/>
          <a:ln/>
        </p:spPr>
        <p:txBody>
          <a:bodyPr wrap="square" lIns="0" tIns="0" rIns="0" bIns="0" rtlCol="0" anchor="ctr"/>
          <a:lstStyle/>
          <a:p>
            <a:pPr indent="0" marL="0">
              <a:buNone/>
            </a:pPr>
            <a:r>
              <a:rPr lang="en-US" sz="1200" b="1" spc="110" kern="0" dirty="0">
                <a:solidFill>
                  <a:srgbClr val="2D6F6B"/>
                </a:solidFill>
                <a:latin typeface="Aptos" pitchFamily="34" charset="0"/>
                <a:ea typeface="Aptos" pitchFamily="34" charset="-122"/>
                <a:cs typeface="Aptos" pitchFamily="34" charset="-120"/>
              </a:rPr>
              <a:t>QUALCOMM</a:t>
            </a:r>
            <a:endParaRPr lang="en-US" sz="1200" dirty="0"/>
          </a:p>
        </p:txBody>
      </p:sp>
      <p:sp>
        <p:nvSpPr>
          <p:cNvPr id="8" name="Text 6"/>
          <p:cNvSpPr/>
          <p:nvPr/>
        </p:nvSpPr>
        <p:spPr>
          <a:xfrm>
            <a:off x="822960" y="1883664"/>
            <a:ext cx="4251960" cy="658368"/>
          </a:xfrm>
          <a:prstGeom prst="rect">
            <a:avLst/>
          </a:prstGeom>
          <a:solidFill>
            <a:srgbClr val="2D6F6B"/>
          </a:solidFill>
          <a:ln>
            <a:solidFill>
              <a:srgbClr val="2D6F6B"/>
            </a:solidFill>
          </a:ln>
        </p:spPr>
        <p:txBody>
          <a:bodyPr wrap="square" lIns="762" tIns="762" rIns="762" bIns="762" rtlCol="0" anchor="ctr"/>
          <a:lstStyle/>
          <a:p>
            <a:pPr algn="ctr" indent="0" marL="0">
              <a:buNone/>
            </a:pPr>
            <a:r>
              <a:rPr lang="en-US" sz="3100" b="1" dirty="0">
                <a:solidFill>
                  <a:srgbClr val="FFFFFF"/>
                </a:solidFill>
                <a:latin typeface="Aptos Display" pitchFamily="34" charset="0"/>
                <a:ea typeface="Aptos Display" pitchFamily="34" charset="-122"/>
                <a:cs typeface="Aptos Display" pitchFamily="34" charset="-120"/>
              </a:rPr>
              <a:t>SNAPDRAGON X</a:t>
            </a:r>
            <a:endParaRPr lang="en-US" sz="3100" dirty="0"/>
          </a:p>
        </p:txBody>
      </p:sp>
      <p:sp>
        <p:nvSpPr>
          <p:cNvPr id="9" name="Text 7"/>
          <p:cNvSpPr/>
          <p:nvPr/>
        </p:nvSpPr>
        <p:spPr>
          <a:xfrm>
            <a:off x="822960" y="2852928"/>
            <a:ext cx="5486400" cy="2578608"/>
          </a:xfrm>
          <a:prstGeom prst="rect">
            <a:avLst/>
          </a:prstGeom>
          <a:noFill/>
          <a:ln/>
        </p:spPr>
        <p:txBody>
          <a:bodyPr wrap="square" lIns="254" tIns="254" rIns="254" bIns="254" rtlCol="0" anchor="t"/>
          <a:lstStyle/>
          <a:p>
            <a:pPr marL="203200" indent="-203200">
              <a:buSzPct val="100000"/>
              <a:buChar char="•"/>
            </a:pPr>
            <a:r>
              <a:rPr lang="en-US" sz="1800" dirty="0">
                <a:solidFill>
                  <a:srgbClr val="222831"/>
                </a:solidFill>
                <a:latin typeface="Aptos" pitchFamily="34" charset="0"/>
                <a:ea typeface="Aptos" pitchFamily="34" charset="-122"/>
                <a:cs typeface="Aptos" pitchFamily="34" charset="-120"/>
              </a:rPr>
              <a:t>ISA : Arm64</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famille Snapdragon X2 en 2026</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CPU Qualcomm Oryon + GPU + NPU intégrés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SoC orienté notamment vers l’efficacité et les systèmes mobiles / compacts</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Windows 11 sur Arm</a:t>
            </a:r>
            <a:endParaRPr lang="en-US" sz="1800" dirty="0"/>
          </a:p>
          <a:p>
            <a:pPr marL="203200" indent="-203200">
              <a:buSzPct val="100000"/>
              <a:buChar char="•"/>
            </a:pPr>
            <a:r>
              <a:rPr lang="en-US" sz="1800" dirty="0">
                <a:solidFill>
                  <a:srgbClr val="222831"/>
                </a:solidFill>
                <a:latin typeface="Aptos" pitchFamily="34" charset="0"/>
                <a:ea typeface="Aptos" pitchFamily="34" charset="-122"/>
                <a:cs typeface="Aptos" pitchFamily="34" charset="-120"/>
              </a:rPr>
              <a:t>applications : Arm64 natives ou, pour beaucoup d’apps x86/x64, émulation / traduction</a:t>
            </a:r>
            <a:endParaRPr lang="en-US" sz="1800" dirty="0"/>
          </a:p>
        </p:txBody>
      </p:sp>
      <p:sp>
        <p:nvSpPr>
          <p:cNvPr id="10" name="Text 8"/>
          <p:cNvSpPr/>
          <p:nvPr/>
        </p:nvSpPr>
        <p:spPr>
          <a:xfrm>
            <a:off x="6675120" y="1572768"/>
            <a:ext cx="4297680" cy="411480"/>
          </a:xfrm>
          <a:prstGeom prst="rect">
            <a:avLst/>
          </a:prstGeom>
          <a:noFill/>
          <a:ln/>
        </p:spPr>
        <p:txBody>
          <a:bodyPr wrap="square" lIns="0" tIns="0" rIns="0" bIns="0" rtlCol="0" anchor="ctr"/>
          <a:lstStyle/>
          <a:p>
            <a:pPr algn="ctr" indent="0" marL="0">
              <a:buNone/>
            </a:pPr>
            <a:r>
              <a:rPr lang="en-US" sz="1300" b="1" spc="100" kern="0" dirty="0">
                <a:solidFill>
                  <a:srgbClr val="2D6F6B"/>
                </a:solidFill>
                <a:latin typeface="Aptos" pitchFamily="34" charset="0"/>
                <a:ea typeface="Aptos" pitchFamily="34" charset="-122"/>
                <a:cs typeface="Aptos" pitchFamily="34" charset="-120"/>
              </a:rPr>
              <a:t>WINDOWS ON ARM</a:t>
            </a:r>
            <a:endParaRPr lang="en-US" sz="1300" dirty="0"/>
          </a:p>
        </p:txBody>
      </p:sp>
      <p:sp>
        <p:nvSpPr>
          <p:cNvPr id="11" name="Text 9"/>
          <p:cNvSpPr/>
          <p:nvPr/>
        </p:nvSpPr>
        <p:spPr>
          <a:xfrm>
            <a:off x="6720840" y="2148840"/>
            <a:ext cx="1828800" cy="713232"/>
          </a:xfrm>
          <a:prstGeom prst="rect">
            <a:avLst/>
          </a:prstGeom>
          <a:solidFill>
            <a:srgbClr val="EEE9E1"/>
          </a:solidFill>
          <a:ln>
            <a:solidFill>
              <a:srgbClr val="CEC9BF"/>
            </a:solidFill>
          </a:ln>
        </p:spPr>
        <p:txBody>
          <a:bodyPr wrap="square" lIns="0" tIns="0" rIns="0" bIns="0" rtlCol="0" anchor="ctr"/>
          <a:lstStyle/>
          <a:p>
            <a:pPr algn="ctr" indent="0" marL="0">
              <a:buNone/>
            </a:pPr>
            <a:r>
              <a:rPr lang="en-US" sz="1900" b="1" dirty="0">
                <a:solidFill>
                  <a:srgbClr val="222831"/>
                </a:solidFill>
                <a:latin typeface="Aptos" pitchFamily="34" charset="0"/>
                <a:ea typeface="Aptos" pitchFamily="34" charset="-122"/>
                <a:cs typeface="Aptos" pitchFamily="34" charset="-120"/>
              </a:rPr>
              <a:t>APPLICATION</a:t>
            </a:r>
            <a:endParaRPr lang="en-US" sz="1900" dirty="0"/>
          </a:p>
        </p:txBody>
      </p:sp>
      <p:sp>
        <p:nvSpPr>
          <p:cNvPr id="12" name="Shape 10"/>
          <p:cNvSpPr/>
          <p:nvPr/>
        </p:nvSpPr>
        <p:spPr>
          <a:xfrm>
            <a:off x="8778240" y="2596896"/>
            <a:ext cx="594360" cy="0"/>
          </a:xfrm>
          <a:prstGeom prst="line">
            <a:avLst/>
          </a:prstGeom>
          <a:noFill/>
          <a:ln w="33020">
            <a:solidFill>
              <a:srgbClr val="B5792A"/>
            </a:solidFill>
            <a:prstDash val="solid"/>
            <a:headEnd type="none"/>
            <a:tailEnd type="triangle"/>
          </a:ln>
        </p:spPr>
      </p:sp>
      <p:sp>
        <p:nvSpPr>
          <p:cNvPr id="13" name="Text 11"/>
          <p:cNvSpPr/>
          <p:nvPr/>
        </p:nvSpPr>
        <p:spPr>
          <a:xfrm>
            <a:off x="9582912" y="2066544"/>
            <a:ext cx="1417320" cy="566928"/>
          </a:xfrm>
          <a:prstGeom prst="rect">
            <a:avLst/>
          </a:prstGeom>
          <a:solidFill>
            <a:srgbClr val="2D6F6B"/>
          </a:solidFill>
          <a:ln>
            <a:solidFill>
              <a:srgbClr val="2D6F6B"/>
            </a:solidFill>
          </a:ln>
        </p:spPr>
        <p:txBody>
          <a:bodyPr wrap="square" lIns="0" tIns="0" rIns="0" bIns="0" rtlCol="0" anchor="ctr"/>
          <a:lstStyle/>
          <a:p>
            <a:pPr algn="ctr" indent="0" marL="0">
              <a:buNone/>
            </a:pPr>
            <a:r>
              <a:rPr lang="en-US" sz="1600" b="1" dirty="0">
                <a:solidFill>
                  <a:srgbClr val="FFFFFF"/>
                </a:solidFill>
                <a:latin typeface="Aptos" pitchFamily="34" charset="0"/>
                <a:ea typeface="Aptos" pitchFamily="34" charset="-122"/>
                <a:cs typeface="Aptos" pitchFamily="34" charset="-120"/>
              </a:rPr>
              <a:t>Arm64 natif</a:t>
            </a:r>
            <a:endParaRPr lang="en-US" sz="1600" dirty="0"/>
          </a:p>
        </p:txBody>
      </p:sp>
      <p:sp>
        <p:nvSpPr>
          <p:cNvPr id="14" name="Text 12"/>
          <p:cNvSpPr/>
          <p:nvPr/>
        </p:nvSpPr>
        <p:spPr>
          <a:xfrm>
            <a:off x="9582912" y="2889504"/>
            <a:ext cx="1417320" cy="822960"/>
          </a:xfrm>
          <a:prstGeom prst="rect">
            <a:avLst/>
          </a:prstGeom>
          <a:solidFill>
            <a:srgbClr val="F2E4CE"/>
          </a:solidFill>
          <a:ln>
            <a:solidFill>
              <a:srgbClr val="B5792A"/>
            </a:solidFill>
          </a:ln>
        </p:spPr>
        <p:txBody>
          <a:bodyPr wrap="square" lIns="254" tIns="254" rIns="254" bIns="254" rtlCol="0" anchor="ctr"/>
          <a:lstStyle/>
          <a:p>
            <a:pPr algn="ctr" indent="0" marL="0">
              <a:buNone/>
            </a:pPr>
            <a:r>
              <a:rPr lang="en-US" sz="1500" b="1" dirty="0">
                <a:solidFill>
                  <a:srgbClr val="222831"/>
                </a:solidFill>
                <a:latin typeface="Aptos" pitchFamily="34" charset="0"/>
                <a:ea typeface="Aptos" pitchFamily="34" charset="-122"/>
                <a:cs typeface="Aptos" pitchFamily="34" charset="-120"/>
              </a:rPr>
              <a:t>ou Prism</a:t>
            </a:r>
            <a:endParaRPr lang="en-US" sz="1500" dirty="0"/>
          </a:p>
          <a:p>
            <a:pPr algn="ctr" indent="0" marL="0">
              <a:buNone/>
            </a:pPr>
            <a:r>
              <a:rPr lang="en-US" sz="1500" b="1" dirty="0">
                <a:solidFill>
                  <a:srgbClr val="222831"/>
                </a:solidFill>
                <a:latin typeface="Aptos" pitchFamily="34" charset="0"/>
                <a:ea typeface="Aptos" pitchFamily="34" charset="-122"/>
                <a:cs typeface="Aptos" pitchFamily="34" charset="-120"/>
              </a:rPr>
              <a:t>(x86/x64)</a:t>
            </a:r>
            <a:endParaRPr lang="en-US" sz="1500" dirty="0"/>
          </a:p>
        </p:txBody>
      </p:sp>
      <p:sp>
        <p:nvSpPr>
          <p:cNvPr id="15" name="Text 13"/>
          <p:cNvSpPr/>
          <p:nvPr/>
        </p:nvSpPr>
        <p:spPr>
          <a:xfrm>
            <a:off x="6510528" y="4187952"/>
            <a:ext cx="4526280" cy="123444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1600" b="1" dirty="0">
                <a:solidFill>
                  <a:srgbClr val="2D6F6B"/>
                </a:solidFill>
                <a:latin typeface="Aptos" pitchFamily="34" charset="0"/>
                <a:ea typeface="Aptos" pitchFamily="34" charset="-122"/>
                <a:cs typeface="Aptos" pitchFamily="34" charset="-120"/>
              </a:rPr>
              <a:t>À RETENIR</a:t>
            </a:r>
            <a:endParaRPr lang="en-US" sz="1600" dirty="0"/>
          </a:p>
          <a:p>
            <a:pPr indent="0" marL="0">
              <a:buNone/>
            </a:pPr>
            <a:r>
              <a:rPr lang="en-US" sz="1600" dirty="0">
                <a:solidFill>
                  <a:srgbClr val="222831"/>
                </a:solidFill>
                <a:latin typeface="Aptos" pitchFamily="34" charset="0"/>
                <a:ea typeface="Aptos" pitchFamily="34" charset="-122"/>
                <a:cs typeface="Aptos" pitchFamily="34" charset="-120"/>
              </a:rPr>
              <a:t>L’ISA est une contrainte pratique de plateforme : logiciels, pilotes et composants système doivent être compatibles.</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ÉVALUATION</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La marque n’est pas le besoin</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75</a:t>
            </a:r>
            <a:endParaRPr lang="en-US" sz="820" dirty="0"/>
          </a:p>
        </p:txBody>
      </p:sp>
      <p:sp>
        <p:nvSpPr>
          <p:cNvPr id="7" name="Text 5"/>
          <p:cNvSpPr/>
          <p:nvPr/>
        </p:nvSpPr>
        <p:spPr>
          <a:xfrm>
            <a:off x="658368" y="1664208"/>
            <a:ext cx="2578608" cy="210312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B5792A"/>
                </a:solidFill>
                <a:latin typeface="Aptos" pitchFamily="34" charset="0"/>
                <a:ea typeface="Aptos" pitchFamily="34" charset="-122"/>
                <a:cs typeface="Aptos" pitchFamily="34" charset="-120"/>
              </a:rPr>
              <a:t>JEU</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cache • latence • GPU associé • tests réels</a:t>
            </a:r>
            <a:endParaRPr lang="en-US" sz="1800" dirty="0"/>
          </a:p>
        </p:txBody>
      </p:sp>
      <p:sp>
        <p:nvSpPr>
          <p:cNvPr id="8" name="Text 6"/>
          <p:cNvSpPr/>
          <p:nvPr/>
        </p:nvSpPr>
        <p:spPr>
          <a:xfrm>
            <a:off x="3529584" y="1664208"/>
            <a:ext cx="2578608" cy="210312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RENDU / COMPILATION</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parallélisme • performance soutenue</a:t>
            </a:r>
            <a:endParaRPr lang="en-US" sz="1800" dirty="0"/>
          </a:p>
        </p:txBody>
      </p:sp>
      <p:sp>
        <p:nvSpPr>
          <p:cNvPr id="9" name="Text 7"/>
          <p:cNvSpPr/>
          <p:nvPr/>
        </p:nvSpPr>
        <p:spPr>
          <a:xfrm>
            <a:off x="6400800" y="1664208"/>
            <a:ext cx="2578608" cy="210312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B5792A"/>
                </a:solidFill>
                <a:latin typeface="Aptos" pitchFamily="34" charset="0"/>
                <a:ea typeface="Aptos" pitchFamily="34" charset="-122"/>
                <a:cs typeface="Aptos" pitchFamily="34" charset="-120"/>
              </a:rPr>
              <a:t>BUREAUTIQUE</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coût • iGPU • silence • suffisance</a:t>
            </a:r>
            <a:endParaRPr lang="en-US" sz="1800" dirty="0"/>
          </a:p>
        </p:txBody>
      </p:sp>
      <p:sp>
        <p:nvSpPr>
          <p:cNvPr id="10" name="Text 8"/>
          <p:cNvSpPr/>
          <p:nvPr/>
        </p:nvSpPr>
        <p:spPr>
          <a:xfrm>
            <a:off x="9272016" y="1664208"/>
            <a:ext cx="2578608" cy="210312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MOBILE</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efficacité • thermique • autonomie • intégration</a:t>
            </a:r>
            <a:endParaRPr lang="en-US" sz="1800" dirty="0"/>
          </a:p>
        </p:txBody>
      </p:sp>
      <p:sp>
        <p:nvSpPr>
          <p:cNvPr id="11" name="Text 9"/>
          <p:cNvSpPr/>
          <p:nvPr/>
        </p:nvSpPr>
        <p:spPr>
          <a:xfrm>
            <a:off x="1051560" y="4325112"/>
            <a:ext cx="10058400" cy="566928"/>
          </a:xfrm>
          <a:prstGeom prst="rect">
            <a:avLst/>
          </a:prstGeom>
          <a:noFill/>
          <a:ln/>
        </p:spPr>
        <p:txBody>
          <a:bodyPr wrap="square" lIns="0" tIns="0" rIns="0" bIns="0" rtlCol="0" anchor="ctr"/>
          <a:lstStyle/>
          <a:p>
            <a:pPr algn="ctr" indent="0" marL="0">
              <a:buNone/>
            </a:pPr>
            <a:r>
              <a:rPr lang="en-US" sz="2500" b="1" dirty="0">
                <a:solidFill>
                  <a:srgbClr val="17324D"/>
                </a:solidFill>
                <a:latin typeface="Aptos Display" pitchFamily="34" charset="0"/>
                <a:ea typeface="Aptos Display" pitchFamily="34" charset="-122"/>
                <a:cs typeface="Aptos Display" pitchFamily="34" charset="-120"/>
              </a:rPr>
              <a:t>Quelle colonne dit « AMD », « Intel », « Apple » ou « Qualcomm »?</a:t>
            </a:r>
            <a:endParaRPr lang="en-US" sz="2500" dirty="0"/>
          </a:p>
        </p:txBody>
      </p:sp>
      <p:sp>
        <p:nvSpPr>
          <p:cNvPr id="12" name="Text 10"/>
          <p:cNvSpPr/>
          <p:nvPr/>
        </p:nvSpPr>
        <p:spPr>
          <a:xfrm>
            <a:off x="2103120" y="5029200"/>
            <a:ext cx="8001000" cy="530352"/>
          </a:xfrm>
          <a:prstGeom prst="rect">
            <a:avLst/>
          </a:prstGeom>
          <a:noFill/>
          <a:ln/>
        </p:spPr>
        <p:txBody>
          <a:bodyPr wrap="square" lIns="0" tIns="0" rIns="0" bIns="0" rtlCol="0" anchor="ctr"/>
          <a:lstStyle/>
          <a:p>
            <a:pPr algn="ctr" indent="0" marL="0">
              <a:buNone/>
            </a:pPr>
            <a:r>
              <a:rPr lang="en-US" sz="2300" b="1" dirty="0">
                <a:solidFill>
                  <a:srgbClr val="2D6F6B"/>
                </a:solidFill>
                <a:latin typeface="Aptos" pitchFamily="34" charset="0"/>
                <a:ea typeface="Aptos" pitchFamily="34" charset="-122"/>
                <a:cs typeface="Aptos" pitchFamily="34" charset="-120"/>
              </a:rPr>
              <a:t>Aucune.  Besoin → critères → preuves.</a:t>
            </a:r>
            <a:endParaRPr lang="en-US" sz="2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LIRE UNE FICHE CPU</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Chaque chiffre répond à une question différente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76</a:t>
            </a:r>
            <a:endParaRPr lang="en-US" sz="82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868680" y="1435608"/>
          <a:ext cx="10469880" cy="4297680"/>
        </p:xfrm>
        <a:graphic>
          <a:graphicData uri="http://schemas.openxmlformats.org/drawingml/2006/table">
            <a:tbl>
              <a:tblPr/>
              <a:tblGrid>
                <a:gridCol w="2788920"/>
                <a:gridCol w="7680960"/>
              </a:tblGrid>
              <a:tr h="502920">
                <a:tc>
                  <a:txBody>
                    <a:bodyPr/>
                    <a:lstStyle/>
                    <a:p>
                      <a:pPr indent="0" marL="0">
                        <a:buNone/>
                      </a:pPr>
                      <a:r>
                        <a:rPr lang="en-US" sz="1600" b="1" dirty="0">
                          <a:solidFill>
                            <a:srgbClr val="222831"/>
                          </a:solidFill>
                          <a:latin typeface="Aptos" pitchFamily="34" charset="0"/>
                          <a:ea typeface="Aptos" pitchFamily="34" charset="-122"/>
                          <a:cs typeface="Aptos" pitchFamily="34" charset="-120"/>
                        </a:rPr>
                        <a:t>CARACTÉRISTIQUE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b="1" dirty="0">
                          <a:solidFill>
                            <a:srgbClr val="222831"/>
                          </a:solidFill>
                          <a:latin typeface="Aptos" pitchFamily="34" charset="0"/>
                          <a:ea typeface="Aptos" pitchFamily="34" charset="-122"/>
                          <a:cs typeface="Aptos" pitchFamily="34" charset="-120"/>
                        </a:rPr>
                        <a:t>QUESTION UTILE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222831"/>
                          </a:solidFill>
                          <a:latin typeface="Aptos" pitchFamily="34" charset="0"/>
                          <a:ea typeface="Aptos" pitchFamily="34" charset="-122"/>
                          <a:cs typeface="Aptos" pitchFamily="34" charset="-120"/>
                        </a:rPr>
                        <a:t>Cœurs / fils</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dirty="0">
                          <a:solidFill>
                            <a:srgbClr val="222831"/>
                          </a:solidFill>
                          <a:latin typeface="Aptos" pitchFamily="34" charset="0"/>
                          <a:ea typeface="Aptos" pitchFamily="34" charset="-122"/>
                          <a:cs typeface="Aptos" pitchFamily="34" charset="-120"/>
                        </a:rPr>
                        <a:t>Le logiciel exploite-t-il réellement le parallélisme?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222831"/>
                          </a:solidFill>
                          <a:latin typeface="Aptos" pitchFamily="34" charset="0"/>
                          <a:ea typeface="Aptos" pitchFamily="34" charset="-122"/>
                          <a:cs typeface="Aptos" pitchFamily="34" charset="-120"/>
                        </a:rPr>
                        <a:t>Fréquence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dirty="0">
                          <a:solidFill>
                            <a:srgbClr val="222831"/>
                          </a:solidFill>
                          <a:latin typeface="Aptos" pitchFamily="34" charset="0"/>
                          <a:ea typeface="Aptos" pitchFamily="34" charset="-122"/>
                          <a:cs typeface="Aptos" pitchFamily="34" charset="-120"/>
                        </a:rPr>
                        <a:t>Que signifie ce chiffre dans cette architecture et cette charge?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222831"/>
                          </a:solidFill>
                          <a:latin typeface="Aptos" pitchFamily="34" charset="0"/>
                          <a:ea typeface="Aptos" pitchFamily="34" charset="-122"/>
                          <a:cs typeface="Aptos" pitchFamily="34" charset="-120"/>
                        </a:rPr>
                        <a:t>Cache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dirty="0">
                          <a:solidFill>
                            <a:srgbClr val="222831"/>
                          </a:solidFill>
                          <a:latin typeface="Aptos" pitchFamily="34" charset="0"/>
                          <a:ea typeface="Aptos" pitchFamily="34" charset="-122"/>
                          <a:cs typeface="Aptos" pitchFamily="34" charset="-120"/>
                        </a:rPr>
                        <a:t>Quel niveau / quelle organisation / quel bénéfice pour ce travail?</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222831"/>
                          </a:solidFill>
                          <a:latin typeface="Aptos" pitchFamily="34" charset="0"/>
                          <a:ea typeface="Aptos" pitchFamily="34" charset="-122"/>
                          <a:cs typeface="Aptos" pitchFamily="34" charset="-120"/>
                        </a:rPr>
                        <a:t>ISA</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dirty="0">
                          <a:solidFill>
                            <a:srgbClr val="222831"/>
                          </a:solidFill>
                          <a:latin typeface="Aptos" pitchFamily="34" charset="0"/>
                          <a:ea typeface="Aptos" pitchFamily="34" charset="-122"/>
                          <a:cs typeface="Aptos" pitchFamily="34" charset="-120"/>
                        </a:rPr>
                        <a:t>OS et logiciels sont-ils compatibles?</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222831"/>
                          </a:solidFill>
                          <a:latin typeface="Aptos" pitchFamily="34" charset="0"/>
                          <a:ea typeface="Aptos" pitchFamily="34" charset="-122"/>
                          <a:cs typeface="Aptos" pitchFamily="34" charset="-120"/>
                        </a:rPr>
                        <a:t>Socket / plateforme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dirty="0">
                          <a:solidFill>
                            <a:srgbClr val="222831"/>
                          </a:solidFill>
                          <a:latin typeface="Aptos" pitchFamily="34" charset="0"/>
                          <a:ea typeface="Aptos" pitchFamily="34" charset="-122"/>
                          <a:cs typeface="Aptos" pitchFamily="34" charset="-120"/>
                        </a:rPr>
                        <a:t>La carte mère peut-elle réellement le prendre en charge?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222831"/>
                          </a:solidFill>
                          <a:latin typeface="Aptos" pitchFamily="34" charset="0"/>
                          <a:ea typeface="Aptos" pitchFamily="34" charset="-122"/>
                          <a:cs typeface="Aptos" pitchFamily="34" charset="-120"/>
                        </a:rPr>
                        <a:t>Puissance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dirty="0">
                          <a:solidFill>
                            <a:srgbClr val="222831"/>
                          </a:solidFill>
                          <a:latin typeface="Aptos" pitchFamily="34" charset="0"/>
                          <a:ea typeface="Aptos" pitchFamily="34" charset="-122"/>
                          <a:cs typeface="Aptos" pitchFamily="34" charset="-120"/>
                        </a:rPr>
                        <a:t>Refroidissement et alimentation conviennent-ils?</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222831"/>
                          </a:solidFill>
                          <a:latin typeface="Aptos" pitchFamily="34" charset="0"/>
                          <a:ea typeface="Aptos" pitchFamily="34" charset="-122"/>
                          <a:cs typeface="Aptos" pitchFamily="34" charset="-120"/>
                        </a:rPr>
                        <a:t>iGPU</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600" dirty="0">
                          <a:solidFill>
                            <a:srgbClr val="222831"/>
                          </a:solidFill>
                          <a:latin typeface="Aptos" pitchFamily="34" charset="0"/>
                          <a:ea typeface="Aptos" pitchFamily="34" charset="-122"/>
                          <a:cs typeface="Aptos" pitchFamily="34" charset="-120"/>
                        </a:rPr>
                        <a:t>Une carte graphique distincte est-elle nécessaire?</a:t>
                      </a:r>
                      <a:endParaRPr lang="en-US" sz="1600" dirty="0">
                        <a:latin typeface="Aptos" charset="0"/>
                        <a:ea typeface="Aptos" charset="0"/>
                        <a:cs typeface="Aptos" charset="0"/>
                      </a:endParaRPr>
                    </a:p>
                  </a:txBody>
                  <a:tcPr marL="82296" marR="82296" marT="82296" marB="82296"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LABORATOIRE 5</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Processeur A ou B?</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77</a:t>
            </a:r>
            <a:endParaRPr lang="en-US" sz="82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58952" y="1444752"/>
          <a:ext cx="7178040" cy="4160520"/>
        </p:xfrm>
        <a:graphic>
          <a:graphicData uri="http://schemas.openxmlformats.org/drawingml/2006/table">
            <a:tbl>
              <a:tblPr/>
              <a:tblGrid>
                <a:gridCol w="2971800"/>
                <a:gridCol w="2103120"/>
                <a:gridCol w="2103120"/>
              </a:tblGrid>
              <a:tr h="530352">
                <a:tc>
                  <a:txBody>
                    <a:bodyPr/>
                    <a:lstStyle/>
                    <a:p>
                      <a:pPr indent="0" marL="0">
                        <a:buNone/>
                      </a:pPr>
                      <a:r>
                        <a:rPr lang="en-US" sz="1550" b="1" dirty="0">
                          <a:solidFill>
                            <a:srgbClr val="222831"/>
                          </a:solidFill>
                          <a:latin typeface="Aptos" pitchFamily="34" charset="0"/>
                          <a:ea typeface="Aptos" pitchFamily="34" charset="-122"/>
                          <a:cs typeface="Aptos" pitchFamily="34" charset="-120"/>
                        </a:rPr>
                        <a:t>Caractéristique</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b="1" dirty="0">
                          <a:solidFill>
                            <a:srgbClr val="222831"/>
                          </a:solidFill>
                          <a:latin typeface="Aptos" pitchFamily="34" charset="0"/>
                          <a:ea typeface="Aptos" pitchFamily="34" charset="-122"/>
                          <a:cs typeface="Aptos" pitchFamily="34" charset="-120"/>
                        </a:rPr>
                        <a:t>Processeur A</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b="1" dirty="0">
                          <a:solidFill>
                            <a:srgbClr val="222831"/>
                          </a:solidFill>
                          <a:latin typeface="Aptos" pitchFamily="34" charset="0"/>
                          <a:ea typeface="Aptos" pitchFamily="34" charset="-122"/>
                          <a:cs typeface="Aptos" pitchFamily="34" charset="-120"/>
                        </a:rPr>
                        <a:t>Processeur B</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550" dirty="0">
                          <a:solidFill>
                            <a:srgbClr val="222831"/>
                          </a:solidFill>
                          <a:latin typeface="Aptos" pitchFamily="34" charset="0"/>
                          <a:ea typeface="Aptos" pitchFamily="34" charset="-122"/>
                          <a:cs typeface="Aptos" pitchFamily="34" charset="-120"/>
                        </a:rPr>
                        <a:t>Cœurs / fils</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6 / 12</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12 / 16</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550" dirty="0">
                          <a:solidFill>
                            <a:srgbClr val="222831"/>
                          </a:solidFill>
                          <a:latin typeface="Aptos" pitchFamily="34" charset="0"/>
                          <a:ea typeface="Aptos" pitchFamily="34" charset="-122"/>
                          <a:cs typeface="Aptos" pitchFamily="34" charset="-120"/>
                        </a:rPr>
                        <a:t>Fréquence max.</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4,9 GHz</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4,5 GHz</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550" dirty="0">
                          <a:solidFill>
                            <a:srgbClr val="222831"/>
                          </a:solidFill>
                          <a:latin typeface="Aptos" pitchFamily="34" charset="0"/>
                          <a:ea typeface="Aptos" pitchFamily="34" charset="-122"/>
                          <a:cs typeface="Aptos" pitchFamily="34" charset="-120"/>
                        </a:rPr>
                        <a:t>Cache L3</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18 Mo</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30 Mo</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550" dirty="0">
                          <a:solidFill>
                            <a:srgbClr val="222831"/>
                          </a:solidFill>
                          <a:latin typeface="Aptos" pitchFamily="34" charset="0"/>
                          <a:ea typeface="Aptos" pitchFamily="34" charset="-122"/>
                          <a:cs typeface="Aptos" pitchFamily="34" charset="-120"/>
                        </a:rPr>
                        <a:t>Puissance indiquée</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65 W</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125 W</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550" dirty="0">
                          <a:solidFill>
                            <a:srgbClr val="222831"/>
                          </a:solidFill>
                          <a:latin typeface="Aptos" pitchFamily="34" charset="0"/>
                          <a:ea typeface="Aptos" pitchFamily="34" charset="-122"/>
                          <a:cs typeface="Aptos" pitchFamily="34" charset="-120"/>
                        </a:rPr>
                        <a:t>Graphique intégré</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Oui</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Non</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r h="530352">
                <a:tc>
                  <a:txBody>
                    <a:bodyPr/>
                    <a:lstStyle/>
                    <a:p>
                      <a:pPr indent="0" marL="0">
                        <a:buNone/>
                      </a:pPr>
                      <a:r>
                        <a:rPr lang="en-US" sz="1550" dirty="0">
                          <a:solidFill>
                            <a:srgbClr val="222831"/>
                          </a:solidFill>
                          <a:latin typeface="Aptos" pitchFamily="34" charset="0"/>
                          <a:ea typeface="Aptos" pitchFamily="34" charset="-122"/>
                          <a:cs typeface="Aptos" pitchFamily="34" charset="-120"/>
                        </a:rPr>
                        <a:t>Prix fictif</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260 $</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c>
                  <a:txBody>
                    <a:bodyPr/>
                    <a:lstStyle/>
                    <a:p>
                      <a:pPr indent="0" marL="0">
                        <a:buNone/>
                      </a:pPr>
                      <a:r>
                        <a:rPr lang="en-US" sz="1550" dirty="0">
                          <a:solidFill>
                            <a:srgbClr val="222831"/>
                          </a:solidFill>
                          <a:latin typeface="Aptos" pitchFamily="34" charset="0"/>
                          <a:ea typeface="Aptos" pitchFamily="34" charset="-122"/>
                          <a:cs typeface="Aptos" pitchFamily="34" charset="-120"/>
                        </a:rPr>
                        <a:t>430 $</a:t>
                      </a:r>
                      <a:endParaRPr lang="en-US" sz="1550" dirty="0">
                        <a:latin typeface="Aptos" charset="0"/>
                        <a:ea typeface="Aptos" charset="0"/>
                        <a:cs typeface="Aptos" charset="0"/>
                      </a:endParaRPr>
                    </a:p>
                  </a:txBody>
                  <a:tcPr marL="73152" marR="73152" marT="73152" marB="73152" anchor="mid">
                    <a:lnL w="12700" cap="flat" cmpd="sng" algn="ctr">
                      <a:solidFill>
                        <a:srgbClr val="CEC9BF"/>
                      </a:solidFill>
                      <a:prstDash val="solid"/>
                      <a:round/>
                      <a:headEnd type="none" w="med" len="med"/>
                      <a:tailEnd type="none" w="med" len="med"/>
                    </a:lnL>
                    <a:lnR w="12700" cap="flat" cmpd="sng" algn="ctr">
                      <a:solidFill>
                        <a:srgbClr val="CEC9BF"/>
                      </a:solidFill>
                      <a:prstDash val="solid"/>
                      <a:round/>
                      <a:headEnd type="none" w="med" len="med"/>
                      <a:tailEnd type="none" w="med" len="med"/>
                    </a:lnR>
                    <a:lnT w="12700" cap="flat" cmpd="sng" algn="ctr">
                      <a:solidFill>
                        <a:srgbClr val="CEC9BF"/>
                      </a:solidFill>
                      <a:prstDash val="solid"/>
                      <a:round/>
                      <a:headEnd type="none" w="med" len="med"/>
                      <a:tailEnd type="none" w="med" len="med"/>
                    </a:lnT>
                    <a:lnB w="12700" cap="flat" cmpd="sng" algn="ctr">
                      <a:solidFill>
                        <a:srgbClr val="CEC9BF"/>
                      </a:solidFill>
                      <a:prstDash val="solid"/>
                      <a:round/>
                      <a:headEnd type="none" w="med" len="med"/>
                      <a:tailEnd type="none" w="med" len="med"/>
                    </a:lnB>
                    <a:solidFill>
                      <a:srgbClr val="FFFFFF"/>
                    </a:solidFill>
                  </a:tcPr>
                </a:tc>
              </a:tr>
            </a:tbl>
          </a:graphicData>
        </a:graphic>
      </p:graphicFrame>
      <p:sp>
        <p:nvSpPr>
          <p:cNvPr id="8" name="Text 5"/>
          <p:cNvSpPr/>
          <p:nvPr/>
        </p:nvSpPr>
        <p:spPr>
          <a:xfrm>
            <a:off x="8275320" y="1627632"/>
            <a:ext cx="2560320" cy="365760"/>
          </a:xfrm>
          <a:prstGeom prst="rect">
            <a:avLst/>
          </a:prstGeom>
          <a:noFill/>
          <a:ln/>
        </p:spPr>
        <p:txBody>
          <a:bodyPr wrap="square" lIns="0" tIns="0" rIns="0" bIns="0" rtlCol="0" anchor="ctr"/>
          <a:lstStyle/>
          <a:p>
            <a:pPr indent="0" marL="0">
              <a:buNone/>
            </a:pPr>
            <a:r>
              <a:rPr lang="en-US" sz="1300" b="1" spc="100" kern="0" dirty="0">
                <a:solidFill>
                  <a:srgbClr val="B5792A"/>
                </a:solidFill>
                <a:latin typeface="Aptos" pitchFamily="34" charset="0"/>
                <a:ea typeface="Aptos" pitchFamily="34" charset="-122"/>
                <a:cs typeface="Aptos" pitchFamily="34" charset="-120"/>
              </a:rPr>
              <a:t>SCÉNARIO 1</a:t>
            </a:r>
            <a:endParaRPr lang="en-US" sz="1300" dirty="0"/>
          </a:p>
        </p:txBody>
      </p:sp>
      <p:sp>
        <p:nvSpPr>
          <p:cNvPr id="9" name="Text 6"/>
          <p:cNvSpPr/>
          <p:nvPr/>
        </p:nvSpPr>
        <p:spPr>
          <a:xfrm>
            <a:off x="8275320" y="2048256"/>
            <a:ext cx="2651760" cy="1143000"/>
          </a:xfrm>
          <a:prstGeom prst="rect">
            <a:avLst/>
          </a:prstGeom>
          <a:noFill/>
          <a:ln/>
        </p:spPr>
        <p:txBody>
          <a:bodyPr wrap="square" lIns="0" tIns="0" rIns="0" bIns="0" rtlCol="0" anchor="ctr"/>
          <a:lstStyle/>
          <a:p>
            <a:pPr indent="0" marL="0">
              <a:buNone/>
            </a:pPr>
            <a:r>
              <a:rPr lang="en-US" sz="1900" b="1" dirty="0">
                <a:solidFill>
                  <a:srgbClr val="222831"/>
                </a:solidFill>
                <a:latin typeface="Aptos" pitchFamily="34" charset="0"/>
                <a:ea typeface="Aptos" pitchFamily="34" charset="-122"/>
                <a:cs typeface="Aptos" pitchFamily="34" charset="-120"/>
              </a:rPr>
              <a:t>PC bureautique</a:t>
            </a:r>
            <a:endParaRPr lang="en-US" sz="1900" dirty="0"/>
          </a:p>
          <a:p>
            <a:pPr indent="0" marL="0">
              <a:buNone/>
            </a:pPr>
            <a:r>
              <a:rPr lang="en-US" sz="1900" b="1" dirty="0">
                <a:solidFill>
                  <a:srgbClr val="222831"/>
                </a:solidFill>
                <a:latin typeface="Aptos" pitchFamily="34" charset="0"/>
                <a:ea typeface="Aptos" pitchFamily="34" charset="-122"/>
                <a:cs typeface="Aptos" pitchFamily="34" charset="-120"/>
              </a:rPr>
              <a:t>sans GPU distinct</a:t>
            </a:r>
            <a:endParaRPr lang="en-US" sz="1900" dirty="0"/>
          </a:p>
          <a:p>
            <a:pPr indent="0" marL="0">
              <a:buNone/>
            </a:pPr>
            <a:r>
              <a:rPr lang="en-US" sz="1900" b="1" dirty="0">
                <a:solidFill>
                  <a:srgbClr val="222831"/>
                </a:solidFill>
                <a:latin typeface="Aptos" pitchFamily="34" charset="0"/>
                <a:ea typeface="Aptos" pitchFamily="34" charset="-122"/>
                <a:cs typeface="Aptos" pitchFamily="34" charset="-120"/>
              </a:rPr>
              <a:t>budget limité</a:t>
            </a:r>
            <a:endParaRPr lang="en-US" sz="1900" dirty="0"/>
          </a:p>
        </p:txBody>
      </p:sp>
      <p:sp>
        <p:nvSpPr>
          <p:cNvPr id="10" name="Text 7"/>
          <p:cNvSpPr/>
          <p:nvPr/>
        </p:nvSpPr>
        <p:spPr>
          <a:xfrm>
            <a:off x="8275320" y="3493008"/>
            <a:ext cx="2560320" cy="365760"/>
          </a:xfrm>
          <a:prstGeom prst="rect">
            <a:avLst/>
          </a:prstGeom>
          <a:noFill/>
          <a:ln/>
        </p:spPr>
        <p:txBody>
          <a:bodyPr wrap="square" lIns="0" tIns="0" rIns="0" bIns="0" rtlCol="0" anchor="ctr"/>
          <a:lstStyle/>
          <a:p>
            <a:pPr indent="0" marL="0">
              <a:buNone/>
            </a:pPr>
            <a:r>
              <a:rPr lang="en-US" sz="1300" b="1" spc="100" kern="0" dirty="0">
                <a:solidFill>
                  <a:srgbClr val="2D6F6B"/>
                </a:solidFill>
                <a:latin typeface="Aptos" pitchFamily="34" charset="0"/>
                <a:ea typeface="Aptos" pitchFamily="34" charset="-122"/>
                <a:cs typeface="Aptos" pitchFamily="34" charset="-120"/>
              </a:rPr>
              <a:t>SCÉNARIO 2</a:t>
            </a:r>
            <a:endParaRPr lang="en-US" sz="1300" dirty="0"/>
          </a:p>
        </p:txBody>
      </p:sp>
      <p:sp>
        <p:nvSpPr>
          <p:cNvPr id="11" name="Text 8"/>
          <p:cNvSpPr/>
          <p:nvPr/>
        </p:nvSpPr>
        <p:spPr>
          <a:xfrm>
            <a:off x="8275320" y="3913632"/>
            <a:ext cx="2834640" cy="1207008"/>
          </a:xfrm>
          <a:prstGeom prst="rect">
            <a:avLst/>
          </a:prstGeom>
          <a:noFill/>
          <a:ln/>
        </p:spPr>
        <p:txBody>
          <a:bodyPr wrap="square" lIns="0" tIns="0" rIns="0" bIns="0" rtlCol="0" anchor="ctr"/>
          <a:lstStyle/>
          <a:p>
            <a:pPr indent="0" marL="0">
              <a:buNone/>
            </a:pPr>
            <a:r>
              <a:rPr lang="en-US" sz="1800" b="1" dirty="0">
                <a:solidFill>
                  <a:srgbClr val="222831"/>
                </a:solidFill>
                <a:latin typeface="Aptos" pitchFamily="34" charset="0"/>
                <a:ea typeface="Aptos" pitchFamily="34" charset="-122"/>
                <a:cs typeface="Aptos" pitchFamily="34" charset="-120"/>
              </a:rPr>
              <a:t>rendu parallèle</a:t>
            </a:r>
            <a:endParaRPr lang="en-US" sz="1800" dirty="0"/>
          </a:p>
          <a:p>
            <a:pPr indent="0" marL="0">
              <a:buNone/>
            </a:pPr>
            <a:r>
              <a:rPr lang="en-US" sz="1800" b="1" dirty="0">
                <a:solidFill>
                  <a:srgbClr val="222831"/>
                </a:solidFill>
                <a:latin typeface="Aptos" pitchFamily="34" charset="0"/>
                <a:ea typeface="Aptos" pitchFamily="34" charset="-122"/>
                <a:cs typeface="Aptos" pitchFamily="34" charset="-120"/>
              </a:rPr>
              <a:t>GPU déjà prévu</a:t>
            </a:r>
            <a:endParaRPr lang="en-US" sz="1800" dirty="0"/>
          </a:p>
          <a:p>
            <a:pPr indent="0" marL="0">
              <a:buNone/>
            </a:pPr>
            <a:r>
              <a:rPr lang="en-US" sz="1800" b="1" dirty="0">
                <a:solidFill>
                  <a:srgbClr val="222831"/>
                </a:solidFill>
                <a:latin typeface="Aptos" pitchFamily="34" charset="0"/>
                <a:ea typeface="Aptos" pitchFamily="34" charset="-122"/>
                <a:cs typeface="Aptos" pitchFamily="34" charset="-120"/>
              </a:rPr>
              <a:t>refroidissement adapté</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DÉBRIEF</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Il n’existe pas de gagnant sans besoin</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78</a:t>
            </a:r>
            <a:endParaRPr lang="en-US" sz="820" dirty="0"/>
          </a:p>
        </p:txBody>
      </p:sp>
      <p:sp>
        <p:nvSpPr>
          <p:cNvPr id="7" name="Text 5"/>
          <p:cNvSpPr/>
          <p:nvPr/>
        </p:nvSpPr>
        <p:spPr>
          <a:xfrm>
            <a:off x="841248" y="1627632"/>
            <a:ext cx="5074920" cy="187452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1900" b="1" dirty="0">
                <a:solidFill>
                  <a:srgbClr val="B5792A"/>
                </a:solidFill>
                <a:latin typeface="Aptos" pitchFamily="34" charset="0"/>
                <a:ea typeface="Aptos" pitchFamily="34" charset="-122"/>
                <a:cs typeface="Aptos" pitchFamily="34" charset="-120"/>
              </a:rPr>
              <a:t>SCÉNARIO 1 → A</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iGPU présent • 65 W • prix plus bas</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 cohérent avec un PC bureautique sans GPU distinct et budget limité.</a:t>
            </a:r>
            <a:endParaRPr lang="en-US" sz="1900" dirty="0"/>
          </a:p>
        </p:txBody>
      </p:sp>
      <p:sp>
        <p:nvSpPr>
          <p:cNvPr id="8" name="Text 6"/>
          <p:cNvSpPr/>
          <p:nvPr/>
        </p:nvSpPr>
        <p:spPr>
          <a:xfrm>
            <a:off x="6281928" y="1627632"/>
            <a:ext cx="5074920" cy="187452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1900" b="1" dirty="0">
                <a:solidFill>
                  <a:srgbClr val="2D6F6B"/>
                </a:solidFill>
                <a:latin typeface="Aptos" pitchFamily="34" charset="0"/>
                <a:ea typeface="Aptos" pitchFamily="34" charset="-122"/>
                <a:cs typeface="Aptos" pitchFamily="34" charset="-120"/>
              </a:rPr>
              <a:t>SCÉNARIO 2 → B</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plus de cœurs • plus de cache</a:t>
            </a:r>
            <a:endParaRPr lang="en-US" sz="1900" dirty="0"/>
          </a:p>
          <a:p>
            <a:pPr indent="0" marL="0">
              <a:buNone/>
            </a:pPr>
            <a:r>
              <a:rPr lang="en-US" sz="1900" dirty="0">
                <a:solidFill>
                  <a:srgbClr val="222831"/>
                </a:solidFill>
                <a:latin typeface="Aptos" pitchFamily="34" charset="0"/>
                <a:ea typeface="Aptos" pitchFamily="34" charset="-122"/>
                <a:cs typeface="Aptos" pitchFamily="34" charset="-120"/>
              </a:rPr>
              <a:t>→ cohérent avec un rendu fortement parallèle, GPU et refroidissement déjà prévus.</a:t>
            </a:r>
            <a:endParaRPr lang="en-US" sz="1900" dirty="0"/>
          </a:p>
        </p:txBody>
      </p:sp>
      <p:sp>
        <p:nvSpPr>
          <p:cNvPr id="9" name="Text 7"/>
          <p:cNvSpPr/>
          <p:nvPr/>
        </p:nvSpPr>
        <p:spPr>
          <a:xfrm>
            <a:off x="1051560" y="4069080"/>
            <a:ext cx="2971800" cy="365760"/>
          </a:xfrm>
          <a:prstGeom prst="rect">
            <a:avLst/>
          </a:prstGeom>
          <a:noFill/>
          <a:ln/>
        </p:spPr>
        <p:txBody>
          <a:bodyPr wrap="square" lIns="0" tIns="0" rIns="0" bIns="0" rtlCol="0" anchor="ctr"/>
          <a:lstStyle/>
          <a:p>
            <a:pPr indent="0" marL="0">
              <a:buNone/>
            </a:pPr>
            <a:r>
              <a:rPr lang="en-US" sz="1300" b="1" spc="100" kern="0" dirty="0">
                <a:solidFill>
                  <a:srgbClr val="17324D"/>
                </a:solidFill>
                <a:latin typeface="Aptos" pitchFamily="34" charset="0"/>
                <a:ea typeface="Aptos" pitchFamily="34" charset="-122"/>
                <a:cs typeface="Aptos" pitchFamily="34" charset="-120"/>
              </a:rPr>
              <a:t>CE QUI RESTE INCONNU</a:t>
            </a:r>
            <a:endParaRPr lang="en-US" sz="1300" dirty="0"/>
          </a:p>
        </p:txBody>
      </p:sp>
      <p:sp>
        <p:nvSpPr>
          <p:cNvPr id="10" name="Text 8"/>
          <p:cNvSpPr/>
          <p:nvPr/>
        </p:nvSpPr>
        <p:spPr>
          <a:xfrm>
            <a:off x="1051560" y="4553712"/>
            <a:ext cx="9966960" cy="758952"/>
          </a:xfrm>
          <a:prstGeom prst="rect">
            <a:avLst/>
          </a:prstGeom>
          <a:solidFill>
            <a:srgbClr val="EEE9E1"/>
          </a:solidFill>
          <a:ln>
            <a:solidFill>
              <a:srgbClr val="CEC9BF"/>
            </a:solidFill>
          </a:ln>
        </p:spPr>
        <p:txBody>
          <a:bodyPr wrap="square" lIns="1905" tIns="1905" rIns="1905" bIns="1905" rtlCol="0" anchor="ctr"/>
          <a:lstStyle/>
          <a:p>
            <a:pPr algn="ctr" indent="0" marL="0">
              <a:buNone/>
            </a:pPr>
            <a:r>
              <a:rPr lang="en-US" sz="2000" dirty="0">
                <a:solidFill>
                  <a:srgbClr val="222831"/>
                </a:solidFill>
                <a:latin typeface="Aptos" pitchFamily="34" charset="0"/>
                <a:ea typeface="Aptos" pitchFamily="34" charset="-122"/>
                <a:cs typeface="Aptos" pitchFamily="34" charset="-120"/>
              </a:rPr>
              <a:t>architecture réelle • benchmarks pertinents • carte mère • coût total de plateforme • refroidissement réel • disponibilité</a:t>
            </a:r>
            <a:endParaRPr lang="en-US" sz="2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COMPATIBILITÉ</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Le processeur fait partie d’un système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79</a:t>
            </a:r>
            <a:endParaRPr lang="en-US" sz="820" dirty="0"/>
          </a:p>
        </p:txBody>
      </p:sp>
      <p:sp>
        <p:nvSpPr>
          <p:cNvPr id="7" name="Text 5"/>
          <p:cNvSpPr/>
          <p:nvPr/>
        </p:nvSpPr>
        <p:spPr>
          <a:xfrm>
            <a:off x="4983480" y="2331720"/>
            <a:ext cx="2194560" cy="1280160"/>
          </a:xfrm>
          <a:prstGeom prst="rect">
            <a:avLst/>
          </a:prstGeom>
          <a:solidFill>
            <a:srgbClr val="B5792A"/>
          </a:solidFill>
          <a:ln>
            <a:solidFill>
              <a:srgbClr val="B5792A"/>
            </a:solidFill>
          </a:ln>
        </p:spPr>
        <p:txBody>
          <a:bodyPr wrap="square" lIns="0" tIns="0" rIns="0" bIns="0" rtlCol="0" anchor="ctr"/>
          <a:lstStyle/>
          <a:p>
            <a:pPr algn="ctr" indent="0" marL="0">
              <a:buNone/>
            </a:pPr>
            <a:r>
              <a:rPr lang="en-US" sz="4200" b="1" dirty="0">
                <a:solidFill>
                  <a:srgbClr val="FFFFFF"/>
                </a:solidFill>
                <a:latin typeface="Aptos Display" pitchFamily="34" charset="0"/>
                <a:ea typeface="Aptos Display" pitchFamily="34" charset="-122"/>
                <a:cs typeface="Aptos Display" pitchFamily="34" charset="-120"/>
              </a:rPr>
              <a:t>CPU</a:t>
            </a:r>
            <a:endParaRPr lang="en-US" sz="4200" dirty="0"/>
          </a:p>
        </p:txBody>
      </p:sp>
      <p:sp>
        <p:nvSpPr>
          <p:cNvPr id="8" name="Text 6"/>
          <p:cNvSpPr/>
          <p:nvPr/>
        </p:nvSpPr>
        <p:spPr>
          <a:xfrm>
            <a:off x="868680" y="1554480"/>
            <a:ext cx="2834640" cy="914400"/>
          </a:xfrm>
          <a:prstGeom prst="rect">
            <a:avLst/>
          </a:prstGeom>
          <a:solidFill>
            <a:srgbClr val="17324D"/>
          </a:solidFill>
          <a:ln>
            <a:solidFill>
              <a:srgbClr val="17324D"/>
            </a:solidFill>
          </a:ln>
        </p:spPr>
        <p:txBody>
          <a:bodyPr wrap="square" lIns="635" tIns="635" rIns="635" bIns="635"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CARTE MÈRE</a:t>
            </a:r>
            <a:endParaRPr lang="en-US" sz="1800" dirty="0"/>
          </a:p>
          <a:p>
            <a:pPr algn="ctr" indent="0" marL="0">
              <a:buNone/>
            </a:pPr>
            <a:r>
              <a:rPr lang="en-US" sz="1800" b="1" dirty="0">
                <a:solidFill>
                  <a:srgbClr val="FFFFFF"/>
                </a:solidFill>
                <a:latin typeface="Aptos" pitchFamily="34" charset="0"/>
                <a:ea typeface="Aptos" pitchFamily="34" charset="-122"/>
                <a:cs typeface="Aptos" pitchFamily="34" charset="-120"/>
              </a:rPr>
              <a:t>+ SOCKET</a:t>
            </a:r>
            <a:endParaRPr lang="en-US" sz="1800" dirty="0"/>
          </a:p>
        </p:txBody>
      </p:sp>
      <p:sp>
        <p:nvSpPr>
          <p:cNvPr id="9" name="Text 7"/>
          <p:cNvSpPr/>
          <p:nvPr/>
        </p:nvSpPr>
        <p:spPr>
          <a:xfrm>
            <a:off x="868680" y="3886200"/>
            <a:ext cx="2834640" cy="914400"/>
          </a:xfrm>
          <a:prstGeom prst="rect">
            <a:avLst/>
          </a:prstGeom>
          <a:solidFill>
            <a:srgbClr val="2D6F6B"/>
          </a:solidFill>
          <a:ln>
            <a:solidFill>
              <a:srgbClr val="2D6F6B"/>
            </a:solidFill>
          </a:ln>
        </p:spPr>
        <p:txBody>
          <a:bodyPr wrap="square" lIns="635" tIns="635" rIns="635" bIns="635"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RAM</a:t>
            </a:r>
            <a:endParaRPr lang="en-US" sz="1800" dirty="0"/>
          </a:p>
          <a:p>
            <a:pPr algn="ctr" indent="0" marL="0">
              <a:buNone/>
            </a:pPr>
            <a:r>
              <a:rPr lang="en-US" sz="1800" b="1" dirty="0">
                <a:solidFill>
                  <a:srgbClr val="FFFFFF"/>
                </a:solidFill>
                <a:latin typeface="Aptos" pitchFamily="34" charset="0"/>
                <a:ea typeface="Aptos" pitchFamily="34" charset="-122"/>
                <a:cs typeface="Aptos" pitchFamily="34" charset="-120"/>
              </a:rPr>
              <a:t>PRISE EN CHARGE</a:t>
            </a:r>
            <a:endParaRPr lang="en-US" sz="1800" dirty="0"/>
          </a:p>
        </p:txBody>
      </p:sp>
      <p:sp>
        <p:nvSpPr>
          <p:cNvPr id="10" name="Text 8"/>
          <p:cNvSpPr/>
          <p:nvPr/>
        </p:nvSpPr>
        <p:spPr>
          <a:xfrm>
            <a:off x="8458200" y="1554480"/>
            <a:ext cx="2834640" cy="914400"/>
          </a:xfrm>
          <a:prstGeom prst="rect">
            <a:avLst/>
          </a:prstGeom>
          <a:solidFill>
            <a:srgbClr val="17324D"/>
          </a:solidFill>
          <a:ln>
            <a:solidFill>
              <a:srgbClr val="17324D"/>
            </a:solidFill>
          </a:ln>
        </p:spPr>
        <p:txBody>
          <a:bodyPr wrap="square" lIns="635" tIns="635" rIns="635" bIns="635"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REFROIDISSEMENT</a:t>
            </a:r>
            <a:endParaRPr lang="en-US" sz="1800" dirty="0"/>
          </a:p>
        </p:txBody>
      </p:sp>
      <p:sp>
        <p:nvSpPr>
          <p:cNvPr id="11" name="Text 9"/>
          <p:cNvSpPr/>
          <p:nvPr/>
        </p:nvSpPr>
        <p:spPr>
          <a:xfrm>
            <a:off x="8458200" y="3886200"/>
            <a:ext cx="2834640" cy="914400"/>
          </a:xfrm>
          <a:prstGeom prst="rect">
            <a:avLst/>
          </a:prstGeom>
          <a:solidFill>
            <a:srgbClr val="2D6F6B"/>
          </a:solidFill>
          <a:ln>
            <a:solidFill>
              <a:srgbClr val="2D6F6B"/>
            </a:solidFill>
          </a:ln>
        </p:spPr>
        <p:txBody>
          <a:bodyPr wrap="square" lIns="635" tIns="635" rIns="635" bIns="635"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ALIMENTATION</a:t>
            </a:r>
            <a:endParaRPr lang="en-US" sz="1800" dirty="0"/>
          </a:p>
        </p:txBody>
      </p:sp>
      <p:sp>
        <p:nvSpPr>
          <p:cNvPr id="12" name="Text 10"/>
          <p:cNvSpPr/>
          <p:nvPr/>
        </p:nvSpPr>
        <p:spPr>
          <a:xfrm>
            <a:off x="4480560" y="4434840"/>
            <a:ext cx="2834640" cy="914400"/>
          </a:xfrm>
          <a:prstGeom prst="rect">
            <a:avLst/>
          </a:prstGeom>
          <a:solidFill>
            <a:srgbClr val="B5792A"/>
          </a:solidFill>
          <a:ln>
            <a:solidFill>
              <a:srgbClr val="B5792A"/>
            </a:solidFill>
          </a:ln>
        </p:spPr>
        <p:txBody>
          <a:bodyPr wrap="square" lIns="635" tIns="635" rIns="635" bIns="635"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iGPU / GPU</a:t>
            </a:r>
            <a:endParaRPr lang="en-US" sz="1800" dirty="0"/>
          </a:p>
        </p:txBody>
      </p:sp>
      <p:sp>
        <p:nvSpPr>
          <p:cNvPr id="13" name="Shape 11"/>
          <p:cNvSpPr/>
          <p:nvPr/>
        </p:nvSpPr>
        <p:spPr>
          <a:xfrm>
            <a:off x="3822192" y="2057400"/>
            <a:ext cx="914400" cy="502920"/>
          </a:xfrm>
          <a:prstGeom prst="line">
            <a:avLst/>
          </a:prstGeom>
          <a:noFill/>
          <a:ln w="25400">
            <a:solidFill>
              <a:srgbClr val="6B7178"/>
            </a:solidFill>
            <a:prstDash val="solid"/>
            <a:headEnd type="none"/>
            <a:tailEnd type="triangle"/>
          </a:ln>
        </p:spPr>
      </p:sp>
      <p:sp>
        <p:nvSpPr>
          <p:cNvPr id="14" name="Shape 12"/>
          <p:cNvSpPr/>
          <p:nvPr/>
        </p:nvSpPr>
        <p:spPr>
          <a:xfrm>
            <a:off x="3822192" y="4251960"/>
            <a:ext cx="960120" cy="-411480"/>
          </a:xfrm>
          <a:prstGeom prst="line">
            <a:avLst/>
          </a:prstGeom>
          <a:noFill/>
          <a:ln w="25400">
            <a:solidFill>
              <a:srgbClr val="6B7178"/>
            </a:solidFill>
            <a:prstDash val="solid"/>
            <a:headEnd type="none"/>
            <a:tailEnd type="triangle"/>
          </a:ln>
        </p:spPr>
      </p:sp>
      <p:sp>
        <p:nvSpPr>
          <p:cNvPr id="15" name="Shape 13"/>
          <p:cNvSpPr/>
          <p:nvPr/>
        </p:nvSpPr>
        <p:spPr>
          <a:xfrm>
            <a:off x="7360920" y="2606040"/>
            <a:ext cx="868680" cy="-548640"/>
          </a:xfrm>
          <a:prstGeom prst="line">
            <a:avLst/>
          </a:prstGeom>
          <a:noFill/>
          <a:ln w="25400">
            <a:solidFill>
              <a:srgbClr val="6B7178"/>
            </a:solidFill>
            <a:prstDash val="solid"/>
            <a:headEnd type="none"/>
            <a:tailEnd type="triangle"/>
          </a:ln>
        </p:spPr>
      </p:sp>
      <p:sp>
        <p:nvSpPr>
          <p:cNvPr id="16" name="Shape 14"/>
          <p:cNvSpPr/>
          <p:nvPr/>
        </p:nvSpPr>
        <p:spPr>
          <a:xfrm>
            <a:off x="7360920" y="3401568"/>
            <a:ext cx="868680" cy="685800"/>
          </a:xfrm>
          <a:prstGeom prst="line">
            <a:avLst/>
          </a:prstGeom>
          <a:noFill/>
          <a:ln w="25400">
            <a:solidFill>
              <a:srgbClr val="6B7178"/>
            </a:solidFill>
            <a:prstDash val="solid"/>
            <a:headEnd type="none"/>
            <a:tailEnd type="triangle"/>
          </a:ln>
        </p:spPr>
      </p:sp>
      <p:sp>
        <p:nvSpPr>
          <p:cNvPr id="17" name="Shape 15"/>
          <p:cNvSpPr/>
          <p:nvPr/>
        </p:nvSpPr>
        <p:spPr>
          <a:xfrm>
            <a:off x="6080760" y="3730752"/>
            <a:ext cx="0" cy="502920"/>
          </a:xfrm>
          <a:prstGeom prst="line">
            <a:avLst/>
          </a:prstGeom>
          <a:noFill/>
          <a:ln w="25400">
            <a:solidFill>
              <a:srgbClr val="6B7178"/>
            </a:solidFill>
            <a:prstDash val="solid"/>
            <a:headEnd type="none"/>
            <a:tailEnd type="triangle"/>
          </a:ln>
        </p:spPr>
      </p:sp>
      <p:sp>
        <p:nvSpPr>
          <p:cNvPr id="18" name="Text 16"/>
          <p:cNvSpPr/>
          <p:nvPr/>
        </p:nvSpPr>
        <p:spPr>
          <a:xfrm>
            <a:off x="1280160" y="5376672"/>
            <a:ext cx="9646920" cy="384048"/>
          </a:xfrm>
          <a:prstGeom prst="rect">
            <a:avLst/>
          </a:prstGeom>
          <a:noFill/>
          <a:ln/>
        </p:spPr>
        <p:txBody>
          <a:bodyPr wrap="square" lIns="0" tIns="0" rIns="0" bIns="0" rtlCol="0" anchor="ctr"/>
          <a:lstStyle/>
          <a:p>
            <a:pPr algn="ctr" indent="0" marL="0">
              <a:buNone/>
            </a:pPr>
            <a:r>
              <a:rPr lang="en-US" sz="1550" b="1" dirty="0">
                <a:solidFill>
                  <a:srgbClr val="A54B3E"/>
                </a:solidFill>
                <a:latin typeface="Aptos" pitchFamily="34" charset="0"/>
                <a:ea typeface="Aptos" pitchFamily="34" charset="-122"/>
                <a:cs typeface="Aptos" pitchFamily="34" charset="-120"/>
              </a:rPr>
              <a:t>Même socket ≠ compatibilité garantie.  Séance 8 : vérifier support CPU, chipset, micrologiciel et contraintes de la carte mère.</a:t>
            </a:r>
            <a:endParaRPr lang="en-US" sz="15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MÉTHODE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De la spécification à la recommandation</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80</a:t>
            </a:r>
            <a:endParaRPr lang="en-US" sz="820" dirty="0"/>
          </a:p>
        </p:txBody>
      </p:sp>
      <p:sp>
        <p:nvSpPr>
          <p:cNvPr id="7" name="Text 5"/>
          <p:cNvSpPr/>
          <p:nvPr/>
        </p:nvSpPr>
        <p:spPr>
          <a:xfrm>
            <a:off x="493776" y="2103120"/>
            <a:ext cx="1691640" cy="868680"/>
          </a:xfrm>
          <a:prstGeom prst="rect">
            <a:avLst/>
          </a:prstGeom>
          <a:solidFill>
            <a:srgbClr val="17324D"/>
          </a:solidFill>
          <a:ln>
            <a:solidFill>
              <a:srgbClr val="17324D"/>
            </a:solidFill>
          </a:ln>
        </p:spPr>
        <p:txBody>
          <a:bodyPr wrap="square" lIns="381" tIns="381" rIns="381" bIns="381" rtlCol="0" anchor="ctr"/>
          <a:lstStyle/>
          <a:p>
            <a:pPr algn="ctr" indent="0" marL="0">
              <a:buNone/>
            </a:pPr>
            <a:r>
              <a:rPr lang="en-US" sz="1420" b="1" dirty="0">
                <a:solidFill>
                  <a:srgbClr val="FFFFFF"/>
                </a:solidFill>
                <a:latin typeface="Aptos" pitchFamily="34" charset="0"/>
                <a:ea typeface="Aptos" pitchFamily="34" charset="-122"/>
                <a:cs typeface="Aptos" pitchFamily="34" charset="-120"/>
              </a:rPr>
              <a:t>BESOIN</a:t>
            </a:r>
            <a:endParaRPr lang="en-US" sz="1420" dirty="0"/>
          </a:p>
        </p:txBody>
      </p:sp>
      <p:sp>
        <p:nvSpPr>
          <p:cNvPr id="8" name="Shape 6"/>
          <p:cNvSpPr/>
          <p:nvPr/>
        </p:nvSpPr>
        <p:spPr>
          <a:xfrm>
            <a:off x="2212848" y="2532888"/>
            <a:ext cx="100584" cy="0"/>
          </a:xfrm>
          <a:prstGeom prst="line">
            <a:avLst/>
          </a:prstGeom>
          <a:noFill/>
          <a:ln w="22860">
            <a:solidFill>
              <a:srgbClr val="6B7178"/>
            </a:solidFill>
            <a:prstDash val="solid"/>
            <a:headEnd type="none"/>
            <a:tailEnd type="triangle"/>
          </a:ln>
        </p:spPr>
      </p:sp>
      <p:sp>
        <p:nvSpPr>
          <p:cNvPr id="9" name="Text 7"/>
          <p:cNvSpPr/>
          <p:nvPr/>
        </p:nvSpPr>
        <p:spPr>
          <a:xfrm>
            <a:off x="2350008" y="2103120"/>
            <a:ext cx="1691640" cy="868680"/>
          </a:xfrm>
          <a:prstGeom prst="rect">
            <a:avLst/>
          </a:prstGeom>
          <a:solidFill>
            <a:srgbClr val="2D6F6B"/>
          </a:solidFill>
          <a:ln>
            <a:solidFill>
              <a:srgbClr val="2D6F6B"/>
            </a:solidFill>
          </a:ln>
        </p:spPr>
        <p:txBody>
          <a:bodyPr wrap="square" lIns="381" tIns="381" rIns="381" bIns="381" rtlCol="0" anchor="ctr"/>
          <a:lstStyle/>
          <a:p>
            <a:pPr algn="ctr" indent="0" marL="0">
              <a:buNone/>
            </a:pPr>
            <a:r>
              <a:rPr lang="en-US" sz="1420" b="1" dirty="0">
                <a:solidFill>
                  <a:srgbClr val="FFFFFF"/>
                </a:solidFill>
                <a:latin typeface="Aptos" pitchFamily="34" charset="0"/>
                <a:ea typeface="Aptos" pitchFamily="34" charset="-122"/>
                <a:cs typeface="Aptos" pitchFamily="34" charset="-120"/>
              </a:rPr>
              <a:t>CRITÈRES</a:t>
            </a:r>
            <a:endParaRPr lang="en-US" sz="1420" dirty="0"/>
          </a:p>
        </p:txBody>
      </p:sp>
      <p:sp>
        <p:nvSpPr>
          <p:cNvPr id="10" name="Shape 8"/>
          <p:cNvSpPr/>
          <p:nvPr/>
        </p:nvSpPr>
        <p:spPr>
          <a:xfrm>
            <a:off x="4069080" y="2532888"/>
            <a:ext cx="100584" cy="0"/>
          </a:xfrm>
          <a:prstGeom prst="line">
            <a:avLst/>
          </a:prstGeom>
          <a:noFill/>
          <a:ln w="22860">
            <a:solidFill>
              <a:srgbClr val="6B7178"/>
            </a:solidFill>
            <a:prstDash val="solid"/>
            <a:headEnd type="none"/>
            <a:tailEnd type="triangle"/>
          </a:ln>
        </p:spPr>
      </p:sp>
      <p:sp>
        <p:nvSpPr>
          <p:cNvPr id="11" name="Text 9"/>
          <p:cNvSpPr/>
          <p:nvPr/>
        </p:nvSpPr>
        <p:spPr>
          <a:xfrm>
            <a:off x="4206240" y="2103120"/>
            <a:ext cx="1691640" cy="868680"/>
          </a:xfrm>
          <a:prstGeom prst="rect">
            <a:avLst/>
          </a:prstGeom>
          <a:solidFill>
            <a:srgbClr val="B5792A"/>
          </a:solidFill>
          <a:ln>
            <a:solidFill>
              <a:srgbClr val="B5792A"/>
            </a:solidFill>
          </a:ln>
        </p:spPr>
        <p:txBody>
          <a:bodyPr wrap="square" lIns="381" tIns="381" rIns="381" bIns="381" rtlCol="0" anchor="ctr"/>
          <a:lstStyle/>
          <a:p>
            <a:pPr algn="ctr" indent="0" marL="0">
              <a:buNone/>
            </a:pPr>
            <a:r>
              <a:rPr lang="en-US" sz="1420" b="1" dirty="0">
                <a:solidFill>
                  <a:srgbClr val="FFFFFF"/>
                </a:solidFill>
                <a:latin typeface="Aptos" pitchFamily="34" charset="0"/>
                <a:ea typeface="Aptos" pitchFamily="34" charset="-122"/>
                <a:cs typeface="Aptos" pitchFamily="34" charset="-120"/>
              </a:rPr>
              <a:t>COMPATIBILITÉ</a:t>
            </a:r>
            <a:endParaRPr lang="en-US" sz="1420" dirty="0"/>
          </a:p>
        </p:txBody>
      </p:sp>
      <p:sp>
        <p:nvSpPr>
          <p:cNvPr id="12" name="Shape 10"/>
          <p:cNvSpPr/>
          <p:nvPr/>
        </p:nvSpPr>
        <p:spPr>
          <a:xfrm>
            <a:off x="5925312" y="2532888"/>
            <a:ext cx="100584" cy="0"/>
          </a:xfrm>
          <a:prstGeom prst="line">
            <a:avLst/>
          </a:prstGeom>
          <a:noFill/>
          <a:ln w="22860">
            <a:solidFill>
              <a:srgbClr val="6B7178"/>
            </a:solidFill>
            <a:prstDash val="solid"/>
            <a:headEnd type="none"/>
            <a:tailEnd type="triangle"/>
          </a:ln>
        </p:spPr>
      </p:sp>
      <p:sp>
        <p:nvSpPr>
          <p:cNvPr id="13" name="Text 11"/>
          <p:cNvSpPr/>
          <p:nvPr/>
        </p:nvSpPr>
        <p:spPr>
          <a:xfrm>
            <a:off x="6062472" y="2103120"/>
            <a:ext cx="1691640" cy="868680"/>
          </a:xfrm>
          <a:prstGeom prst="rect">
            <a:avLst/>
          </a:prstGeom>
          <a:solidFill>
            <a:srgbClr val="23445E"/>
          </a:solidFill>
          <a:ln>
            <a:solidFill>
              <a:srgbClr val="23445E"/>
            </a:solidFill>
          </a:ln>
        </p:spPr>
        <p:txBody>
          <a:bodyPr wrap="square" lIns="381" tIns="381" rIns="381" bIns="381" rtlCol="0" anchor="ctr"/>
          <a:lstStyle/>
          <a:p>
            <a:pPr algn="ctr" indent="0" marL="0">
              <a:buNone/>
            </a:pPr>
            <a:r>
              <a:rPr lang="en-US" sz="1420" b="1" dirty="0">
                <a:solidFill>
                  <a:srgbClr val="FFFFFF"/>
                </a:solidFill>
                <a:latin typeface="Aptos" pitchFamily="34" charset="0"/>
                <a:ea typeface="Aptos" pitchFamily="34" charset="-122"/>
                <a:cs typeface="Aptos" pitchFamily="34" charset="-120"/>
              </a:rPr>
              <a:t>PREUVES</a:t>
            </a:r>
            <a:endParaRPr lang="en-US" sz="1420" dirty="0"/>
          </a:p>
        </p:txBody>
      </p:sp>
      <p:sp>
        <p:nvSpPr>
          <p:cNvPr id="14" name="Shape 12"/>
          <p:cNvSpPr/>
          <p:nvPr/>
        </p:nvSpPr>
        <p:spPr>
          <a:xfrm>
            <a:off x="7781544" y="2532888"/>
            <a:ext cx="100584" cy="0"/>
          </a:xfrm>
          <a:prstGeom prst="line">
            <a:avLst/>
          </a:prstGeom>
          <a:noFill/>
          <a:ln w="22860">
            <a:solidFill>
              <a:srgbClr val="6B7178"/>
            </a:solidFill>
            <a:prstDash val="solid"/>
            <a:headEnd type="none"/>
            <a:tailEnd type="triangle"/>
          </a:ln>
        </p:spPr>
      </p:sp>
      <p:sp>
        <p:nvSpPr>
          <p:cNvPr id="15" name="Text 13"/>
          <p:cNvSpPr/>
          <p:nvPr/>
        </p:nvSpPr>
        <p:spPr>
          <a:xfrm>
            <a:off x="7918704" y="2103120"/>
            <a:ext cx="1691640" cy="868680"/>
          </a:xfrm>
          <a:prstGeom prst="rect">
            <a:avLst/>
          </a:prstGeom>
          <a:solidFill>
            <a:srgbClr val="2D6F6B"/>
          </a:solidFill>
          <a:ln>
            <a:solidFill>
              <a:srgbClr val="2D6F6B"/>
            </a:solidFill>
          </a:ln>
        </p:spPr>
        <p:txBody>
          <a:bodyPr wrap="square" lIns="381" tIns="381" rIns="381" bIns="381" rtlCol="0" anchor="ctr"/>
          <a:lstStyle/>
          <a:p>
            <a:pPr algn="ctr" indent="0" marL="0">
              <a:buNone/>
            </a:pPr>
            <a:r>
              <a:rPr lang="en-US" sz="1420" b="1" dirty="0">
                <a:solidFill>
                  <a:srgbClr val="FFFFFF"/>
                </a:solidFill>
                <a:latin typeface="Aptos" pitchFamily="34" charset="0"/>
                <a:ea typeface="Aptos" pitchFamily="34" charset="-122"/>
                <a:cs typeface="Aptos" pitchFamily="34" charset="-120"/>
              </a:rPr>
              <a:t>COMPROMIS</a:t>
            </a:r>
            <a:endParaRPr lang="en-US" sz="1420" dirty="0"/>
          </a:p>
        </p:txBody>
      </p:sp>
      <p:sp>
        <p:nvSpPr>
          <p:cNvPr id="16" name="Shape 14"/>
          <p:cNvSpPr/>
          <p:nvPr/>
        </p:nvSpPr>
        <p:spPr>
          <a:xfrm>
            <a:off x="9637776" y="2532888"/>
            <a:ext cx="100584" cy="0"/>
          </a:xfrm>
          <a:prstGeom prst="line">
            <a:avLst/>
          </a:prstGeom>
          <a:noFill/>
          <a:ln w="22860">
            <a:solidFill>
              <a:srgbClr val="6B7178"/>
            </a:solidFill>
            <a:prstDash val="solid"/>
            <a:headEnd type="none"/>
            <a:tailEnd type="triangle"/>
          </a:ln>
        </p:spPr>
      </p:sp>
      <p:sp>
        <p:nvSpPr>
          <p:cNvPr id="17" name="Text 15"/>
          <p:cNvSpPr/>
          <p:nvPr/>
        </p:nvSpPr>
        <p:spPr>
          <a:xfrm>
            <a:off x="9774936" y="2103120"/>
            <a:ext cx="1691640" cy="868680"/>
          </a:xfrm>
          <a:prstGeom prst="rect">
            <a:avLst/>
          </a:prstGeom>
          <a:solidFill>
            <a:srgbClr val="B5792A"/>
          </a:solidFill>
          <a:ln>
            <a:solidFill>
              <a:srgbClr val="B5792A"/>
            </a:solidFill>
          </a:ln>
        </p:spPr>
        <p:txBody>
          <a:bodyPr wrap="square" lIns="381" tIns="381" rIns="381" bIns="381" rtlCol="0" anchor="ctr"/>
          <a:lstStyle/>
          <a:p>
            <a:pPr algn="ctr" indent="0" marL="0">
              <a:buNone/>
            </a:pPr>
            <a:r>
              <a:rPr lang="en-US" sz="1140" b="1" dirty="0">
                <a:solidFill>
                  <a:srgbClr val="FFFFFF"/>
                </a:solidFill>
                <a:latin typeface="Aptos" pitchFamily="34" charset="0"/>
                <a:ea typeface="Aptos" pitchFamily="34" charset="-122"/>
                <a:cs typeface="Aptos" pitchFamily="34" charset="-120"/>
              </a:rPr>
              <a:t>RECOMMANDATION</a:t>
            </a:r>
            <a:endParaRPr lang="en-US" sz="1140" dirty="0"/>
          </a:p>
        </p:txBody>
      </p:sp>
      <p:sp>
        <p:nvSpPr>
          <p:cNvPr id="18" name="Text 16"/>
          <p:cNvSpPr/>
          <p:nvPr/>
        </p:nvSpPr>
        <p:spPr>
          <a:xfrm>
            <a:off x="1097280" y="3703320"/>
            <a:ext cx="10012680" cy="822960"/>
          </a:xfrm>
          <a:prstGeom prst="rect">
            <a:avLst/>
          </a:prstGeom>
          <a:solidFill>
            <a:srgbClr val="EEE9E1"/>
          </a:solidFill>
          <a:ln>
            <a:solidFill>
              <a:srgbClr val="CEC9BF"/>
            </a:solidFill>
          </a:ln>
        </p:spPr>
        <p:txBody>
          <a:bodyPr wrap="square" lIns="2032" tIns="2032" rIns="2032" bIns="2032" rtlCol="0" anchor="ctr"/>
          <a:lstStyle/>
          <a:p>
            <a:pPr algn="ctr" indent="0" marL="0">
              <a:buNone/>
            </a:pPr>
            <a:r>
              <a:rPr lang="en-US" sz="2300" b="1" dirty="0">
                <a:solidFill>
                  <a:srgbClr val="17324D"/>
                </a:solidFill>
                <a:latin typeface="Aptos" pitchFamily="34" charset="0"/>
                <a:ea typeface="Aptos" pitchFamily="34" charset="-122"/>
                <a:cs typeface="Aptos" pitchFamily="34" charset="-120"/>
              </a:rPr>
              <a:t>Un chiffre de fiche technique n’a de valeur qu’une fois relié à un besoin et vérifié dans le bon contexte.</a:t>
            </a:r>
            <a:endParaRPr lang="en-US" sz="2300" dirty="0"/>
          </a:p>
        </p:txBody>
      </p:sp>
      <p:sp>
        <p:nvSpPr>
          <p:cNvPr id="19" name="Text 17"/>
          <p:cNvSpPr/>
          <p:nvPr/>
        </p:nvSpPr>
        <p:spPr>
          <a:xfrm>
            <a:off x="1828800" y="4901184"/>
            <a:ext cx="8549640" cy="402336"/>
          </a:xfrm>
          <a:prstGeom prst="rect">
            <a:avLst/>
          </a:prstGeom>
          <a:noFill/>
          <a:ln/>
        </p:spPr>
        <p:txBody>
          <a:bodyPr wrap="square" lIns="0" tIns="0" rIns="0" bIns="0" rtlCol="0" anchor="ctr"/>
          <a:lstStyle/>
          <a:p>
            <a:pPr algn="ctr" indent="0" marL="0">
              <a:buNone/>
            </a:pPr>
            <a:r>
              <a:rPr lang="en-US" sz="1800" i="1" dirty="0">
                <a:solidFill>
                  <a:srgbClr val="6B7178"/>
                </a:solidFill>
                <a:latin typeface="Aptos" pitchFamily="34" charset="0"/>
                <a:ea typeface="Aptos" pitchFamily="34" charset="-122"/>
                <a:cs typeface="Aptos" pitchFamily="34" charset="-120"/>
              </a:rPr>
              <a:t>C’est exactement la compétence que nous développerons tout le semestre.</a:t>
            </a:r>
            <a:endParaRPr lang="en-US"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SYNTHÈSE</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Du LOAD à la recommandation</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81</a:t>
            </a:r>
            <a:endParaRPr lang="en-US" sz="820" dirty="0"/>
          </a:p>
        </p:txBody>
      </p:sp>
      <p:sp>
        <p:nvSpPr>
          <p:cNvPr id="7" name="Text 5"/>
          <p:cNvSpPr/>
          <p:nvPr/>
        </p:nvSpPr>
        <p:spPr>
          <a:xfrm>
            <a:off x="201168" y="2057400"/>
            <a:ext cx="1517904" cy="1078992"/>
          </a:xfrm>
          <a:prstGeom prst="rect">
            <a:avLst/>
          </a:prstGeom>
          <a:solidFill>
            <a:srgbClr val="EEE9E1"/>
          </a:solidFill>
          <a:ln>
            <a:solidFill>
              <a:srgbClr val="CEC9BF"/>
            </a:solidFill>
          </a:ln>
        </p:spPr>
        <p:txBody>
          <a:bodyPr wrap="square" lIns="508" tIns="508" rIns="508" bIns="508" rtlCol="0" anchor="ctr"/>
          <a:lstStyle/>
          <a:p>
            <a:pPr algn="ctr" indent="0" marL="0">
              <a:buNone/>
            </a:pPr>
            <a:r>
              <a:rPr lang="en-US" sz="1420" b="1" dirty="0">
                <a:solidFill>
                  <a:srgbClr val="222831"/>
                </a:solidFill>
                <a:latin typeface="Aptos" pitchFamily="34" charset="0"/>
                <a:ea typeface="Aptos" pitchFamily="34" charset="-122"/>
                <a:cs typeface="Aptos" pitchFamily="34" charset="-120"/>
              </a:rPr>
              <a:t>RAM</a:t>
            </a:r>
            <a:endParaRPr lang="en-US" sz="1420" dirty="0"/>
          </a:p>
        </p:txBody>
      </p:sp>
      <p:sp>
        <p:nvSpPr>
          <p:cNvPr id="8" name="Shape 6"/>
          <p:cNvSpPr/>
          <p:nvPr/>
        </p:nvSpPr>
        <p:spPr>
          <a:xfrm>
            <a:off x="1746504" y="2596896"/>
            <a:ext cx="100584" cy="0"/>
          </a:xfrm>
          <a:prstGeom prst="line">
            <a:avLst/>
          </a:prstGeom>
          <a:noFill/>
          <a:ln w="20320">
            <a:solidFill>
              <a:srgbClr val="6B7178"/>
            </a:solidFill>
            <a:prstDash val="solid"/>
            <a:headEnd type="none"/>
            <a:tailEnd type="triangle"/>
          </a:ln>
        </p:spPr>
      </p:sp>
      <p:sp>
        <p:nvSpPr>
          <p:cNvPr id="9" name="Text 7"/>
          <p:cNvSpPr/>
          <p:nvPr/>
        </p:nvSpPr>
        <p:spPr>
          <a:xfrm>
            <a:off x="1883664" y="2057400"/>
            <a:ext cx="1517904" cy="1078992"/>
          </a:xfrm>
          <a:prstGeom prst="rect">
            <a:avLst/>
          </a:prstGeom>
          <a:solidFill>
            <a:srgbClr val="17324D"/>
          </a:solidFill>
          <a:ln>
            <a:solidFill>
              <a:srgbClr val="17324D"/>
            </a:solidFill>
          </a:ln>
        </p:spPr>
        <p:txBody>
          <a:bodyPr wrap="square" lIns="508" tIns="508" rIns="508" bIns="508" rtlCol="0" anchor="ctr"/>
          <a:lstStyle/>
          <a:p>
            <a:pPr algn="ctr" indent="0" marL="0">
              <a:buNone/>
            </a:pPr>
            <a:r>
              <a:rPr lang="en-US" sz="1420" b="1" dirty="0">
                <a:solidFill>
                  <a:srgbClr val="FFFFFF"/>
                </a:solidFill>
                <a:latin typeface="Aptos" pitchFamily="34" charset="0"/>
                <a:ea typeface="Aptos" pitchFamily="34" charset="-122"/>
                <a:cs typeface="Aptos" pitchFamily="34" charset="-120"/>
              </a:rPr>
              <a:t>REGISTRES</a:t>
            </a:r>
            <a:endParaRPr lang="en-US" sz="1420" dirty="0"/>
          </a:p>
        </p:txBody>
      </p:sp>
      <p:sp>
        <p:nvSpPr>
          <p:cNvPr id="10" name="Shape 8"/>
          <p:cNvSpPr/>
          <p:nvPr/>
        </p:nvSpPr>
        <p:spPr>
          <a:xfrm>
            <a:off x="3429000" y="2596896"/>
            <a:ext cx="100584" cy="0"/>
          </a:xfrm>
          <a:prstGeom prst="line">
            <a:avLst/>
          </a:prstGeom>
          <a:noFill/>
          <a:ln w="20320">
            <a:solidFill>
              <a:srgbClr val="6B7178"/>
            </a:solidFill>
            <a:prstDash val="solid"/>
            <a:headEnd type="none"/>
            <a:tailEnd type="triangle"/>
          </a:ln>
        </p:spPr>
      </p:sp>
      <p:sp>
        <p:nvSpPr>
          <p:cNvPr id="11" name="Text 9"/>
          <p:cNvSpPr/>
          <p:nvPr/>
        </p:nvSpPr>
        <p:spPr>
          <a:xfrm>
            <a:off x="3566160" y="2057400"/>
            <a:ext cx="1517904" cy="1078992"/>
          </a:xfrm>
          <a:prstGeom prst="rect">
            <a:avLst/>
          </a:prstGeom>
          <a:solidFill>
            <a:srgbClr val="2D6F6B"/>
          </a:solidFill>
          <a:ln>
            <a:solidFill>
              <a:srgbClr val="2D6F6B"/>
            </a:solidFill>
          </a:ln>
        </p:spPr>
        <p:txBody>
          <a:bodyPr wrap="square" lIns="508" tIns="508" rIns="508" bIns="508" rtlCol="0" anchor="ctr"/>
          <a:lstStyle/>
          <a:p>
            <a:pPr algn="ctr" indent="0" marL="0">
              <a:buNone/>
            </a:pPr>
            <a:r>
              <a:rPr lang="en-US" sz="1420" b="1" dirty="0">
                <a:solidFill>
                  <a:srgbClr val="FFFFFF"/>
                </a:solidFill>
                <a:latin typeface="Aptos" pitchFamily="34" charset="0"/>
                <a:ea typeface="Aptos" pitchFamily="34" charset="-122"/>
                <a:cs typeface="Aptos" pitchFamily="34" charset="-120"/>
              </a:rPr>
              <a:t>UAL</a:t>
            </a:r>
            <a:endParaRPr lang="en-US" sz="1420" dirty="0"/>
          </a:p>
        </p:txBody>
      </p:sp>
      <p:sp>
        <p:nvSpPr>
          <p:cNvPr id="12" name="Shape 10"/>
          <p:cNvSpPr/>
          <p:nvPr/>
        </p:nvSpPr>
        <p:spPr>
          <a:xfrm>
            <a:off x="5111496" y="2596896"/>
            <a:ext cx="100584" cy="0"/>
          </a:xfrm>
          <a:prstGeom prst="line">
            <a:avLst/>
          </a:prstGeom>
          <a:noFill/>
          <a:ln w="20320">
            <a:solidFill>
              <a:srgbClr val="6B7178"/>
            </a:solidFill>
            <a:prstDash val="solid"/>
            <a:headEnd type="none"/>
            <a:tailEnd type="triangle"/>
          </a:ln>
        </p:spPr>
      </p:sp>
      <p:sp>
        <p:nvSpPr>
          <p:cNvPr id="13" name="Text 11"/>
          <p:cNvSpPr/>
          <p:nvPr/>
        </p:nvSpPr>
        <p:spPr>
          <a:xfrm>
            <a:off x="5248656" y="2057400"/>
            <a:ext cx="1517904" cy="1078992"/>
          </a:xfrm>
          <a:prstGeom prst="rect">
            <a:avLst/>
          </a:prstGeom>
          <a:solidFill>
            <a:srgbClr val="F2E4CE"/>
          </a:solidFill>
          <a:ln>
            <a:solidFill>
              <a:srgbClr val="F2E4CE"/>
            </a:solidFill>
          </a:ln>
        </p:spPr>
        <p:txBody>
          <a:bodyPr wrap="square" lIns="508" tIns="508" rIns="508" bIns="508" rtlCol="0" anchor="ctr"/>
          <a:lstStyle/>
          <a:p>
            <a:pPr algn="ctr" indent="0" marL="0">
              <a:buNone/>
            </a:pPr>
            <a:r>
              <a:rPr lang="en-US" sz="1420" b="1" dirty="0">
                <a:solidFill>
                  <a:srgbClr val="222831"/>
                </a:solidFill>
                <a:latin typeface="Aptos" pitchFamily="34" charset="0"/>
                <a:ea typeface="Aptos" pitchFamily="34" charset="-122"/>
                <a:cs typeface="Aptos" pitchFamily="34" charset="-120"/>
              </a:rPr>
              <a:t>RÉSULTAT</a:t>
            </a:r>
            <a:endParaRPr lang="en-US" sz="1420" dirty="0"/>
          </a:p>
          <a:p>
            <a:pPr algn="ctr" indent="0" marL="0">
              <a:buNone/>
            </a:pPr>
            <a:r>
              <a:rPr lang="en-US" sz="1420" b="1" dirty="0">
                <a:solidFill>
                  <a:srgbClr val="222831"/>
                </a:solidFill>
                <a:latin typeface="Aptos" pitchFamily="34" charset="0"/>
                <a:ea typeface="Aptos" pitchFamily="34" charset="-122"/>
                <a:cs typeface="Aptos" pitchFamily="34" charset="-120"/>
              </a:rPr>
              <a:t>À n BITS</a:t>
            </a:r>
            <a:endParaRPr lang="en-US" sz="1420" dirty="0"/>
          </a:p>
        </p:txBody>
      </p:sp>
      <p:sp>
        <p:nvSpPr>
          <p:cNvPr id="14" name="Shape 12"/>
          <p:cNvSpPr/>
          <p:nvPr/>
        </p:nvSpPr>
        <p:spPr>
          <a:xfrm>
            <a:off x="6793992" y="2596896"/>
            <a:ext cx="100584" cy="0"/>
          </a:xfrm>
          <a:prstGeom prst="line">
            <a:avLst/>
          </a:prstGeom>
          <a:noFill/>
          <a:ln w="20320">
            <a:solidFill>
              <a:srgbClr val="6B7178"/>
            </a:solidFill>
            <a:prstDash val="solid"/>
            <a:headEnd type="none"/>
            <a:tailEnd type="triangle"/>
          </a:ln>
        </p:spPr>
      </p:sp>
      <p:sp>
        <p:nvSpPr>
          <p:cNvPr id="15" name="Text 13"/>
          <p:cNvSpPr/>
          <p:nvPr/>
        </p:nvSpPr>
        <p:spPr>
          <a:xfrm>
            <a:off x="6931152" y="2057400"/>
            <a:ext cx="1517904" cy="1078992"/>
          </a:xfrm>
          <a:prstGeom prst="rect">
            <a:avLst/>
          </a:prstGeom>
          <a:solidFill>
            <a:srgbClr val="F4E1DE"/>
          </a:solidFill>
          <a:ln>
            <a:solidFill>
              <a:srgbClr val="F4E1DE"/>
            </a:solidFill>
          </a:ln>
        </p:spPr>
        <p:txBody>
          <a:bodyPr wrap="square" lIns="508" tIns="508" rIns="508" bIns="508" rtlCol="0" anchor="ctr"/>
          <a:lstStyle/>
          <a:p>
            <a:pPr algn="ctr" indent="0" marL="0">
              <a:buNone/>
            </a:pPr>
            <a:r>
              <a:rPr lang="en-US" sz="1080" b="1" dirty="0">
                <a:solidFill>
                  <a:srgbClr val="A54B3E"/>
                </a:solidFill>
                <a:latin typeface="Aptos" pitchFamily="34" charset="0"/>
                <a:ea typeface="Aptos" pitchFamily="34" charset="-122"/>
                <a:cs typeface="Aptos" pitchFamily="34" charset="-120"/>
              </a:rPr>
              <a:t>FLAGS /</a:t>
            </a:r>
            <a:endParaRPr lang="en-US" sz="1080" dirty="0"/>
          </a:p>
          <a:p>
            <a:pPr algn="ctr" indent="0" marL="0">
              <a:buNone/>
            </a:pPr>
            <a:r>
              <a:rPr lang="en-US" sz="1080" b="1" dirty="0">
                <a:solidFill>
                  <a:srgbClr val="A54B3E"/>
                </a:solidFill>
                <a:latin typeface="Aptos" pitchFamily="34" charset="0"/>
                <a:ea typeface="Aptos" pitchFamily="34" charset="-122"/>
                <a:cs typeface="Aptos" pitchFamily="34" charset="-120"/>
              </a:rPr>
              <a:t>INTERPRÉTATION</a:t>
            </a:r>
            <a:endParaRPr lang="en-US" sz="1080" dirty="0"/>
          </a:p>
        </p:txBody>
      </p:sp>
      <p:sp>
        <p:nvSpPr>
          <p:cNvPr id="16" name="Shape 14"/>
          <p:cNvSpPr/>
          <p:nvPr/>
        </p:nvSpPr>
        <p:spPr>
          <a:xfrm>
            <a:off x="8476488" y="2596896"/>
            <a:ext cx="100584" cy="0"/>
          </a:xfrm>
          <a:prstGeom prst="line">
            <a:avLst/>
          </a:prstGeom>
          <a:noFill/>
          <a:ln w="20320">
            <a:solidFill>
              <a:srgbClr val="6B7178"/>
            </a:solidFill>
            <a:prstDash val="solid"/>
            <a:headEnd type="none"/>
            <a:tailEnd type="triangle"/>
          </a:ln>
        </p:spPr>
      </p:sp>
      <p:sp>
        <p:nvSpPr>
          <p:cNvPr id="17" name="Text 15"/>
          <p:cNvSpPr/>
          <p:nvPr/>
        </p:nvSpPr>
        <p:spPr>
          <a:xfrm>
            <a:off x="8613648" y="2057400"/>
            <a:ext cx="1517904" cy="1078992"/>
          </a:xfrm>
          <a:prstGeom prst="rect">
            <a:avLst/>
          </a:prstGeom>
          <a:solidFill>
            <a:srgbClr val="E3EBF1"/>
          </a:solidFill>
          <a:ln>
            <a:solidFill>
              <a:srgbClr val="E3EBF1"/>
            </a:solidFill>
          </a:ln>
        </p:spPr>
        <p:txBody>
          <a:bodyPr wrap="square" lIns="508" tIns="508" rIns="508" bIns="508" rtlCol="0" anchor="ctr"/>
          <a:lstStyle/>
          <a:p>
            <a:pPr algn="ctr" indent="0" marL="0">
              <a:buNone/>
            </a:pPr>
            <a:r>
              <a:rPr lang="en-US" sz="1120" b="1" dirty="0">
                <a:solidFill>
                  <a:srgbClr val="17324D"/>
                </a:solidFill>
                <a:latin typeface="Aptos" pitchFamily="34" charset="0"/>
                <a:ea typeface="Aptos" pitchFamily="34" charset="-122"/>
                <a:cs typeface="Aptos" pitchFamily="34" charset="-120"/>
              </a:rPr>
              <a:t>SPÉCIFICATIONS</a:t>
            </a:r>
            <a:endParaRPr lang="en-US" sz="1120" dirty="0"/>
          </a:p>
        </p:txBody>
      </p:sp>
      <p:sp>
        <p:nvSpPr>
          <p:cNvPr id="18" name="Shape 16"/>
          <p:cNvSpPr/>
          <p:nvPr/>
        </p:nvSpPr>
        <p:spPr>
          <a:xfrm>
            <a:off x="10158984" y="2596896"/>
            <a:ext cx="100584" cy="0"/>
          </a:xfrm>
          <a:prstGeom prst="line">
            <a:avLst/>
          </a:prstGeom>
          <a:noFill/>
          <a:ln w="20320">
            <a:solidFill>
              <a:srgbClr val="6B7178"/>
            </a:solidFill>
            <a:prstDash val="solid"/>
            <a:headEnd type="none"/>
            <a:tailEnd type="triangle"/>
          </a:ln>
        </p:spPr>
      </p:sp>
      <p:sp>
        <p:nvSpPr>
          <p:cNvPr id="19" name="Text 17"/>
          <p:cNvSpPr/>
          <p:nvPr/>
        </p:nvSpPr>
        <p:spPr>
          <a:xfrm>
            <a:off x="10296144" y="2057400"/>
            <a:ext cx="1517904" cy="1078992"/>
          </a:xfrm>
          <a:prstGeom prst="rect">
            <a:avLst/>
          </a:prstGeom>
          <a:solidFill>
            <a:srgbClr val="B5792A"/>
          </a:solidFill>
          <a:ln>
            <a:solidFill>
              <a:srgbClr val="B5792A"/>
            </a:solidFill>
          </a:ln>
        </p:spPr>
        <p:txBody>
          <a:bodyPr wrap="square" lIns="508" tIns="508" rIns="508" bIns="508" rtlCol="0" anchor="ctr"/>
          <a:lstStyle/>
          <a:p>
            <a:pPr algn="ctr" indent="0" marL="0">
              <a:buNone/>
            </a:pPr>
            <a:r>
              <a:rPr lang="en-US" sz="1120" b="1" dirty="0">
                <a:solidFill>
                  <a:srgbClr val="FFFFFF"/>
                </a:solidFill>
                <a:latin typeface="Aptos" pitchFamily="34" charset="0"/>
                <a:ea typeface="Aptos" pitchFamily="34" charset="-122"/>
                <a:cs typeface="Aptos" pitchFamily="34" charset="-120"/>
              </a:rPr>
              <a:t>RECOMMANDATION</a:t>
            </a:r>
            <a:endParaRPr lang="en-US" sz="1120" dirty="0"/>
          </a:p>
        </p:txBody>
      </p:sp>
      <p:sp>
        <p:nvSpPr>
          <p:cNvPr id="20" name="Text 18"/>
          <p:cNvSpPr/>
          <p:nvPr/>
        </p:nvSpPr>
        <p:spPr>
          <a:xfrm>
            <a:off x="713232" y="3913632"/>
            <a:ext cx="3063240" cy="502920"/>
          </a:xfrm>
          <a:prstGeom prst="rect">
            <a:avLst/>
          </a:prstGeom>
          <a:noFill/>
          <a:ln/>
        </p:spPr>
        <p:txBody>
          <a:bodyPr wrap="square" lIns="0" tIns="0" rIns="0" bIns="0" rtlCol="0" anchor="ctr"/>
          <a:lstStyle/>
          <a:p>
            <a:pPr indent="0" marL="0">
              <a:buNone/>
            </a:pPr>
            <a:r>
              <a:rPr lang="en-US" sz="2000" b="1" dirty="0">
                <a:solidFill>
                  <a:srgbClr val="17324D"/>
                </a:solidFill>
                <a:latin typeface="Aptos Mono" pitchFamily="34" charset="0"/>
                <a:ea typeface="Aptos Mono" pitchFamily="34" charset="-122"/>
                <a:cs typeface="Aptos Mono" pitchFamily="34" charset="-120"/>
              </a:rPr>
              <a:t>LOAD [0202], R1</a:t>
            </a:r>
            <a:endParaRPr lang="en-US" sz="2000" dirty="0"/>
          </a:p>
        </p:txBody>
      </p:sp>
      <p:sp>
        <p:nvSpPr>
          <p:cNvPr id="21" name="Text 19"/>
          <p:cNvSpPr/>
          <p:nvPr/>
        </p:nvSpPr>
        <p:spPr>
          <a:xfrm>
            <a:off x="3840480" y="3886200"/>
            <a:ext cx="548640" cy="502920"/>
          </a:xfrm>
          <a:prstGeom prst="rect">
            <a:avLst/>
          </a:prstGeom>
          <a:noFill/>
          <a:ln/>
        </p:spPr>
        <p:txBody>
          <a:bodyPr wrap="square" lIns="0" tIns="0" rIns="0" bIns="0" rtlCol="0" anchor="ctr"/>
          <a:lstStyle/>
          <a:p>
            <a:pPr algn="ctr" indent="0" marL="0">
              <a:buNone/>
            </a:pPr>
            <a:r>
              <a:rPr lang="en-US" sz="2800" b="1" dirty="0">
                <a:solidFill>
                  <a:srgbClr val="B5792A"/>
                </a:solidFill>
                <a:latin typeface="Aptos Display" pitchFamily="34" charset="0"/>
                <a:ea typeface="Aptos Display" pitchFamily="34" charset="-122"/>
                <a:cs typeface="Aptos Display" pitchFamily="34" charset="-120"/>
              </a:rPr>
              <a:t>→</a:t>
            </a:r>
            <a:endParaRPr lang="en-US" sz="2800" dirty="0"/>
          </a:p>
        </p:txBody>
      </p:sp>
      <p:sp>
        <p:nvSpPr>
          <p:cNvPr id="22" name="Text 20"/>
          <p:cNvSpPr/>
          <p:nvPr/>
        </p:nvSpPr>
        <p:spPr>
          <a:xfrm>
            <a:off x="4480560" y="3913632"/>
            <a:ext cx="3246120" cy="502920"/>
          </a:xfrm>
          <a:prstGeom prst="rect">
            <a:avLst/>
          </a:prstGeom>
          <a:noFill/>
          <a:ln/>
        </p:spPr>
        <p:txBody>
          <a:bodyPr wrap="square" lIns="0" tIns="0" rIns="0" bIns="0" rtlCol="0" anchor="ctr"/>
          <a:lstStyle/>
          <a:p>
            <a:pPr indent="0" marL="0">
              <a:buNone/>
            </a:pPr>
            <a:r>
              <a:rPr lang="en-US" sz="2000" b="1" dirty="0">
                <a:solidFill>
                  <a:srgbClr val="2D6F6B"/>
                </a:solidFill>
                <a:latin typeface="Aptos Mono" pitchFamily="34" charset="0"/>
                <a:ea typeface="Aptos Mono" pitchFamily="34" charset="-122"/>
                <a:cs typeface="Aptos Mono" pitchFamily="34" charset="-120"/>
              </a:rPr>
              <a:t>ADD R1, R2, R3</a:t>
            </a:r>
            <a:endParaRPr lang="en-US" sz="2000" dirty="0"/>
          </a:p>
        </p:txBody>
      </p:sp>
      <p:sp>
        <p:nvSpPr>
          <p:cNvPr id="23" name="Text 21"/>
          <p:cNvSpPr/>
          <p:nvPr/>
        </p:nvSpPr>
        <p:spPr>
          <a:xfrm>
            <a:off x="7726680" y="3886200"/>
            <a:ext cx="548640" cy="502920"/>
          </a:xfrm>
          <a:prstGeom prst="rect">
            <a:avLst/>
          </a:prstGeom>
          <a:noFill/>
          <a:ln/>
        </p:spPr>
        <p:txBody>
          <a:bodyPr wrap="square" lIns="0" tIns="0" rIns="0" bIns="0" rtlCol="0" anchor="ctr"/>
          <a:lstStyle/>
          <a:p>
            <a:pPr algn="ctr" indent="0" marL="0">
              <a:buNone/>
            </a:pPr>
            <a:r>
              <a:rPr lang="en-US" sz="2800" b="1" dirty="0">
                <a:solidFill>
                  <a:srgbClr val="B5792A"/>
                </a:solidFill>
                <a:latin typeface="Aptos Display" pitchFamily="34" charset="0"/>
                <a:ea typeface="Aptos Display" pitchFamily="34" charset="-122"/>
                <a:cs typeface="Aptos Display" pitchFamily="34" charset="-120"/>
              </a:rPr>
              <a:t>→</a:t>
            </a:r>
            <a:endParaRPr lang="en-US" sz="2800" dirty="0"/>
          </a:p>
        </p:txBody>
      </p:sp>
      <p:sp>
        <p:nvSpPr>
          <p:cNvPr id="24" name="Text 22"/>
          <p:cNvSpPr/>
          <p:nvPr/>
        </p:nvSpPr>
        <p:spPr>
          <a:xfrm>
            <a:off x="8339328" y="3867912"/>
            <a:ext cx="2743200" cy="566928"/>
          </a:xfrm>
          <a:prstGeom prst="rect">
            <a:avLst/>
          </a:prstGeom>
          <a:noFill/>
          <a:ln/>
        </p:spPr>
        <p:txBody>
          <a:bodyPr wrap="square" lIns="0" tIns="0" rIns="0" bIns="0" rtlCol="0" anchor="ctr"/>
          <a:lstStyle/>
          <a:p>
            <a:pPr algn="ctr" indent="0" marL="0">
              <a:buNone/>
            </a:pPr>
            <a:r>
              <a:rPr lang="en-US" sz="2300" b="1" dirty="0">
                <a:solidFill>
                  <a:srgbClr val="B5792A"/>
                </a:solidFill>
                <a:latin typeface="Aptos Display" pitchFamily="34" charset="0"/>
                <a:ea typeface="Aptos Display" pitchFamily="34" charset="-122"/>
                <a:cs typeface="Aptos Display" pitchFamily="34" charset="-120"/>
              </a:rPr>
              <a:t>« Pour quel besoin? »</a:t>
            </a:r>
            <a:endParaRPr lang="en-US" sz="2300" dirty="0"/>
          </a:p>
        </p:txBody>
      </p:sp>
      <p:sp>
        <p:nvSpPr>
          <p:cNvPr id="25" name="Text 23"/>
          <p:cNvSpPr/>
          <p:nvPr/>
        </p:nvSpPr>
        <p:spPr>
          <a:xfrm>
            <a:off x="1874520" y="5001768"/>
            <a:ext cx="8458200" cy="457200"/>
          </a:xfrm>
          <a:prstGeom prst="rect">
            <a:avLst/>
          </a:prstGeom>
          <a:noFill/>
          <a:ln/>
        </p:spPr>
        <p:txBody>
          <a:bodyPr wrap="square" lIns="0" tIns="0" rIns="0" bIns="0" rtlCol="0" anchor="ctr"/>
          <a:lstStyle/>
          <a:p>
            <a:pPr algn="ctr" indent="0" marL="0">
              <a:buNone/>
            </a:pPr>
            <a:r>
              <a:rPr lang="en-US" sz="2000" b="1" dirty="0">
                <a:solidFill>
                  <a:srgbClr val="17324D"/>
                </a:solidFill>
                <a:latin typeface="Aptos" pitchFamily="34" charset="0"/>
                <a:ea typeface="Aptos" pitchFamily="34" charset="-122"/>
                <a:cs typeface="Aptos" pitchFamily="34" charset="-120"/>
              </a:rPr>
              <a:t>La même chaîne va du bit jusqu’à la décision technique.</a:t>
            </a:r>
            <a:endParaRPr 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LABORATOIRE 5</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Avant de terminer</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82</a:t>
            </a:r>
            <a:endParaRPr lang="en-US" sz="820" dirty="0"/>
          </a:p>
        </p:txBody>
      </p:sp>
      <p:sp>
        <p:nvSpPr>
          <p:cNvPr id="7" name="Text 5"/>
          <p:cNvSpPr/>
          <p:nvPr/>
        </p:nvSpPr>
        <p:spPr>
          <a:xfrm>
            <a:off x="822960" y="1627632"/>
            <a:ext cx="5486400" cy="283464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2000" b="1" dirty="0">
                <a:solidFill>
                  <a:srgbClr val="17324D"/>
                </a:solidFill>
                <a:latin typeface="Aptos" pitchFamily="34" charset="0"/>
                <a:ea typeface="Aptos" pitchFamily="34" charset="-122"/>
                <a:cs typeface="Aptos" pitchFamily="34" charset="-120"/>
              </a:rPr>
              <a:t>CONCLUSION — EXIGÉE</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Rédigez 4 à 6 phrases : trajet d’une addition dans le processeur + distinction résultat conservé / retenue finale / bouclage non signé / débordement signé.</a:t>
            </a:r>
            <a:endParaRPr lang="en-US" sz="2000" dirty="0"/>
          </a:p>
        </p:txBody>
      </p:sp>
      <p:sp>
        <p:nvSpPr>
          <p:cNvPr id="8" name="Text 6"/>
          <p:cNvSpPr/>
          <p:nvPr/>
        </p:nvSpPr>
        <p:spPr>
          <a:xfrm>
            <a:off x="6629400" y="1627632"/>
            <a:ext cx="4663440" cy="283464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2000" b="1" dirty="0">
                <a:solidFill>
                  <a:srgbClr val="2D6F6B"/>
                </a:solidFill>
                <a:latin typeface="Aptos" pitchFamily="34" charset="0"/>
                <a:ea typeface="Aptos" pitchFamily="34" charset="-122"/>
                <a:cs typeface="Aptos" pitchFamily="34" charset="-120"/>
              </a:rPr>
              <a:t>SI LE PARCOURS PRINCIPAL EST TERMINÉ</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Générateur de défis UAL — étape 10.</a:t>
            </a:r>
            <a:endParaRPr lang="en-US" sz="2000" dirty="0"/>
          </a:p>
          <a:p>
            <a:pPr indent="0" marL="0">
              <a:buNone/>
            </a:pPr>
            <a:r>
              <a:rPr lang="en-US" sz="2000" dirty="0">
                <a:solidFill>
                  <a:srgbClr val="222831"/>
                </a:solidFill>
                <a:latin typeface="Aptos" pitchFamily="34" charset="0"/>
                <a:ea typeface="Aptos" pitchFamily="34" charset="-122"/>
                <a:cs typeface="Aptos" pitchFamily="34" charset="-120"/>
              </a:rPr>
              <a:t>4 ou 8 bits • démarche complète • pratique illimitée.</a:t>
            </a:r>
            <a:endParaRPr lang="en-US" sz="2000" dirty="0"/>
          </a:p>
        </p:txBody>
      </p:sp>
      <p:sp>
        <p:nvSpPr>
          <p:cNvPr id="9" name="Text 7"/>
          <p:cNvSpPr/>
          <p:nvPr/>
        </p:nvSpPr>
        <p:spPr>
          <a:xfrm>
            <a:off x="1280160" y="4956048"/>
            <a:ext cx="9646920" cy="475488"/>
          </a:xfrm>
          <a:prstGeom prst="rect">
            <a:avLst/>
          </a:prstGeom>
          <a:noFill/>
          <a:ln/>
        </p:spPr>
        <p:txBody>
          <a:bodyPr wrap="square" lIns="0" tIns="0" rIns="0" bIns="0" rtlCol="0" anchor="ctr"/>
          <a:lstStyle/>
          <a:p>
            <a:pPr algn="ctr" indent="0" marL="0">
              <a:buNone/>
            </a:pPr>
            <a:r>
              <a:rPr lang="en-US" sz="1800" i="1" dirty="0">
                <a:solidFill>
                  <a:srgbClr val="6B7178"/>
                </a:solidFill>
                <a:latin typeface="Aptos" pitchFamily="34" charset="0"/>
                <a:ea typeface="Aptos" pitchFamily="34" charset="-122"/>
                <a:cs typeface="Aptos" pitchFamily="34" charset="-120"/>
              </a:rPr>
              <a:t>Le générateur est une réserve de pratique — il ne remplace pas la conclusion.</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40080" y="384048"/>
            <a:ext cx="6583680" cy="219456"/>
          </a:xfrm>
          <a:prstGeom prst="rect">
            <a:avLst/>
          </a:prstGeom>
          <a:noFill/>
          <a:ln/>
        </p:spPr>
        <p:txBody>
          <a:bodyPr wrap="square" lIns="0" tIns="0" rIns="0" bIns="0" rtlCol="0" anchor="ctr"/>
          <a:lstStyle/>
          <a:p>
            <a:pPr indent="0" marL="0">
              <a:buNone/>
            </a:pPr>
            <a:r>
              <a:rPr lang="en-US" sz="1050" b="1" spc="120" kern="0" dirty="0">
                <a:solidFill>
                  <a:srgbClr val="B5792A"/>
                </a:solidFill>
                <a:latin typeface="Aptos" pitchFamily="34" charset="0"/>
                <a:ea typeface="Aptos" pitchFamily="34" charset="-122"/>
                <a:cs typeface="Aptos" pitchFamily="34" charset="-120"/>
              </a:rPr>
              <a:t>CE QU’IL FAUT RETENIR</a:t>
            </a:r>
            <a:endParaRPr lang="en-US" sz="1050" dirty="0"/>
          </a:p>
        </p:txBody>
      </p:sp>
      <p:sp>
        <p:nvSpPr>
          <p:cNvPr id="3" name="Text 1"/>
          <p:cNvSpPr/>
          <p:nvPr/>
        </p:nvSpPr>
        <p:spPr>
          <a:xfrm>
            <a:off x="640080" y="676656"/>
            <a:ext cx="10881360" cy="640080"/>
          </a:xfrm>
          <a:prstGeom prst="rect">
            <a:avLst/>
          </a:prstGeom>
          <a:noFill/>
          <a:ln/>
        </p:spPr>
        <p:txBody>
          <a:bodyPr wrap="square" lIns="0" tIns="0" rIns="0" bIns="0" rtlCol="0" anchor="ctr"/>
          <a:lstStyle/>
          <a:p>
            <a:pPr indent="0" marL="0">
              <a:buNone/>
            </a:pPr>
            <a:r>
              <a:rPr lang="en-US" sz="3000" b="1" dirty="0">
                <a:solidFill>
                  <a:srgbClr val="222831"/>
                </a:solidFill>
                <a:latin typeface="Aptos Display" pitchFamily="34" charset="0"/>
                <a:ea typeface="Aptos Display" pitchFamily="34" charset="-122"/>
                <a:cs typeface="Aptos Display" pitchFamily="34" charset="-120"/>
              </a:rPr>
              <a:t>Quatre idées pour fermer la séance</a:t>
            </a:r>
            <a:endParaRPr lang="en-US" sz="3000" dirty="0"/>
          </a:p>
        </p:txBody>
      </p:sp>
      <p:sp>
        <p:nvSpPr>
          <p:cNvPr id="4" name="Shape 2"/>
          <p:cNvSpPr/>
          <p:nvPr/>
        </p:nvSpPr>
        <p:spPr>
          <a:xfrm>
            <a:off x="603504" y="6345936"/>
            <a:ext cx="10991088" cy="0"/>
          </a:xfrm>
          <a:prstGeom prst="line">
            <a:avLst/>
          </a:prstGeom>
          <a:noFill/>
          <a:ln w="9525">
            <a:solidFill>
              <a:srgbClr val="CEC9BF"/>
            </a:solidFill>
            <a:prstDash val="solid"/>
          </a:ln>
        </p:spPr>
      </p:sp>
      <p:sp>
        <p:nvSpPr>
          <p:cNvPr id="5" name="Text 3"/>
          <p:cNvSpPr/>
          <p:nvPr/>
        </p:nvSpPr>
        <p:spPr>
          <a:xfrm>
            <a:off x="603504" y="6437376"/>
            <a:ext cx="5120640" cy="201168"/>
          </a:xfrm>
          <a:prstGeom prst="rect">
            <a:avLst/>
          </a:prstGeom>
          <a:noFill/>
          <a:ln/>
        </p:spPr>
        <p:txBody>
          <a:bodyPr wrap="square" lIns="0" tIns="0" rIns="0" bIns="0" rtlCol="0" anchor="ctr"/>
          <a:lstStyle/>
          <a:p>
            <a:pPr indent="0" marL="0">
              <a:buNone/>
            </a:pPr>
            <a:r>
              <a:rPr lang="en-US" sz="820" dirty="0">
                <a:solidFill>
                  <a:srgbClr val="6B7178"/>
                </a:solidFill>
                <a:latin typeface="Aptos" pitchFamily="34" charset="0"/>
                <a:ea typeface="Aptos" pitchFamily="34" charset="-122"/>
                <a:cs typeface="Aptos" pitchFamily="34" charset="-120"/>
              </a:rPr>
              <a:t>420-C12-IN — OUTILS ET MATÉRIELS INFORMATIQUES</a:t>
            </a:r>
            <a:endParaRPr lang="en-US" sz="820" dirty="0"/>
          </a:p>
        </p:txBody>
      </p:sp>
      <p:sp>
        <p:nvSpPr>
          <p:cNvPr id="6" name="Text 4"/>
          <p:cNvSpPr/>
          <p:nvPr/>
        </p:nvSpPr>
        <p:spPr>
          <a:xfrm>
            <a:off x="10378440" y="6437376"/>
            <a:ext cx="1207008" cy="201168"/>
          </a:xfrm>
          <a:prstGeom prst="rect">
            <a:avLst/>
          </a:prstGeom>
          <a:noFill/>
          <a:ln/>
        </p:spPr>
        <p:txBody>
          <a:bodyPr wrap="square" lIns="0" tIns="0" rIns="0" bIns="0" rtlCol="0" anchor="ctr"/>
          <a:lstStyle/>
          <a:p>
            <a:pPr algn="r" indent="0" marL="0">
              <a:buNone/>
            </a:pPr>
            <a:r>
              <a:rPr lang="en-US" sz="820" dirty="0">
                <a:solidFill>
                  <a:srgbClr val="6B7178"/>
                </a:solidFill>
                <a:latin typeface="Aptos" pitchFamily="34" charset="0"/>
                <a:ea typeface="Aptos" pitchFamily="34" charset="-122"/>
                <a:cs typeface="Aptos" pitchFamily="34" charset="-120"/>
              </a:rPr>
              <a:t>Séance 5   83</a:t>
            </a:r>
            <a:endParaRPr lang="en-US" sz="820" dirty="0"/>
          </a:p>
        </p:txBody>
      </p:sp>
      <p:sp>
        <p:nvSpPr>
          <p:cNvPr id="7" name="Text 5"/>
          <p:cNvSpPr/>
          <p:nvPr/>
        </p:nvSpPr>
        <p:spPr>
          <a:xfrm>
            <a:off x="777240" y="1572768"/>
            <a:ext cx="5166360" cy="1234440"/>
          </a:xfrm>
          <a:prstGeom prst="rect">
            <a:avLst/>
          </a:prstGeom>
          <a:solidFill>
            <a:srgbClr val="E3EBF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1 — ORGANISER</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Contrôle coordonne • registres conservent • UAL calcule • cache rapproche.</a:t>
            </a:r>
            <a:endParaRPr lang="en-US" sz="1800" dirty="0"/>
          </a:p>
        </p:txBody>
      </p:sp>
      <p:sp>
        <p:nvSpPr>
          <p:cNvPr id="8" name="Text 6"/>
          <p:cNvSpPr/>
          <p:nvPr/>
        </p:nvSpPr>
        <p:spPr>
          <a:xfrm>
            <a:off x="6263640" y="1572768"/>
            <a:ext cx="5166360" cy="1234440"/>
          </a:xfrm>
          <a:prstGeom prst="rect">
            <a:avLst/>
          </a:prstGeom>
          <a:solidFill>
            <a:srgbClr val="F2E4CE"/>
          </a:solidFill>
          <a:ln w="10160">
            <a:solidFill>
              <a:srgbClr val="CEC9BF"/>
            </a:solidFill>
          </a:ln>
        </p:spPr>
        <p:txBody>
          <a:bodyPr wrap="square" lIns="2032" tIns="2032" rIns="2032" bIns="2032" rtlCol="0" anchor="ctr"/>
          <a:lstStyle/>
          <a:p>
            <a:pPr indent="0" marL="0">
              <a:buNone/>
            </a:pPr>
            <a:r>
              <a:rPr lang="en-US" sz="1800" b="1" dirty="0">
                <a:solidFill>
                  <a:srgbClr val="B5792A"/>
                </a:solidFill>
                <a:latin typeface="Aptos" pitchFamily="34" charset="0"/>
                <a:ea typeface="Aptos" pitchFamily="34" charset="-122"/>
                <a:cs typeface="Aptos" pitchFamily="34" charset="-120"/>
              </a:rPr>
              <a:t>2 — CONSERVER n BITS</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Somme complète et résultat conservé sont deux choses différentes; la retenue finale signale le bit sortant.</a:t>
            </a:r>
            <a:endParaRPr lang="en-US" sz="1800" dirty="0"/>
          </a:p>
        </p:txBody>
      </p:sp>
      <p:sp>
        <p:nvSpPr>
          <p:cNvPr id="9" name="Text 7"/>
          <p:cNvSpPr/>
          <p:nvPr/>
        </p:nvSpPr>
        <p:spPr>
          <a:xfrm>
            <a:off x="777240" y="3127248"/>
            <a:ext cx="5166360" cy="1234440"/>
          </a:xfrm>
          <a:prstGeom prst="rect">
            <a:avLst/>
          </a:prstGeom>
          <a:solidFill>
            <a:srgbClr val="DCECE9"/>
          </a:solidFill>
          <a:ln w="10160">
            <a:solidFill>
              <a:srgbClr val="CEC9BF"/>
            </a:solidFill>
          </a:ln>
        </p:spPr>
        <p:txBody>
          <a:bodyPr wrap="square" lIns="2032" tIns="2032" rIns="2032" bIns="2032" rtlCol="0" anchor="ctr"/>
          <a:lstStyle/>
          <a:p>
            <a:pPr indent="0" marL="0">
              <a:buNone/>
            </a:pPr>
            <a:r>
              <a:rPr lang="en-US" sz="1800" b="1" dirty="0">
                <a:solidFill>
                  <a:srgbClr val="2D6F6B"/>
                </a:solidFill>
                <a:latin typeface="Aptos" pitchFamily="34" charset="0"/>
                <a:ea typeface="Aptos" pitchFamily="34" charset="-122"/>
                <a:cs typeface="Aptos" pitchFamily="34" charset="-120"/>
              </a:rPr>
              <a:t>3 — INTERPRÉTER</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Bouclage non signé et débordement signé répondent à des questions différentes.</a:t>
            </a:r>
            <a:endParaRPr lang="en-US" sz="1800" dirty="0"/>
          </a:p>
        </p:txBody>
      </p:sp>
      <p:sp>
        <p:nvSpPr>
          <p:cNvPr id="10" name="Text 8"/>
          <p:cNvSpPr/>
          <p:nvPr/>
        </p:nvSpPr>
        <p:spPr>
          <a:xfrm>
            <a:off x="6263640" y="3127248"/>
            <a:ext cx="5166360" cy="1234440"/>
          </a:xfrm>
          <a:prstGeom prst="rect">
            <a:avLst/>
          </a:prstGeom>
          <a:solidFill>
            <a:srgbClr val="EEE9E1"/>
          </a:solidFill>
          <a:ln w="10160">
            <a:solidFill>
              <a:srgbClr val="CEC9BF"/>
            </a:solidFill>
          </a:ln>
        </p:spPr>
        <p:txBody>
          <a:bodyPr wrap="square" lIns="2032" tIns="2032" rIns="2032" bIns="2032" rtlCol="0" anchor="ctr"/>
          <a:lstStyle/>
          <a:p>
            <a:pPr indent="0" marL="0">
              <a:buNone/>
            </a:pPr>
            <a:r>
              <a:rPr lang="en-US" sz="1800" b="1" dirty="0">
                <a:solidFill>
                  <a:srgbClr val="17324D"/>
                </a:solidFill>
                <a:latin typeface="Aptos" pitchFamily="34" charset="0"/>
                <a:ea typeface="Aptos" pitchFamily="34" charset="-122"/>
                <a:cs typeface="Aptos" pitchFamily="34" charset="-120"/>
              </a:rPr>
              <a:t>4 — ÉVALUER</a:t>
            </a:r>
            <a:endParaRPr lang="en-US" sz="1800" dirty="0"/>
          </a:p>
          <a:p>
            <a:pPr indent="0" marL="0">
              <a:buNone/>
            </a:pPr>
            <a:r>
              <a:rPr lang="en-US" sz="1800" dirty="0">
                <a:solidFill>
                  <a:srgbClr val="222831"/>
                </a:solidFill>
                <a:latin typeface="Aptos" pitchFamily="34" charset="0"/>
                <a:ea typeface="Aptos" pitchFamily="34" charset="-122"/>
                <a:cs typeface="Aptos" pitchFamily="34" charset="-120"/>
              </a:rPr>
              <a:t>Aucun nombre ni aucune marque ne gagne sans besoin, compatibilité et preuves pertinentes.</a:t>
            </a:r>
            <a:endParaRPr lang="en-US" sz="1800" dirty="0"/>
          </a:p>
        </p:txBody>
      </p:sp>
      <p:sp>
        <p:nvSpPr>
          <p:cNvPr id="11" name="Text 9"/>
          <p:cNvSpPr/>
          <p:nvPr/>
        </p:nvSpPr>
        <p:spPr>
          <a:xfrm>
            <a:off x="1097280" y="4892040"/>
            <a:ext cx="10012680" cy="749808"/>
          </a:xfrm>
          <a:prstGeom prst="rect">
            <a:avLst/>
          </a:prstGeom>
          <a:noFill/>
          <a:ln/>
        </p:spPr>
        <p:txBody>
          <a:bodyPr wrap="square" lIns="0" tIns="0" rIns="0" bIns="0" rtlCol="0" anchor="ctr"/>
          <a:lstStyle/>
          <a:p>
            <a:pPr algn="ctr" indent="0" marL="0">
              <a:buNone/>
            </a:pPr>
            <a:r>
              <a:rPr lang="en-US" sz="2300" b="1" dirty="0">
                <a:solidFill>
                  <a:srgbClr val="B5792A"/>
                </a:solidFill>
                <a:latin typeface="Aptos Display" pitchFamily="34" charset="0"/>
                <a:ea typeface="Aptos Display" pitchFamily="34" charset="-122"/>
                <a:cs typeface="Aptos Display" pitchFamily="34" charset="-120"/>
              </a:rPr>
              <a:t>La bonne question n’est pas « quel processeur est le meilleur? »</a:t>
            </a:r>
            <a:endParaRPr lang="en-US" sz="2300" dirty="0"/>
          </a:p>
          <a:p>
            <a:pPr algn="ctr" indent="0" marL="0">
              <a:buNone/>
            </a:pPr>
            <a:r>
              <a:rPr lang="en-US" sz="2300" b="1" dirty="0">
                <a:solidFill>
                  <a:srgbClr val="B5792A"/>
                </a:solidFill>
                <a:latin typeface="Aptos Display" pitchFamily="34" charset="0"/>
                <a:ea typeface="Aptos Display" pitchFamily="34" charset="-122"/>
                <a:cs typeface="Aptos Display" pitchFamily="34" charset="-120"/>
              </a:rPr>
              <a:t>mais « pour quel besoin, avec quelles preuves? »</a:t>
            </a:r>
            <a:endParaRPr lang="en-US" sz="2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Cégep du Vieux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5 — Processeur, UAL et arithmétique à largeur fixe</dc:title>
  <dc:subject>420-C12-IN — Outils et matériels informatiques</dc:subject>
  <dc:creator>Will Blewitt</dc:creator>
  <cp:lastModifiedBy>Will Blewitt</cp:lastModifiedBy>
  <cp:revision>1</cp:revision>
  <dcterms:created xsi:type="dcterms:W3CDTF">2026-08-28T21:39:38Z</dcterms:created>
  <dcterms:modified xsi:type="dcterms:W3CDTF">2026-08-28T21:39:38Z</dcterms:modified>
</cp:coreProperties>
</file>